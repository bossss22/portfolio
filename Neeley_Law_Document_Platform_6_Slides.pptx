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66" r:id="rId2"/>
    <p:sldId id="268" r:id="rId3"/>
    <p:sldId id="257" r:id="rId4"/>
    <p:sldId id="258" r:id="rId5"/>
    <p:sldId id="259" r:id="rId6"/>
    <p:sldId id="256" r:id="rId7"/>
    <p:sldId id="261" r:id="rId8"/>
    <p:sldId id="267" r:id="rId9"/>
    <p:sldId id="269"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954" y="3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Illustrative monthly staff hours</c:v>
                </c:pt>
              </c:strCache>
            </c:strRef>
          </c:tx>
          <c:spPr>
            <a:solidFill>
              <a:srgbClr val="1C2255"/>
            </a:solidFill>
            <a:effectLst/>
          </c:spPr>
          <c:invertIfNegative val="0"/>
          <c:dPt>
            <c:idx val="0"/>
            <c:invertIfNegative val="0"/>
            <c:bubble3D val="0"/>
            <c:extLst>
              <c:ext xmlns:c16="http://schemas.microsoft.com/office/drawing/2014/chart" uri="{C3380CC4-5D6E-409C-BE32-E72D297353CC}">
                <c16:uniqueId val="{00000001-6F43-45BF-988E-16DF3BCA0CAC}"/>
              </c:ext>
            </c:extLst>
          </c:dPt>
          <c:dPt>
            <c:idx val="1"/>
            <c:invertIfNegative val="0"/>
            <c:bubble3D val="0"/>
            <c:spPr>
              <a:solidFill>
                <a:srgbClr val="83BAD8"/>
              </a:solidFill>
              <a:effectLst/>
            </c:spPr>
            <c:extLst>
              <c:ext xmlns:c16="http://schemas.microsoft.com/office/drawing/2014/chart" uri="{C3380CC4-5D6E-409C-BE32-E72D297353CC}">
                <c16:uniqueId val="{00000003-6F43-45BF-988E-16DF3BCA0CAC}"/>
              </c:ext>
            </c:extLst>
          </c:dPt>
          <c:dLbls>
            <c:numFmt formatCode="0" sourceLinked="0"/>
            <c:spPr>
              <a:noFill/>
              <a:ln>
                <a:noFill/>
              </a:ln>
              <a:effectLst/>
            </c:spPr>
            <c:txPr>
              <a:bodyPr/>
              <a:lstStyle/>
              <a:p>
                <a:pPr>
                  <a:defRPr sz="1700" b="1" i="0" u="none" strike="noStrike">
                    <a:solidFill>
                      <a:srgbClr val="1C22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Sheet1!$A$2:$A$3</c:f>
              <c:strCache>
                <c:ptCount val="2"/>
                <c:pt idx="0">
                  <c:v>Manual scenario</c:v>
                </c:pt>
                <c:pt idx="1">
                  <c:v>Automated scenario</c:v>
                </c:pt>
              </c:strCache>
            </c:strRef>
          </c:cat>
          <c:val>
            <c:numRef>
              <c:f>Sheet1!$B$2:$B$3</c:f>
              <c:numCache>
                <c:formatCode>General</c:formatCode>
                <c:ptCount val="2"/>
                <c:pt idx="0">
                  <c:v>167</c:v>
                </c:pt>
                <c:pt idx="1">
                  <c:v>33</c:v>
                </c:pt>
              </c:numCache>
            </c:numRef>
          </c:val>
          <c:extLst>
            <c:ext xmlns:c16="http://schemas.microsoft.com/office/drawing/2014/chart" uri="{C3380CC4-5D6E-409C-BE32-E72D297353CC}">
              <c16:uniqueId val="{00000004-6F43-45BF-988E-16DF3BCA0CAC}"/>
            </c:ext>
          </c:extLst>
        </c:ser>
        <c:dLbls>
          <c:showLegendKey val="0"/>
          <c:showVal val="1"/>
          <c:showCatName val="0"/>
          <c:showSerName val="0"/>
          <c:showPercent val="0"/>
          <c:showBubbleSize val="0"/>
        </c:dLbls>
        <c:gapWidth val="85"/>
        <c:axId val="2094734554"/>
        <c:axId val="2094734552"/>
      </c:barChart>
      <c:catAx>
        <c:axId val="2094734554"/>
        <c:scaling>
          <c:orientation val="maxMin"/>
        </c:scaling>
        <c:delete val="0"/>
        <c:axPos val="l"/>
        <c:numFmt formatCode="General" sourceLinked="1"/>
        <c:majorTickMark val="none"/>
        <c:minorTickMark val="none"/>
        <c:tickLblPos val="nextTo"/>
        <c:spPr>
          <a:ln w="12700" cap="flat">
            <a:noFill/>
            <a:prstDash val="solid"/>
            <a:round/>
          </a:ln>
        </c:spPr>
        <c:txPr>
          <a:bodyPr/>
          <a:lstStyle/>
          <a:p>
            <a:pPr>
              <a:defRPr sz="1150" b="0" i="0" u="none" strike="noStrike">
                <a:solidFill>
                  <a:srgbClr val="1C2255"/>
                </a:solidFill>
                <a:latin typeface="Arial"/>
              </a:defRPr>
            </a:pPr>
            <a:endParaRPr lang="en-US"/>
          </a:p>
        </c:txPr>
        <c:crossAx val="2094734552"/>
        <c:crosses val="autoZero"/>
        <c:auto val="1"/>
        <c:lblAlgn val="ctr"/>
        <c:lblOffset val="100"/>
        <c:noMultiLvlLbl val="1"/>
      </c:catAx>
      <c:valAx>
        <c:axId val="2094734552"/>
        <c:scaling>
          <c:orientation val="minMax"/>
          <c:max val="200"/>
          <c:min val="0"/>
        </c:scaling>
        <c:delete val="0"/>
        <c:axPos val="t"/>
        <c:majorGridlines>
          <c:spPr>
            <a:ln w="12700" cap="flat">
              <a:solidFill>
                <a:srgbClr val="E4E9F1"/>
              </a:solidFill>
              <a:prstDash val="solid"/>
              <a:round/>
            </a:ln>
          </c:spPr>
        </c:majorGridlines>
        <c:numFmt formatCode="General" sourceLinked="0"/>
        <c:majorTickMark val="none"/>
        <c:minorTickMark val="none"/>
        <c:tickLblPos val="low"/>
        <c:spPr>
          <a:ln w="12700" cap="flat">
            <a:noFill/>
            <a:prstDash val="solid"/>
            <a:round/>
          </a:ln>
        </c:spPr>
        <c:txPr>
          <a:bodyPr/>
          <a:lstStyle/>
          <a:p>
            <a:pPr>
              <a:defRPr sz="950" b="0" i="0" u="none" strike="noStrike">
                <a:solidFill>
                  <a:srgbClr val="687B96"/>
                </a:solidFill>
                <a:latin typeface="Arial"/>
              </a:defRPr>
            </a:pPr>
            <a:endParaRPr lang="en-US"/>
          </a:p>
        </c:txPr>
        <c:crossAx val="2094734554"/>
        <c:crosses val="autoZero"/>
        <c:crossBetween val="between"/>
        <c:majorUnit val="50"/>
      </c:valAx>
      <c:spPr>
        <a:solidFill>
          <a:srgbClr val="FFFFFF"/>
        </a:solidFill>
        <a:ln w="12700" cap="flat">
          <a:solidFill>
            <a:srgbClr val="FFFFFF"/>
          </a:solidFill>
        </a:ln>
        <a:effectLst/>
      </c:spPr>
    </c:plotArea>
    <c:plotVisOnly val="1"/>
    <c:dispBlanksAs val="span"/>
    <c:showDLblsOverMax val="1"/>
  </c:chart>
  <c:spPr>
    <a:solidFill>
      <a:srgbClr val="FFFFFF"/>
    </a:solidFill>
    <a:ln w="12700" cap="flat">
      <a:solidFill>
        <a:srgbClr val="FFFFFF"/>
      </a:solid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9014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Cover. Original proposal title and author identity retained. This is an exploratory proposal, not a priced implementation offer. The deck contains ten slides including this cover.
SOURCE BASIS: Abdullah Ahmed, AI-Assisted Bankruptcy Document Intake: A focused, measurable workflow opportunity for Neeley Law, September 2026 (uploaded nine-page proposal). Figures and external study descriptions are reproduced from that proposal unless marked as calculations. No external studies or legal authorities were independently verified for this source-based deck.
DESIGN REFERENCE ONLY: Altman Solon / VTT Global, DCCo opportunity, Week 4 update, September 2026. The reference PDF informs layout, palette, chart treatment and footer hierarchy only. No Jazz/DCCo financial content or third-party logos are used in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Neeley_Law_Proposal.pdf, Initial Proposal, dated 20 September 2026, 10 pages. This deck is a compact adaptation of that supplied proposal, not an independently verified technical specification or priced offer. Only this new PDF supplies the scope, figures and three-week plan. Earlier proposals, their 7–8-week pilot, 50-matter model and prior case studies are not imported.</a:t>
            </a:r>
          </a:p>
          <a:p>
            <a:r>
              <a:t>DESIGN: Navy, blue, white and orange consulting style based on the previously approved slides. Third-party template company logos are not included. All presenter and provider details are explicitly generic placeholders; no personal information or invented experience claims are included.</a:t>
            </a:r>
          </a:p>
          <a:p>
            <a:r>
              <a:t>SLIDE 1 | Background and purpose. Source §§1–3, pp. 2–3, especially the relationship-led intake description and current process. The first slide combines the introduction/background and project purpose to avoid an extra cover. Current-process descriptions are attributed to the proposal, not findings independently established at Neeley Law.</a:t>
            </a:r>
          </a:p>
          <a:p>
            <a:r>
              <a:t>PRESENTER: Start with the existing client relationship, not a claim that the firm is underperforming. Explain that the first release brings requests, submissions, preliminary checks, status and correction handling into one workflow while preserving staff judgment. The source describes the wider firm only through its document workflow; no firm size, geography, practice-area mix, credentials or staffing figures are invented.</a:t>
            </a:r>
          </a:p>
          <a:p>
            <a:endParaRPr/>
          </a:p>
          <a:p>
            <a:endParaRPr/>
          </a:p>
          <a:p>
            <a:r>
              <a:t>LAYOUT REVISION: Single-slide redesign. The content and five current-workflow stages of the supplied Background and purpose slide have been retained. The graphical arrangement follows the second screenshot: three colored-header cards, native icons and decorative shapes, numbered workflow panels, and a right-side human-approval callout. No earlier bankruptcy-specific text, personal information, negative problem-language or new financial assertions are imported. Decorative skyline and arrow are not data charts. All visible elements are editable native PowerPoint shapes or text.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Neeley_Law_Proposal.pdf, Initial Proposal, dated 20 September 2026, 10 pages. This deck is a compact adaptation of that supplied proposal, not an independently verified technical specification or priced offer. Only this new PDF supplies the scope, figures and three-week plan. Earlier proposals, their 7–8-week pilot, 50-matter model and prior case studies are not imported.
DESIGN: Navy, blue, white and orange consulting style based on the previously approved slides. Third-party template company logos are not included. All presenter and provider details are explicitly generic placeholders; no personal information or invented experience claims are included.
SLIDE 2 | Source §§4–6, pp. 4–6; delivery summary §1. The source names five components: Client Interface, Backend Application, Document Storage, Verification Engine and Admin Portal. All five original components and their source identifiers are retained. Their positions in the architecture are not a sequence of workflow stages.
CLIENT: secure multi-file upload, required-document list, per-document status, corrections and resubmissions. BACKEND: authentication, authorization, workflow/business rules, status transitions, APIs and notification triggers. STORAGE: original and corrected files, controlled access and versioning; only metadata in the database. ENGINE: file validity/type/size/upload completion/readability; document type/required fields/pages/signatures/dates; missing required documents and superseded versions; configured cross-document consistency. ADMIN: dashboard, queue, document viewer/download, findings, approval/corrections, alerts and history.
HUMAN CONTROL: Verification results are findings, not legal verdicts or automatic substantive rejection. Technical upload validation may block unusable file types or failed uploads.
SECURITY: proposed encrypted transmission, authentication and roles, client isolation, logged administrative access, secure storage/download links, file-type/malware handling, sessions, backup/recovery, retention/deletion. Exact controls are discovery-confirmed requirements, not certification claims.
SCOPE: the release includes email notifications, not the later-phase automated-reminder feature. Full CRM, case management, complex client accounts, booking, billing, comprehensive communications, advanced case tracking and extensive third-party integrations remain outside the first release. Later options include advanced extraction, e-signatures and analytics.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Neeley_Law_Proposal.pdf, Initial Proposal, dated 20 September 2026, 10 pages. This deck is a compact adaptation of that supplied proposal, not an independently verified technical specification or priced offer. Only this new PDF supplies the scope, figures and three-week plan. Earlier proposals, their 7–8-week pilot, 50-matter model and prior case studies are not imported.
DESIGN: Navy, blue, white and orange consulting style based on the previously approved slides. Third-party template company logos are not included. All presenter and provider details are explicitly generic placeholders; no personal information or invented experience claims are included.
SLIDE 3 | Source §5, p. 5, worked example. Four documents are Identification, Proof of Address, Signed Form and a Supporting Document. All are uploaded. The system passes three preliminary checks and flags the address document for readability. Submission status is Awaiting Review. The administrator confirms the issue and requests a clearer copy; the automatic email provides the document and reason plus a portal link. The client supplies Version 2, preserving Version 1. Verification reruns, the submission returns to Awaiting Review, the administrator approves, and final confirmation is sent. All steps are audited.
This is an illustrative source scenario. Three out of four is NOT a measured 75% pass rate, verification accuracy or expected case-mix statistic. Preliminary check-passed is not final approval. No sensitive client identifiers, personal names, account numbers or actual uploaded documents are used in this mock workflow. The complete source status model separately tracks submissions and individual documents.
PRESENTER: Follow one address document, rather than listing abstract capabilities. Show that automation prepares findings and handles routing while the administrator decides whether a correction is needed. The new copy does not overwrite the earlier file.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Neeley_Law_Proposal.pdf, Initial Proposal, dated 20 September 2026, 10 pages. This deck is a compact adaptation of that supplied proposal, not an independently verified technical specification or priced offer. Only this new PDF supplies the scope, figures and three-week plan. Earlier proposals, their 7–8-week pilot, 50-matter model and prior case studies are not imported.
DESIGN: Navy, blue, white and orange consulting style based on the previously approved slides. Third-party template company logos are not included. All presenter and provider details are explicitly generic placeholders; no personal information or invented experience claims are included.
SLIDE 4 | Source §§7–8, pp. 7–8. MODEL: 1,000 documents per month, 10 minutes manual staff involvement versus an illustrative 2 minutes after automation. The proposal reports rounded monthly hours of approximately 167 and 33; the chart retains those source values. It then reports approximately 134 reclaimed hours per month and 1,608 per year.
ROUNDING DISCLOSURE: The source subtracts the rounded monthly totals (167 minus 33 = 134) and annualizes that rounded difference (134 times 12 = 1,608). Calculating directly from the unrounded inputs instead gives 1,000 times (10 minus 2) / 60 = 133.333... hours per month and 1,600 hours per year. This small discrepancy is disclosed here and on-slide; the source figures are not silently corrected. None is a verified firm baseline or forecast. No hourly labor rate, pilot fee, recurring fee, ROI percentage, actual cash saving or payback for Neeley Law is provided in this PDF. The earlier proposal's 540 hours and $20,790 are intentionally excluded.
FIVE SOURCE-REPORTED BENCHMARKS (no independent verification; no primary URLs supplied in this PDF):
1. Etere Studio — mid-sized European law firm: 73% document-processing time reduction; 178.7 hours/month saved; classification time approximately 88% lower; misfiling 3.2% to 0.4%; approximately 4.1-month payback.
2. Agentzy — Texas insurance-defence firm: 96% legal-intake processing-time reduction from approximately 123 minutes per new case; source calls approximately $50,000/year 'reported ROI'. That currency-denominated claim is not presented as a calculated ROI ratio.
3. Yaniv &amp; Associates via Kuhnic: 90% administrative-workload reduction; 780+ hours/year saved; 25% client-capacity increase without additional hires.
4. US Tech Automations — 22-attorney general practice: onboarding 3.2 to 1.5 hours/client, reported as 53% lower, approximately 144 staff hours/month saved.
5. Grove AI — large UK law firm: 73% document-review time reduction; 4,200+ solicitor hours/year; 96.4% reported extraction accuracy.
Each card retains a distinct outcome definition. Percentages are neither averaged nor plotted as a directly comparable ranking. Vendor/implementation-partner reports vary in assumptions and methods and are not independently audited, as the source explicitly states. They are context, not promises or inputs that independently validate the illustrative 10-to-2-minute model. Full benchmark detail is kept in notes to avoid a crowded main slide.
PRESENTER: Explain the staff-time arithmetic separately from industry examples. Actual operational improvements should be compared with Week 1 measurement and the full cost of the proposed solution before making any return claim.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FOUR-WEEK DEVELOPMENT PLAN — EXACT SOURCE SCHEDULE, RETHEMED</a:t>
            </a:r>
          </a:p>
          <a:p>
            <a:r>
              <a:t>Source: User-supplied Gantt-chart image, uploaded in the current request.</a:t>
            </a:r>
          </a:p>
          <a:p>
            <a:r>
              <a:t>The existing Neeley navy, blue, white and orange presentation treatment is used. All graphical content is made from native editable PowerPoint shapes and text. No flattened screenshot is used.</a:t>
            </a:r>
          </a:p>
          <a:p>
            <a:endParaRPr/>
          </a:p>
          <a:p>
            <a:r>
              <a:t>TASK SCHEDULE (inclusive working days)</a:t>
            </a:r>
          </a:p>
          <a:p>
            <a:r>
              <a:t>1. Discovery &amp; Planning — Days 1–5 — 5 days.</a:t>
            </a:r>
          </a:p>
          <a:p>
            <a:r>
              <a:t>2. UI/UX Design — Days 1–5 — 5 days.</a:t>
            </a:r>
          </a:p>
          <a:p>
            <a:r>
              <a:t>3. Frontend Development — Days 6–15 — 10 days.</a:t>
            </a:r>
          </a:p>
          <a:p>
            <a:r>
              <a:t>4. Backend &amp; Database — Days 1–10 — 10 days.</a:t>
            </a:r>
          </a:p>
          <a:p>
            <a:r>
              <a:t>5. Automation &amp; Verification — Days 11–20 — 10 days.</a:t>
            </a:r>
          </a:p>
          <a:p>
            <a:r>
              <a:t>6. Testing &amp; QA — Days 11–20 — 10 days.</a:t>
            </a:r>
          </a:p>
          <a:p>
            <a:r>
              <a:t>7. Deployment &amp; Handover — Days 16–20 — 5 days.</a:t>
            </a:r>
          </a:p>
          <a:p>
            <a:endParaRPr/>
          </a:p>
          <a:p>
            <a:r>
              <a:t>MILESTONES (wording from source)</a:t>
            </a:r>
          </a:p>
          <a:p>
            <a:r>
              <a:t>Day 5 — Foundation &amp; Design Approved: Requirements finalized, UI/UX design approved, architecture confirmed.</a:t>
            </a:r>
          </a:p>
          <a:p>
            <a:r>
              <a:t>Day 10 — Core System Demonstration: Frontend and backend functionality (basic upload and workflow) ready for review.</a:t>
            </a:r>
          </a:p>
          <a:p>
            <a:r>
              <a:t>Day 15 — Automation &amp; End-to-End Complete: Document verification, notifications and full workflow integrated.</a:t>
            </a:r>
          </a:p>
          <a:p>
            <a:r>
              <a:t>Day 20 — Final Testing, Deployment &amp; Handover: UAT completed, production deployed, documentation and training provided.</a:t>
            </a:r>
          </a:p>
          <a:p>
            <a:endParaRPr/>
          </a:p>
          <a:p>
            <a:r>
              <a:t>SOURCE-PRESERVATION NOTE</a:t>
            </a:r>
          </a:p>
          <a:p>
            <a:r>
              <a:t>The latest image is a four-week / 20-working-day plan. It is intentionally retained instead of the earlier three-week proposal timeline. Durations and milestone wording are reproduced rather than re-planned. In the source, the Day 15 completion milestone occurs before the Automation &amp; Verification bar ends on Day 20; this difference has not been silently corrected. The detailed milestone/workstream alignment may be confirmed separately before the schedule is approved.</a:t>
            </a:r>
          </a:p>
          <a:p>
            <a:endParaRPr/>
          </a:p>
          <a:p>
            <a:r>
              <a:t>EDITING</a:t>
            </a:r>
          </a:p>
          <a:p>
            <a:r>
              <a:t>Task rows and milestone cards are grouped. Click within a group or ungroup to edit individual labels, durations, bar positions, colors or day values. The day-grid divisions are equal-width native shapes and lines.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Neeley_Law_Proposal.pdf, Initial Proposal, dated 20 September 2026, 10 pages. This deck is a compact adaptation of that supplied proposal, not an independently verified technical specification or priced offer. Only this new PDF supplies the scope, figures and three-week plan. Earlier proposals, their 7–8-week pilot, 50-matter model and prior case studies are not imported.
DESIGN: Navy, blue, white and orange consulting style based on the previously approved slides. Third-party template company logos are not included. All presenter and provider details are explicitly generic placeholders; no personal information or invented experience claims are included.
SLIDE 6 | Source §§9–12, pp. 9–10. Inputs: discovery with daily document-handling staff; full document catalogue and redacted/authorized samples Days 1–2; Week 1 operational baseline and security/privacy/retention requirements; named point of contact throughout; email/hosting access by Day 10; one or two staff for UAT Day 14. Review/sign-off within one working day is an explicit schedule assumption.
FULL SOURCE MEASUREMENT LIST: average staff time per submission; average document-processing time; percentage requiring correction; average correction cycles; submission-to-approval time; staff hours on document administration; follow-up emails per submission; submission volume/month; percentage completed digitally. The six on-slide tiles group the related time measures and correction measures for readability. All baselines are to be measured in Week 1. Targets in the source are directional, not numeric: substantial reduction, monitor/reduce, capacity increase without added headcount, and adoption. No target, budget, cash saving or ROI is invented. The duration of post-launch measurement is agreed at handover.
NEXT STEPS in source order: review proposal/problem/scope fit; introductory workflow call; confirm scope and commercials through a statement of work specifying deliverables, costs and acceptance; schedule discovery. The close consolidates those decisions without implying that a build contract has already been approved.
PRESENTER: Ask for the input owner and a scope/commercials discussion rather than presenting the 15-day plan as an unconditional commitment. Keep the comparison anchored to the firm's own numbers rather than industry averages.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Proposal Sections 9–10, p. 8.
ASK: a 30-minute discussion with the intake owner about how documents arrive, where review time goes and what is measured. This is not a commitment to build.
EXPERIENCE AS STATED IN SOURCE: two years as Data &amp; AI Engineer at a legal-technology company; 450,000+ court judgments and 40,000+ legal provisions through production pipelines; ingestion, cleaning, validation, deduplication and chunking; hybrid retrieval via BM25, embeddings, FAISS and cross-encoder reranking; RAG; Python, FastAPI, PostgreSQL, vector search and LLM APIs. The source also describes experience with classification drift, poor OCR and hallucination, addressed by grounded citations and human review. Experience is not independently verified.
AUTHOR LINKS AS SUPPLIED: github.com/Abdullah17442; linkedin.com/in/abdullahahmed17442/.
The commercial note preserves the earlier review finding that pricing is not supplied; it does not invent a pilot fee or rollout commitment.
SOURCE BASIS: Abdullah Ahmed, AI-Assisted Bankruptcy Document Intake: A focused, measurable workflow opportunity for Neeley Law, September 2026 (uploaded nine-page proposal). Figures and external study descriptions are reproduced from that proposal unless marked as calculations. No external studies or legal authorities were independently verified for this source-based deck.
DESIGN REFERENCE ONLY: Altman Solon / VTT Global, DCCo opportunity, Week 4 update, September 2026. The reference PDF informs layout, palette, chart treatment and footer hierarchy only. No Jazz/DCCo financial content or third-party logos are used in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CLOSING SLIDE — TEAM &amp; EXPERIENCE</a:t>
            </a:r>
          </a:p>
          <a:p>
            <a:endParaRPr/>
          </a:p>
          <a:p>
            <a:r>
              <a:t>Layout reference: the attached “Global reach. Local expertise.” contact-page image, used for presentation structure, color accents, left capability column, contact dividers, and navy footer only. No third-party names, offices, logos, geographic track record, or legal disclaimer are reused.</a:t>
            </a:r>
          </a:p>
          <a:p>
            <a:endParaRPr/>
          </a:p>
          <a:p>
            <a:r>
              <a:t>User-requested names: Abdullah Ahmed; Bilal Ahmed. Roles, emails, mobile numbers, and company branding are editable sample placeholders. “example.com” addresses and masked mobile numbers are intentionally non-operational examples. Bilal Ahmed’s role and the combined team's experience have not been verified. No tenure, clients, certifications, office locations, or performance results are invented.</a:t>
            </a:r>
          </a:p>
          <a:p>
            <a:endParaRPr/>
          </a:p>
          <a:p>
            <a:r>
              <a:t>Experience content: draft capability headings adapted from the supplied AI-Assisted Bankruptcy Document Intake proposal, Section 9, p. 8 (data/AI engineering; ingestion, cleaning, validation, deduplication, chunking, search/retrieval, Python, FastAPI, PostgreSQL and LLM APIs), together with delivery scope in the supplied Document Submission &amp; Verification Platform proposal, Sections 4–6 (client/admin interfaces; backend APIs; secure storage and versioning; preliminary document checks; notifications and audit history). The list is illustrative wording for user confirmation, not a verified CV for either individual.</a:t>
            </a:r>
          </a:p>
          <a:p>
            <a:endParaRPr/>
          </a:p>
          <a:p>
            <a:r>
              <a:t>Source references: original proposal, Section 9, lines 394–403 (conversation source turn2file2); updated proposal, Section 4, lines 95–108, and Section 6, lines 209–221 (conversation source turn2file0).</a:t>
            </a:r>
          </a:p>
          <a:p>
            <a:endParaRPr/>
          </a:p>
          <a:p>
            <a:r>
              <a:t>Project-focus wording: updated proposal, Section 1, pp. 1–2, and Section 4, p. 4; secure client uploads, preliminary verification, administrator review and final approval.</a:t>
            </a:r>
          </a:p>
          <a:p>
            <a:endParaRPr/>
          </a:p>
          <a:p>
            <a:r>
              <a:t>All elements are native editable PowerPoint text, shapes, lines or freeforms. Grouped graphics can be ungrouped in PowerPoint for individual editing.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NEELEY_BASE">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8946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59409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Abdullah17442"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hyperlink" Target="https://linkedin.com/in/abdullahahmed17442/"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04672" y="1014984"/>
            <a:ext cx="1307592" cy="50292"/>
          </a:xfrm>
          <a:prstGeom prst="rect">
            <a:avLst/>
          </a:prstGeom>
          <a:solidFill>
            <a:srgbClr val="E87224"/>
          </a:solidFill>
          <a:ln w="12700">
            <a:solidFill>
              <a:srgbClr val="E87224">
                <a:alpha val="0"/>
              </a:srgbClr>
            </a:solidFill>
            <a:prstDash val="solid"/>
          </a:ln>
        </p:spPr>
        <p:txBody>
          <a:bodyPr/>
          <a:lstStyle/>
          <a:p>
            <a:endParaRPr lang="en-PK"/>
          </a:p>
        </p:txBody>
      </p:sp>
      <p:sp>
        <p:nvSpPr>
          <p:cNvPr id="3" name="Shape 1"/>
          <p:cNvSpPr/>
          <p:nvPr/>
        </p:nvSpPr>
        <p:spPr>
          <a:xfrm>
            <a:off x="2112264" y="1014984"/>
            <a:ext cx="1307592" cy="50292"/>
          </a:xfrm>
          <a:prstGeom prst="rect">
            <a:avLst/>
          </a:prstGeom>
          <a:solidFill>
            <a:srgbClr val="F8B930"/>
          </a:solidFill>
          <a:ln w="12700">
            <a:solidFill>
              <a:srgbClr val="F8B930">
                <a:alpha val="0"/>
              </a:srgbClr>
            </a:solidFill>
            <a:prstDash val="solid"/>
          </a:ln>
        </p:spPr>
        <p:txBody>
          <a:bodyPr/>
          <a:lstStyle/>
          <a:p>
            <a:endParaRPr lang="en-PK"/>
          </a:p>
        </p:txBody>
      </p:sp>
      <p:sp>
        <p:nvSpPr>
          <p:cNvPr id="4" name="Shape 2"/>
          <p:cNvSpPr/>
          <p:nvPr/>
        </p:nvSpPr>
        <p:spPr>
          <a:xfrm>
            <a:off x="3419856" y="1014984"/>
            <a:ext cx="1307592" cy="50292"/>
          </a:xfrm>
          <a:prstGeom prst="rect">
            <a:avLst/>
          </a:prstGeom>
          <a:solidFill>
            <a:srgbClr val="84BCE4"/>
          </a:solidFill>
          <a:ln w="12700">
            <a:solidFill>
              <a:srgbClr val="84BCE4">
                <a:alpha val="0"/>
              </a:srgbClr>
            </a:solidFill>
            <a:prstDash val="solid"/>
          </a:ln>
        </p:spPr>
        <p:txBody>
          <a:bodyPr/>
          <a:lstStyle/>
          <a:p>
            <a:endParaRPr lang="en-PK"/>
          </a:p>
        </p:txBody>
      </p:sp>
      <p:sp>
        <p:nvSpPr>
          <p:cNvPr id="5" name="Text 3"/>
          <p:cNvSpPr/>
          <p:nvPr/>
        </p:nvSpPr>
        <p:spPr>
          <a:xfrm>
            <a:off x="804672" y="1426464"/>
            <a:ext cx="10241280" cy="615553"/>
          </a:xfrm>
          <a:prstGeom prst="rect">
            <a:avLst/>
          </a:prstGeom>
          <a:noFill/>
          <a:ln/>
        </p:spPr>
        <p:txBody>
          <a:bodyPr wrap="square" lIns="0" tIns="0" rIns="0" bIns="0" rtlCol="0" anchor="t">
            <a:spAutoFit/>
          </a:bodyPr>
          <a:lstStyle/>
          <a:p>
            <a:r>
              <a:rPr lang="en-US" sz="4000" dirty="0" err="1">
                <a:solidFill>
                  <a:schemeClr val="accent1">
                    <a:lumMod val="75000"/>
                  </a:schemeClr>
                </a:solidFill>
              </a:rPr>
              <a:t>Neeley</a:t>
            </a:r>
            <a:r>
              <a:rPr lang="en-US" sz="4000" dirty="0">
                <a:solidFill>
                  <a:schemeClr val="accent1">
                    <a:lumMod val="75000"/>
                  </a:schemeClr>
                </a:solidFill>
              </a:rPr>
              <a:t> Law Digital Document </a:t>
            </a:r>
            <a:r>
              <a:rPr lang="en-US" sz="4000" dirty="0" smtClean="0">
                <a:solidFill>
                  <a:schemeClr val="accent1">
                    <a:lumMod val="75000"/>
                  </a:schemeClr>
                </a:solidFill>
              </a:rPr>
              <a:t>Intake Platform</a:t>
            </a:r>
            <a:endParaRPr lang="en-US" sz="3750" dirty="0">
              <a:solidFill>
                <a:schemeClr val="accent1">
                  <a:lumMod val="75000"/>
                </a:schemeClr>
              </a:solidFill>
            </a:endParaRPr>
          </a:p>
        </p:txBody>
      </p:sp>
      <p:sp>
        <p:nvSpPr>
          <p:cNvPr id="6" name="Text 4"/>
          <p:cNvSpPr/>
          <p:nvPr/>
        </p:nvSpPr>
        <p:spPr>
          <a:xfrm>
            <a:off x="804672" y="2779776"/>
            <a:ext cx="10241280" cy="502920"/>
          </a:xfrm>
          <a:prstGeom prst="rect">
            <a:avLst/>
          </a:prstGeom>
          <a:noFill/>
          <a:ln/>
        </p:spPr>
        <p:txBody>
          <a:bodyPr wrap="square" lIns="0" tIns="0" rIns="0" bIns="0" rtlCol="0" anchor="ctr">
            <a:spAutoFit/>
          </a:bodyPr>
          <a:lstStyle/>
          <a:p>
            <a:pPr marL="0" indent="0" algn="l">
              <a:buNone/>
            </a:pPr>
            <a:r>
              <a:rPr lang="en-US" sz="2200" dirty="0">
                <a:solidFill>
                  <a:srgbClr val="181F4D"/>
                </a:solidFill>
                <a:latin typeface="Arial" pitchFamily="34" charset="0"/>
                <a:ea typeface="Arial" pitchFamily="34" charset="-122"/>
                <a:cs typeface="Arial" pitchFamily="34" charset="-120"/>
              </a:rPr>
              <a:t>A focused, measurable workflow opportunity for Neeley Law</a:t>
            </a:r>
            <a:endParaRPr lang="en-US" sz="2200" dirty="0"/>
          </a:p>
        </p:txBody>
      </p:sp>
      <p:sp>
        <p:nvSpPr>
          <p:cNvPr id="7" name="Text 5"/>
          <p:cNvSpPr/>
          <p:nvPr/>
        </p:nvSpPr>
        <p:spPr>
          <a:xfrm>
            <a:off x="822960" y="3721608"/>
            <a:ext cx="4572000" cy="228600"/>
          </a:xfrm>
          <a:prstGeom prst="rect">
            <a:avLst/>
          </a:prstGeom>
          <a:noFill/>
          <a:ln/>
        </p:spPr>
        <p:txBody>
          <a:bodyPr wrap="square" lIns="0" tIns="0" rIns="0" bIns="0" rtlCol="0" anchor="ctr">
            <a:spAutoFit/>
          </a:bodyPr>
          <a:lstStyle/>
          <a:p>
            <a:pPr marL="0" indent="0" algn="l">
              <a:buNone/>
            </a:pPr>
            <a:r>
              <a:rPr lang="en-US" sz="1200" dirty="0">
                <a:solidFill>
                  <a:srgbClr val="8B8FA6"/>
                </a:solidFill>
                <a:latin typeface="Arial" pitchFamily="34" charset="0"/>
                <a:ea typeface="Arial" pitchFamily="34" charset="-122"/>
                <a:cs typeface="Arial" pitchFamily="34" charset="-120"/>
              </a:rPr>
              <a:t>Prepared for</a:t>
            </a:r>
            <a:endParaRPr lang="en-US" sz="1200" dirty="0"/>
          </a:p>
        </p:txBody>
      </p:sp>
      <p:sp>
        <p:nvSpPr>
          <p:cNvPr id="8" name="Text 6"/>
          <p:cNvSpPr/>
          <p:nvPr/>
        </p:nvSpPr>
        <p:spPr>
          <a:xfrm>
            <a:off x="822960" y="4050792"/>
            <a:ext cx="5486400" cy="457200"/>
          </a:xfrm>
          <a:prstGeom prst="rect">
            <a:avLst/>
          </a:prstGeom>
          <a:noFill/>
          <a:ln/>
        </p:spPr>
        <p:txBody>
          <a:bodyPr wrap="square" lIns="0" tIns="0" rIns="0" bIns="0" rtlCol="0" anchor="ctr">
            <a:spAutoFit/>
          </a:bodyPr>
          <a:lstStyle/>
          <a:p>
            <a:pPr marL="0" indent="0" algn="l">
              <a:buNone/>
            </a:pPr>
            <a:r>
              <a:rPr lang="en-US" sz="2550" b="1" dirty="0">
                <a:solidFill>
                  <a:srgbClr val="181F4D"/>
                </a:solidFill>
                <a:latin typeface="Arial" pitchFamily="34" charset="0"/>
                <a:ea typeface="Arial" pitchFamily="34" charset="-122"/>
                <a:cs typeface="Arial" pitchFamily="34" charset="-120"/>
              </a:rPr>
              <a:t>Neeley Law</a:t>
            </a:r>
            <a:endParaRPr lang="en-US" sz="2550" dirty="0"/>
          </a:p>
        </p:txBody>
      </p:sp>
      <p:sp>
        <p:nvSpPr>
          <p:cNvPr id="9" name="Text 7"/>
          <p:cNvSpPr/>
          <p:nvPr/>
        </p:nvSpPr>
        <p:spPr>
          <a:xfrm>
            <a:off x="822960" y="4544568"/>
            <a:ext cx="5486400" cy="228600"/>
          </a:xfrm>
          <a:prstGeom prst="rect">
            <a:avLst/>
          </a:prstGeom>
          <a:noFill/>
          <a:ln/>
        </p:spPr>
        <p:txBody>
          <a:bodyPr wrap="square" lIns="0" tIns="0" rIns="0" bIns="0" rtlCol="0" anchor="ctr">
            <a:spAutoFit/>
          </a:bodyPr>
          <a:lstStyle/>
          <a:p>
            <a:pPr marL="0" indent="0" algn="l">
              <a:buNone/>
            </a:pPr>
            <a:r>
              <a:rPr lang="en-US" sz="1200" dirty="0">
                <a:solidFill>
                  <a:srgbClr val="181F4D"/>
                </a:solidFill>
                <a:latin typeface="Arial" pitchFamily="34" charset="0"/>
                <a:ea typeface="Arial" pitchFamily="34" charset="-122"/>
                <a:cs typeface="Arial" pitchFamily="34" charset="-120"/>
              </a:rPr>
              <a:t>Chandler, Arizona</a:t>
            </a:r>
            <a:endParaRPr lang="en-US" sz="1200" dirty="0"/>
          </a:p>
        </p:txBody>
      </p:sp>
      <p:sp>
        <p:nvSpPr>
          <p:cNvPr id="10" name="Text 8"/>
          <p:cNvSpPr/>
          <p:nvPr/>
        </p:nvSpPr>
        <p:spPr>
          <a:xfrm>
            <a:off x="822960" y="5230368"/>
            <a:ext cx="4572000" cy="228600"/>
          </a:xfrm>
          <a:prstGeom prst="rect">
            <a:avLst/>
          </a:prstGeom>
          <a:noFill/>
          <a:ln/>
        </p:spPr>
        <p:txBody>
          <a:bodyPr wrap="square" lIns="0" tIns="0" rIns="0" bIns="0" rtlCol="0" anchor="ctr">
            <a:spAutoFit/>
          </a:bodyPr>
          <a:lstStyle/>
          <a:p>
            <a:pPr marL="0" indent="0" algn="l">
              <a:buNone/>
            </a:pPr>
            <a:r>
              <a:rPr lang="en-US" sz="1200" dirty="0">
                <a:solidFill>
                  <a:srgbClr val="181F4D"/>
                </a:solidFill>
                <a:latin typeface="Arial" pitchFamily="34" charset="0"/>
                <a:ea typeface="Arial" pitchFamily="34" charset="-122"/>
                <a:cs typeface="Arial" pitchFamily="34" charset="-120"/>
              </a:rPr>
              <a:t>September 2026</a:t>
            </a:r>
            <a:endParaRPr lang="en-US" sz="1200" dirty="0"/>
          </a:p>
        </p:txBody>
      </p:sp>
      <p:sp>
        <p:nvSpPr>
          <p:cNvPr id="11" name="Shape 9"/>
          <p:cNvSpPr/>
          <p:nvPr/>
        </p:nvSpPr>
        <p:spPr>
          <a:xfrm>
            <a:off x="0" y="5934456"/>
            <a:ext cx="12192000" cy="923544"/>
          </a:xfrm>
          <a:prstGeom prst="rect">
            <a:avLst/>
          </a:prstGeom>
          <a:solidFill>
            <a:srgbClr val="181F4D"/>
          </a:solidFill>
          <a:ln w="12700">
            <a:solidFill>
              <a:srgbClr val="181F4D">
                <a:alpha val="0"/>
              </a:srgbClr>
            </a:solidFill>
            <a:prstDash val="solid"/>
          </a:ln>
        </p:spPr>
        <p:txBody>
          <a:bodyPr/>
          <a:lstStyle/>
          <a:p>
            <a:endParaRPr lang="en-PK"/>
          </a:p>
        </p:txBody>
      </p:sp>
      <p:sp>
        <p:nvSpPr>
          <p:cNvPr id="12" name="Text 10"/>
          <p:cNvSpPr/>
          <p:nvPr/>
        </p:nvSpPr>
        <p:spPr>
          <a:xfrm>
            <a:off x="813816" y="6140530"/>
            <a:ext cx="5486400" cy="246221"/>
          </a:xfrm>
          <a:prstGeom prst="rect">
            <a:avLst/>
          </a:prstGeom>
          <a:noFill/>
          <a:ln/>
        </p:spPr>
        <p:txBody>
          <a:bodyPr wrap="square" lIns="0" tIns="0" rIns="0" bIns="0" rtlCol="0" anchor="ctr">
            <a:spAutoFit/>
          </a:bodyPr>
          <a:lstStyle/>
          <a:p>
            <a:pPr marL="0" indent="0" algn="l">
              <a:buNone/>
            </a:pPr>
            <a:r>
              <a:rPr lang="en-US" sz="1600" b="1" dirty="0">
                <a:solidFill>
                  <a:srgbClr val="FFFFFF"/>
                </a:solidFill>
                <a:latin typeface="Arial" pitchFamily="34" charset="0"/>
                <a:ea typeface="Arial" pitchFamily="34" charset="-122"/>
                <a:cs typeface="Arial" pitchFamily="34" charset="-120"/>
              </a:rPr>
              <a:t>Abdullah Ahmed | Bilal Ahmad</a:t>
            </a:r>
            <a:endParaRPr lang="en-US" sz="1600" dirty="0"/>
          </a:p>
        </p:txBody>
      </p:sp>
      <p:sp>
        <p:nvSpPr>
          <p:cNvPr id="13" name="Text 11"/>
          <p:cNvSpPr/>
          <p:nvPr/>
        </p:nvSpPr>
        <p:spPr>
          <a:xfrm>
            <a:off x="813816" y="6446520"/>
            <a:ext cx="5486400" cy="173736"/>
          </a:xfrm>
          <a:prstGeom prst="rect">
            <a:avLst/>
          </a:prstGeom>
          <a:noFill/>
          <a:ln/>
        </p:spPr>
        <p:txBody>
          <a:bodyPr wrap="square" lIns="0" tIns="0" rIns="0" bIns="0" rtlCol="0" anchor="ctr">
            <a:spAutoFit/>
          </a:bodyPr>
          <a:lstStyle/>
          <a:p>
            <a:pPr marL="0" indent="0" algn="l">
              <a:buNone/>
            </a:pPr>
            <a:r>
              <a:rPr lang="en-US" sz="1050" dirty="0">
                <a:solidFill>
                  <a:srgbClr val="FFFFFF"/>
                </a:solidFill>
                <a:latin typeface="Arial" pitchFamily="34" charset="0"/>
                <a:ea typeface="Arial" pitchFamily="34" charset="-122"/>
                <a:cs typeface="Arial" pitchFamily="34" charset="-120"/>
              </a:rPr>
              <a:t>AI &amp; Data Engineer</a:t>
            </a:r>
            <a:endParaRPr lang="en-US" sz="1050" dirty="0"/>
          </a:p>
        </p:txBody>
      </p:sp>
      <p:sp>
        <p:nvSpPr>
          <p:cNvPr id="14" name="Text 12"/>
          <p:cNvSpPr/>
          <p:nvPr/>
        </p:nvSpPr>
        <p:spPr>
          <a:xfrm>
            <a:off x="7370064" y="6345936"/>
            <a:ext cx="3977640" cy="219456"/>
          </a:xfrm>
          <a:prstGeom prst="rect">
            <a:avLst/>
          </a:prstGeom>
          <a:noFill/>
          <a:ln/>
        </p:spPr>
        <p:txBody>
          <a:bodyPr wrap="square" lIns="0" tIns="0" rIns="0" bIns="0" rtlCol="0" anchor="ctr">
            <a:spAutoFit/>
          </a:bodyPr>
          <a:lstStyle/>
          <a:p>
            <a:pPr marL="0" indent="0" algn="r">
              <a:buNone/>
            </a:pPr>
            <a:r>
              <a:rPr lang="en-US" sz="1100" dirty="0">
                <a:solidFill>
                  <a:srgbClr val="FFFFFF"/>
                </a:solidFill>
                <a:latin typeface="Arial" pitchFamily="34" charset="0"/>
                <a:ea typeface="Arial" pitchFamily="34" charset="-122"/>
                <a:cs typeface="Arial" pitchFamily="34" charset="-120"/>
              </a:rPr>
              <a:t>Prepared for exploratory discussion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Header and title"/>
          <p:cNvGrpSpPr/>
          <p:nvPr/>
        </p:nvGrpSpPr>
        <p:grpSpPr>
          <a:xfrm>
            <a:off x="396240" y="152400"/>
            <a:ext cx="11399520" cy="1264920"/>
            <a:chOff x="396240" y="152400"/>
            <a:chExt cx="11399520" cy="1264920"/>
          </a:xfrm>
        </p:grpSpPr>
        <p:sp>
          <p:nvSpPr>
            <p:cNvPr id="3" name="Section label"/>
            <p:cNvSpPr txBox="1"/>
            <p:nvPr/>
          </p:nvSpPr>
          <p:spPr>
            <a:xfrm>
              <a:off x="396240" y="205740"/>
              <a:ext cx="3962400" cy="198120"/>
            </a:xfrm>
            <a:prstGeom prst="rect">
              <a:avLst/>
            </a:prstGeom>
            <a:noFill/>
            <a:effectLst/>
          </p:spPr>
          <p:txBody>
            <a:bodyPr wrap="square" lIns="0" tIns="0" rIns="0" bIns="0" anchor="t">
              <a:spAutoFit/>
            </a:bodyPr>
            <a:lstStyle/>
            <a:p>
              <a:pPr algn="l">
                <a:lnSpc>
                  <a:spcPct val="105000"/>
                </a:lnSpc>
                <a:spcBef>
                  <a:spcPts val="0"/>
                </a:spcBef>
                <a:spcAft>
                  <a:spcPts val="0"/>
                </a:spcAft>
              </a:pPr>
              <a:r>
                <a:rPr sz="1080" b="0" i="0">
                  <a:solidFill>
                    <a:srgbClr val="8590AA"/>
                  </a:solidFill>
                  <a:latin typeface="Arial"/>
                </a:rPr>
                <a:t>Background and purpose</a:t>
              </a:r>
            </a:p>
          </p:txBody>
        </p:sp>
        <p:cxnSp>
          <p:nvCxnSpPr>
            <p:cNvPr id="4" name="Discussion upper rule"/>
            <p:cNvCxnSpPr/>
            <p:nvPr/>
          </p:nvCxnSpPr>
          <p:spPr>
            <a:xfrm>
              <a:off x="4991100" y="152400"/>
              <a:ext cx="2179320" cy="0"/>
            </a:xfrm>
            <a:prstGeom prst="line">
              <a:avLst/>
            </a:prstGeom>
            <a:ln w="10160">
              <a:solidFill>
                <a:srgbClr val="FF6B08"/>
              </a:solidFill>
            </a:ln>
            <a:effectLst/>
          </p:spPr>
          <p:style>
            <a:lnRef idx="2">
              <a:schemeClr val="accent1"/>
            </a:lnRef>
            <a:fillRef idx="0">
              <a:schemeClr val="accent1"/>
            </a:fillRef>
            <a:effectRef idx="0">
              <a:schemeClr val="accent1"/>
            </a:effectRef>
            <a:fontRef idx="minor">
              <a:schemeClr val="tx1"/>
            </a:fontRef>
          </p:style>
        </p:cxnSp>
        <p:sp>
          <p:nvSpPr>
            <p:cNvPr id="5" name="Discussion status"/>
            <p:cNvSpPr txBox="1"/>
            <p:nvPr/>
          </p:nvSpPr>
          <p:spPr>
            <a:xfrm>
              <a:off x="4991100" y="228600"/>
              <a:ext cx="2179320" cy="167640"/>
            </a:xfrm>
            <a:prstGeom prst="rect">
              <a:avLst/>
            </a:prstGeom>
            <a:noFill/>
            <a:effectLst/>
          </p:spPr>
          <p:txBody>
            <a:bodyPr wrap="none" lIns="0" tIns="0" rIns="0" bIns="0" anchor="t">
              <a:spAutoFit/>
            </a:bodyPr>
            <a:lstStyle/>
            <a:p>
              <a:pPr algn="ctr">
                <a:lnSpc>
                  <a:spcPts val="1086"/>
                </a:lnSpc>
                <a:spcBef>
                  <a:spcPts val="0"/>
                </a:spcBef>
                <a:spcAft>
                  <a:spcPts val="0"/>
                </a:spcAft>
              </a:pPr>
              <a:r>
                <a:rPr sz="969" b="1" i="0">
                  <a:solidFill>
                    <a:srgbClr val="FF6B08"/>
                  </a:solidFill>
                  <a:latin typeface="Arial"/>
                </a:rPr>
                <a:t>F O R  D I S C U S S I O N</a:t>
              </a:r>
            </a:p>
          </p:txBody>
        </p:sp>
        <p:cxnSp>
          <p:nvCxnSpPr>
            <p:cNvPr id="6" name="Discussion lower rule"/>
            <p:cNvCxnSpPr/>
            <p:nvPr/>
          </p:nvCxnSpPr>
          <p:spPr>
            <a:xfrm>
              <a:off x="4991100" y="411480"/>
              <a:ext cx="2179320" cy="0"/>
            </a:xfrm>
            <a:prstGeom prst="line">
              <a:avLst/>
            </a:prstGeom>
            <a:ln w="10160">
              <a:solidFill>
                <a:srgbClr val="FF6B08"/>
              </a:solidFill>
            </a:ln>
            <a:effectLst/>
          </p:spPr>
          <p:style>
            <a:lnRef idx="2">
              <a:schemeClr val="accent1"/>
            </a:lnRef>
            <a:fillRef idx="0">
              <a:schemeClr val="accent1"/>
            </a:fillRef>
            <a:effectRef idx="0">
              <a:schemeClr val="accent1"/>
            </a:effectRef>
            <a:fontRef idx="minor">
              <a:schemeClr val="tx1"/>
            </a:fontRef>
          </p:style>
        </p:cxnSp>
        <p:sp>
          <p:nvSpPr>
            <p:cNvPr id="7" name="Brand label"/>
            <p:cNvSpPr txBox="1"/>
            <p:nvPr/>
          </p:nvSpPr>
          <p:spPr>
            <a:xfrm>
              <a:off x="10347960" y="205740"/>
              <a:ext cx="1447800" cy="213360"/>
            </a:xfrm>
            <a:prstGeom prst="rect">
              <a:avLst/>
            </a:prstGeom>
            <a:noFill/>
            <a:effectLst/>
          </p:spPr>
          <p:txBody>
            <a:bodyPr wrap="none" lIns="0" tIns="0" rIns="0" bIns="0" anchor="t">
              <a:spAutoFit/>
            </a:bodyPr>
            <a:lstStyle/>
            <a:p>
              <a:pPr algn="r">
                <a:lnSpc>
                  <a:spcPts val="1265"/>
                </a:lnSpc>
                <a:spcBef>
                  <a:spcPts val="0"/>
                </a:spcBef>
                <a:spcAft>
                  <a:spcPts val="0"/>
                </a:spcAft>
              </a:pPr>
              <a:r>
                <a:rPr sz="1130" b="1" i="0">
                  <a:solidFill>
                    <a:srgbClr val="191F4E"/>
                  </a:solidFill>
                  <a:latin typeface="Arial"/>
                </a:rPr>
                <a:t>NEELEY LAW</a:t>
              </a:r>
            </a:p>
          </p:txBody>
        </p:sp>
        <p:sp>
          <p:nvSpPr>
            <p:cNvPr id="8" name="Main title"/>
            <p:cNvSpPr txBox="1"/>
            <p:nvPr/>
          </p:nvSpPr>
          <p:spPr>
            <a:xfrm>
              <a:off x="396240" y="601980"/>
              <a:ext cx="11399520" cy="487680"/>
            </a:xfrm>
            <a:prstGeom prst="rect">
              <a:avLst/>
            </a:prstGeom>
            <a:noFill/>
            <a:effectLst/>
          </p:spPr>
          <p:txBody>
            <a:bodyPr wrap="square" lIns="0" tIns="0" rIns="0" bIns="0" anchor="t">
              <a:spAutoFit/>
            </a:bodyPr>
            <a:lstStyle/>
            <a:p>
              <a:pPr algn="l">
                <a:lnSpc>
                  <a:spcPct val="105000"/>
                </a:lnSpc>
                <a:spcBef>
                  <a:spcPts val="0"/>
                </a:spcBef>
                <a:spcAft>
                  <a:spcPts val="0"/>
                </a:spcAft>
              </a:pPr>
              <a:r>
                <a:rPr sz="2760" b="1" i="0">
                  <a:solidFill>
                    <a:srgbClr val="1D2357"/>
                  </a:solidFill>
                  <a:latin typeface="Arial"/>
                </a:rPr>
                <a:t>A structured workflow gives staff more time for client work</a:t>
              </a:r>
            </a:p>
          </p:txBody>
        </p:sp>
        <p:sp>
          <p:nvSpPr>
            <p:cNvPr id="9" name="Subtitle"/>
            <p:cNvSpPr txBox="1"/>
            <p:nvPr/>
          </p:nvSpPr>
          <p:spPr>
            <a:xfrm>
              <a:off x="396240" y="1089660"/>
              <a:ext cx="11399520" cy="327660"/>
            </a:xfrm>
            <a:prstGeom prst="rect">
              <a:avLst/>
            </a:prstGeom>
            <a:noFill/>
            <a:effectLst/>
          </p:spPr>
          <p:txBody>
            <a:bodyPr wrap="square" lIns="0" tIns="0" rIns="0" bIns="0" anchor="t">
              <a:spAutoFit/>
            </a:bodyPr>
            <a:lstStyle/>
            <a:p>
              <a:pPr algn="l">
                <a:lnSpc>
                  <a:spcPct val="105000"/>
                </a:lnSpc>
                <a:spcBef>
                  <a:spcPts val="0"/>
                </a:spcBef>
                <a:spcAft>
                  <a:spcPts val="0"/>
                </a:spcAft>
              </a:pPr>
              <a:r>
                <a:rPr sz="1420" b="0" i="0">
                  <a:solidFill>
                    <a:srgbClr val="627795"/>
                  </a:solidFill>
                  <a:latin typeface="Arial"/>
                </a:rPr>
                <a:t>Document Submission &amp; Verification Platform  |  A focused, human-supervised first release</a:t>
              </a:r>
            </a:p>
          </p:txBody>
        </p:sp>
      </p:grpSp>
      <p:grpSp>
        <p:nvGrpSpPr>
          <p:cNvPr id="10" name="Card 1 | NEELEY LAW TODAY"/>
          <p:cNvGrpSpPr/>
          <p:nvPr/>
        </p:nvGrpSpPr>
        <p:grpSpPr>
          <a:xfrm>
            <a:off x="396240" y="1531620"/>
            <a:ext cx="3665220" cy="2545080"/>
            <a:chOff x="396240" y="1531620"/>
            <a:chExt cx="3665220" cy="2545080"/>
          </a:xfrm>
        </p:grpSpPr>
        <p:sp>
          <p:nvSpPr>
            <p:cNvPr id="11" name="Card background"/>
            <p:cNvSpPr/>
            <p:nvPr/>
          </p:nvSpPr>
          <p:spPr>
            <a:xfrm>
              <a:off x="396240" y="1531620"/>
              <a:ext cx="3665220" cy="2545080"/>
            </a:xfrm>
            <a:prstGeom prst="roundRect">
              <a:avLst>
                <a:gd name="adj" fmla="val 3293"/>
              </a:avLst>
            </a:prstGeom>
            <a:gradFill rotWithShape="1">
              <a:gsLst>
                <a:gs pos="0">
                  <a:srgbClr val="F3F6FB"/>
                </a:gs>
                <a:gs pos="50000">
                  <a:srgbClr val="F3F6FB"/>
                </a:gs>
                <a:gs pos="100000">
                  <a:srgbClr val="F0F4FA"/>
                </a:gs>
              </a:gsLst>
              <a:lin ang="54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Header with rounded top corners"/>
            <p:cNvSpPr/>
            <p:nvPr/>
          </p:nvSpPr>
          <p:spPr>
            <a:xfrm>
              <a:off x="396240" y="1531620"/>
              <a:ext cx="3665220" cy="411480"/>
            </a:xfrm>
            <a:prstGeom prst="roundRect">
              <a:avLst>
                <a:gd name="adj" fmla="val 16666"/>
              </a:avLst>
            </a:prstGeom>
            <a:gradFill rotWithShape="1">
              <a:gsLst>
                <a:gs pos="0">
                  <a:srgbClr val="1C2C5B"/>
                </a:gs>
                <a:gs pos="100000">
                  <a:srgbClr val="223968"/>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Header lower edge"/>
            <p:cNvSpPr/>
            <p:nvPr/>
          </p:nvSpPr>
          <p:spPr>
            <a:xfrm>
              <a:off x="396240" y="1859280"/>
              <a:ext cx="3665220" cy="83820"/>
            </a:xfrm>
            <a:prstGeom prst="rect">
              <a:avLst/>
            </a:prstGeom>
            <a:gradFill rotWithShape="1">
              <a:gsLst>
                <a:gs pos="0">
                  <a:srgbClr val="1C2C5B"/>
                </a:gs>
                <a:gs pos="100000">
                  <a:srgbClr val="223968"/>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Card heading"/>
            <p:cNvSpPr txBox="1"/>
            <p:nvPr/>
          </p:nvSpPr>
          <p:spPr>
            <a:xfrm>
              <a:off x="586740" y="1653540"/>
              <a:ext cx="3329940" cy="213360"/>
            </a:xfrm>
            <a:prstGeom prst="rect">
              <a:avLst/>
            </a:prstGeom>
            <a:noFill/>
            <a:effectLst/>
          </p:spPr>
          <p:txBody>
            <a:bodyPr wrap="square" lIns="0" tIns="0" rIns="0" bIns="0" anchor="t">
              <a:spAutoFit/>
            </a:bodyPr>
            <a:lstStyle/>
            <a:p>
              <a:pPr algn="l">
                <a:lnSpc>
                  <a:spcPct val="105000"/>
                </a:lnSpc>
                <a:spcBef>
                  <a:spcPts val="0"/>
                </a:spcBef>
                <a:spcAft>
                  <a:spcPts val="0"/>
                </a:spcAft>
              </a:pPr>
              <a:r>
                <a:rPr sz="1280" b="1" i="0">
                  <a:solidFill>
                    <a:srgbClr val="FFFFFF"/>
                  </a:solidFill>
                  <a:latin typeface="Arial"/>
                </a:rPr>
                <a:t>NEELEY LAW TODAY</a:t>
              </a:r>
            </a:p>
          </p:txBody>
        </p:sp>
        <p:sp>
          <p:nvSpPr>
            <p:cNvPr id="25" name="Courthouse icon background"/>
            <p:cNvSpPr/>
            <p:nvPr/>
          </p:nvSpPr>
          <p:spPr>
            <a:xfrm>
              <a:off x="586740" y="2103120"/>
              <a:ext cx="883920" cy="883920"/>
            </a:xfrm>
            <a:prstGeom prst="ellipse">
              <a:avLst/>
            </a:prstGeom>
            <a:solidFill>
              <a:srgbClr val="E4EE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nvGrpSpPr>
            <p:cNvPr id="26" name="Editable icon | courthouse"/>
            <p:cNvGrpSpPr/>
            <p:nvPr/>
          </p:nvGrpSpPr>
          <p:grpSpPr>
            <a:xfrm>
              <a:off x="784631" y="2270760"/>
              <a:ext cx="517398" cy="561746"/>
              <a:chOff x="784631" y="2270760"/>
              <a:chExt cx="517398" cy="561746"/>
            </a:xfrm>
          </p:grpSpPr>
          <p:sp>
            <p:nvSpPr>
              <p:cNvPr id="27" name="Courthouse pediment"/>
              <p:cNvSpPr/>
              <p:nvPr/>
            </p:nvSpPr>
            <p:spPr>
              <a:xfrm>
                <a:off x="792480" y="2270760"/>
                <a:ext cx="502920" cy="182880"/>
              </a:xfrm>
              <a:custGeom>
                <a:avLst/>
                <a:gdLst/>
                <a:ahLst/>
                <a:cxnLst/>
                <a:rect l="l" t="t" r="r" b="b"/>
                <a:pathLst>
                  <a:path w="66" h="24">
                    <a:moveTo>
                      <a:pt x="33" y="0"/>
                    </a:moveTo>
                    <a:lnTo>
                      <a:pt x="0" y="19"/>
                    </a:lnTo>
                    <a:lnTo>
                      <a:pt x="0" y="24"/>
                    </a:lnTo>
                    <a:lnTo>
                      <a:pt x="66" y="24"/>
                    </a:lnTo>
                    <a:lnTo>
                      <a:pt x="66" y="19"/>
                    </a:lnTo>
                    <a:close/>
                  </a:path>
                </a:pathLst>
              </a:custGeom>
              <a:solidFill>
                <a:srgbClr val="1637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Pediment highlight"/>
              <p:cNvSpPr/>
              <p:nvPr/>
            </p:nvSpPr>
            <p:spPr>
              <a:xfrm>
                <a:off x="853440" y="2301240"/>
                <a:ext cx="388620" cy="114300"/>
              </a:xfrm>
              <a:custGeom>
                <a:avLst/>
                <a:gdLst/>
                <a:ahLst/>
                <a:cxnLst/>
                <a:rect l="l" t="t" r="r" b="b"/>
                <a:pathLst>
                  <a:path w="51" h="15">
                    <a:moveTo>
                      <a:pt x="25" y="0"/>
                    </a:moveTo>
                    <a:lnTo>
                      <a:pt x="0" y="15"/>
                    </a:lnTo>
                    <a:lnTo>
                      <a:pt x="51" y="15"/>
                    </a:lnTo>
                    <a:close/>
                  </a:path>
                </a:pathLst>
              </a:custGeom>
              <a:solidFill>
                <a:srgbClr val="234D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Courthouse cornice"/>
              <p:cNvSpPr/>
              <p:nvPr/>
            </p:nvSpPr>
            <p:spPr>
              <a:xfrm>
                <a:off x="828980" y="2485111"/>
                <a:ext cx="428701" cy="29566"/>
              </a:xfrm>
              <a:prstGeom prst="rect">
                <a:avLst/>
              </a:prstGeom>
              <a:solidFill>
                <a:srgbClr val="1637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Column 1"/>
              <p:cNvSpPr/>
              <p:nvPr/>
            </p:nvSpPr>
            <p:spPr>
              <a:xfrm>
                <a:off x="858545" y="2522068"/>
                <a:ext cx="81305" cy="206959"/>
              </a:xfrm>
              <a:prstGeom prst="rect">
                <a:avLst/>
              </a:prstGeom>
              <a:solidFill>
                <a:srgbClr val="173B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1" name="Column highlight 1"/>
              <p:cNvSpPr/>
              <p:nvPr/>
            </p:nvSpPr>
            <p:spPr>
              <a:xfrm>
                <a:off x="865937" y="2522068"/>
                <a:ext cx="14783" cy="206959"/>
              </a:xfrm>
              <a:prstGeom prst="rect">
                <a:avLst/>
              </a:prstGeom>
              <a:solidFill>
                <a:srgbClr val="3E5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Column 2"/>
              <p:cNvSpPr/>
              <p:nvPr/>
            </p:nvSpPr>
            <p:spPr>
              <a:xfrm>
                <a:off x="998982" y="2522068"/>
                <a:ext cx="81305" cy="206959"/>
              </a:xfrm>
              <a:prstGeom prst="rect">
                <a:avLst/>
              </a:prstGeom>
              <a:solidFill>
                <a:srgbClr val="173B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3" name="Column highlight 2"/>
              <p:cNvSpPr/>
              <p:nvPr/>
            </p:nvSpPr>
            <p:spPr>
              <a:xfrm>
                <a:off x="1006373" y="2522068"/>
                <a:ext cx="14783" cy="206959"/>
              </a:xfrm>
              <a:prstGeom prst="rect">
                <a:avLst/>
              </a:prstGeom>
              <a:solidFill>
                <a:srgbClr val="3E5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Column 3"/>
              <p:cNvSpPr/>
              <p:nvPr/>
            </p:nvSpPr>
            <p:spPr>
              <a:xfrm>
                <a:off x="1139419" y="2522068"/>
                <a:ext cx="81305" cy="206959"/>
              </a:xfrm>
              <a:prstGeom prst="rect">
                <a:avLst/>
              </a:prstGeom>
              <a:solidFill>
                <a:srgbClr val="173B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Column highlight 3"/>
              <p:cNvSpPr/>
              <p:nvPr/>
            </p:nvSpPr>
            <p:spPr>
              <a:xfrm>
                <a:off x="1146810" y="2522068"/>
                <a:ext cx="14783" cy="206959"/>
              </a:xfrm>
              <a:prstGeom prst="rect">
                <a:avLst/>
              </a:prstGeom>
              <a:solidFill>
                <a:srgbClr val="3E5F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Upper step"/>
              <p:cNvSpPr/>
              <p:nvPr/>
            </p:nvSpPr>
            <p:spPr>
              <a:xfrm>
                <a:off x="828980" y="2751201"/>
                <a:ext cx="428701" cy="36957"/>
              </a:xfrm>
              <a:prstGeom prst="roundRect">
                <a:avLst>
                  <a:gd name="adj" fmla="val 20000"/>
                </a:avLst>
              </a:prstGeom>
              <a:solidFill>
                <a:srgbClr val="1637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7" name="Lower step"/>
              <p:cNvSpPr/>
              <p:nvPr/>
            </p:nvSpPr>
            <p:spPr>
              <a:xfrm>
                <a:off x="784631" y="2795549"/>
                <a:ext cx="517398" cy="36957"/>
              </a:xfrm>
              <a:prstGeom prst="roundRect">
                <a:avLst>
                  <a:gd name="adj" fmla="val 20000"/>
                </a:avLst>
              </a:prstGeom>
              <a:solidFill>
                <a:srgbClr val="1637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sp>
          <p:nvSpPr>
            <p:cNvPr id="38" name="Company description"/>
            <p:cNvSpPr txBox="1"/>
            <p:nvPr/>
          </p:nvSpPr>
          <p:spPr>
            <a:xfrm>
              <a:off x="1668780" y="2206447"/>
              <a:ext cx="2231136" cy="539496"/>
            </a:xfrm>
            <a:prstGeom prst="rect">
              <a:avLst/>
            </a:prstGeom>
            <a:noFill/>
            <a:effectLst/>
          </p:spPr>
          <p:txBody>
            <a:bodyPr wrap="square" lIns="0" tIns="0" rIns="0" bIns="0" anchor="t">
              <a:spAutoFit/>
            </a:bodyPr>
            <a:lstStyle/>
            <a:p>
              <a:pPr algn="l">
                <a:lnSpc>
                  <a:spcPct val="105000"/>
                </a:lnSpc>
                <a:spcBef>
                  <a:spcPts val="0"/>
                </a:spcBef>
                <a:spcAft>
                  <a:spcPts val="0"/>
                </a:spcAft>
              </a:pPr>
              <a:r>
                <a:rPr sz="1860" b="1" i="0">
                  <a:solidFill>
                    <a:srgbClr val="1D2357"/>
                  </a:solidFill>
                  <a:latin typeface="Arial"/>
                </a:rPr>
                <a:t>Relationship-led</a:t>
              </a:r>
            </a:p>
            <a:p>
              <a:pPr>
                <a:lnSpc>
                  <a:spcPct val="105000"/>
                </a:lnSpc>
                <a:spcBef>
                  <a:spcPts val="0"/>
                </a:spcBef>
                <a:spcAft>
                  <a:spcPts val="0"/>
                </a:spcAft>
              </a:pPr>
              <a:r>
                <a:rPr sz="1860" b="1" i="0">
                  <a:solidFill>
                    <a:srgbClr val="1D2357"/>
                  </a:solidFill>
                  <a:latin typeface="Arial"/>
                </a:rPr>
                <a:t>client intake</a:t>
              </a:r>
            </a:p>
          </p:txBody>
        </p:sp>
        <p:sp>
          <p:nvSpPr>
            <p:cNvPr id="39" name="Proposal focus"/>
            <p:cNvSpPr txBox="1"/>
            <p:nvPr/>
          </p:nvSpPr>
          <p:spPr>
            <a:xfrm>
              <a:off x="1668780" y="2862072"/>
              <a:ext cx="2194560" cy="877824"/>
            </a:xfrm>
            <a:prstGeom prst="rect">
              <a:avLst/>
            </a:prstGeom>
            <a:noFill/>
            <a:effectLst/>
          </p:spPr>
          <p:txBody>
            <a:bodyPr wrap="square" lIns="0" tIns="0" rIns="0" bIns="0" anchor="t">
              <a:spAutoFit/>
            </a:bodyPr>
            <a:lstStyle/>
            <a:p>
              <a:pPr algn="l">
                <a:lnSpc>
                  <a:spcPct val="103000"/>
                </a:lnSpc>
                <a:spcBef>
                  <a:spcPts val="0"/>
                </a:spcBef>
                <a:spcAft>
                  <a:spcPts val="0"/>
                </a:spcAft>
              </a:pPr>
              <a:r>
                <a:rPr sz="1410" b="0" i="0" dirty="0">
                  <a:solidFill>
                    <a:srgbClr val="627795"/>
                  </a:solidFill>
                  <a:latin typeface="Arial"/>
                </a:rPr>
                <a:t>Clients provide the documents their matter requires; staff collect, organize and review them.</a:t>
              </a:r>
            </a:p>
          </p:txBody>
        </p:sp>
        <p:grpSp>
          <p:nvGrpSpPr>
            <p:cNvPr id="40" name="Editable decorative skyline"/>
            <p:cNvGrpSpPr/>
            <p:nvPr/>
          </p:nvGrpSpPr>
          <p:grpSpPr>
            <a:xfrm>
              <a:off x="403860" y="3794760"/>
              <a:ext cx="3649980" cy="280720"/>
              <a:chOff x="403860" y="3390900"/>
              <a:chExt cx="3649980" cy="693420"/>
            </a:xfrm>
          </p:grpSpPr>
          <p:sp>
            <p:nvSpPr>
              <p:cNvPr id="41" name="Distant mountain range"/>
              <p:cNvSpPr/>
              <p:nvPr/>
            </p:nvSpPr>
            <p:spPr>
              <a:xfrm>
                <a:off x="403860" y="3390900"/>
                <a:ext cx="3649980" cy="678180"/>
              </a:xfrm>
              <a:custGeom>
                <a:avLst/>
                <a:gdLst/>
                <a:ahLst/>
                <a:cxnLst/>
                <a:rect l="l" t="t" r="r" b="b"/>
                <a:pathLst>
                  <a:path w="479" h="89">
                    <a:moveTo>
                      <a:pt x="0" y="31"/>
                    </a:moveTo>
                    <a:lnTo>
                      <a:pt x="22" y="21"/>
                    </a:lnTo>
                    <a:lnTo>
                      <a:pt x="45" y="17"/>
                    </a:lnTo>
                    <a:lnTo>
                      <a:pt x="70" y="0"/>
                    </a:lnTo>
                    <a:lnTo>
                      <a:pt x="95" y="11"/>
                    </a:lnTo>
                    <a:lnTo>
                      <a:pt x="122" y="27"/>
                    </a:lnTo>
                    <a:lnTo>
                      <a:pt x="158" y="40"/>
                    </a:lnTo>
                    <a:lnTo>
                      <a:pt x="190" y="46"/>
                    </a:lnTo>
                    <a:lnTo>
                      <a:pt x="228" y="36"/>
                    </a:lnTo>
                    <a:lnTo>
                      <a:pt x="267" y="46"/>
                    </a:lnTo>
                    <a:lnTo>
                      <a:pt x="324" y="35"/>
                    </a:lnTo>
                    <a:lnTo>
                      <a:pt x="367" y="54"/>
                    </a:lnTo>
                    <a:lnTo>
                      <a:pt x="392" y="48"/>
                    </a:lnTo>
                    <a:lnTo>
                      <a:pt x="417" y="58"/>
                    </a:lnTo>
                    <a:lnTo>
                      <a:pt x="450" y="47"/>
                    </a:lnTo>
                    <a:lnTo>
                      <a:pt x="479" y="50"/>
                    </a:lnTo>
                    <a:lnTo>
                      <a:pt x="479" y="89"/>
                    </a:lnTo>
                    <a:lnTo>
                      <a:pt x="0" y="89"/>
                    </a:lnTo>
                    <a:close/>
                  </a:path>
                </a:pathLst>
              </a:custGeom>
              <a:solidFill>
                <a:srgbClr val="E2E8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Mountain ridge highlight"/>
              <p:cNvSpPr/>
              <p:nvPr/>
            </p:nvSpPr>
            <p:spPr>
              <a:xfrm>
                <a:off x="937260" y="3390900"/>
                <a:ext cx="160020" cy="243840"/>
              </a:xfrm>
              <a:custGeom>
                <a:avLst/>
                <a:gdLst/>
                <a:ahLst/>
                <a:cxnLst/>
                <a:rect l="l" t="t" r="r" b="b"/>
                <a:pathLst>
                  <a:path w="21" h="32">
                    <a:moveTo>
                      <a:pt x="0" y="0"/>
                    </a:moveTo>
                    <a:lnTo>
                      <a:pt x="15" y="14"/>
                    </a:lnTo>
                    <a:lnTo>
                      <a:pt x="21" y="32"/>
                    </a:lnTo>
                    <a:lnTo>
                      <a:pt x="10" y="21"/>
                    </a:lnTo>
                    <a:lnTo>
                      <a:pt x="5" y="18"/>
                    </a:lnTo>
                    <a:close/>
                  </a:path>
                </a:pathLst>
              </a:custGeom>
              <a:solidFill>
                <a:srgbClr val="D3D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3" name="Near landscape"/>
              <p:cNvSpPr/>
              <p:nvPr/>
            </p:nvSpPr>
            <p:spPr>
              <a:xfrm>
                <a:off x="411480" y="3840480"/>
                <a:ext cx="3642360" cy="228600"/>
              </a:xfrm>
              <a:custGeom>
                <a:avLst/>
                <a:gdLst/>
                <a:ahLst/>
                <a:cxnLst/>
                <a:rect l="l" t="t" r="r" b="b"/>
                <a:pathLst>
                  <a:path w="478" h="30">
                    <a:moveTo>
                      <a:pt x="0" y="4"/>
                    </a:moveTo>
                    <a:lnTo>
                      <a:pt x="15" y="1"/>
                    </a:lnTo>
                    <a:lnTo>
                      <a:pt x="32" y="9"/>
                    </a:lnTo>
                    <a:lnTo>
                      <a:pt x="50" y="0"/>
                    </a:lnTo>
                    <a:lnTo>
                      <a:pt x="78" y="9"/>
                    </a:lnTo>
                    <a:lnTo>
                      <a:pt x="109" y="2"/>
                    </a:lnTo>
                    <a:lnTo>
                      <a:pt x="133" y="16"/>
                    </a:lnTo>
                    <a:lnTo>
                      <a:pt x="166" y="10"/>
                    </a:lnTo>
                    <a:lnTo>
                      <a:pt x="195" y="18"/>
                    </a:lnTo>
                    <a:lnTo>
                      <a:pt x="224" y="13"/>
                    </a:lnTo>
                    <a:lnTo>
                      <a:pt x="243" y="21"/>
                    </a:lnTo>
                    <a:lnTo>
                      <a:pt x="269" y="11"/>
                    </a:lnTo>
                    <a:lnTo>
                      <a:pt x="305" y="18"/>
                    </a:lnTo>
                    <a:lnTo>
                      <a:pt x="335" y="9"/>
                    </a:lnTo>
                    <a:lnTo>
                      <a:pt x="373" y="20"/>
                    </a:lnTo>
                    <a:lnTo>
                      <a:pt x="406" y="14"/>
                    </a:lnTo>
                    <a:lnTo>
                      <a:pt x="441" y="20"/>
                    </a:lnTo>
                    <a:lnTo>
                      <a:pt x="478" y="15"/>
                    </a:lnTo>
                    <a:lnTo>
                      <a:pt x="478" y="30"/>
                    </a:lnTo>
                    <a:lnTo>
                      <a:pt x="0" y="30"/>
                    </a:lnTo>
                    <a:close/>
                  </a:path>
                </a:pathLst>
              </a:custGeom>
              <a:solidFill>
                <a:srgbClr val="D5DE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Skyline building 1"/>
              <p:cNvSpPr/>
              <p:nvPr/>
            </p:nvSpPr>
            <p:spPr>
              <a:xfrm>
                <a:off x="693420" y="3970020"/>
                <a:ext cx="152400" cy="106680"/>
              </a:xfrm>
              <a:prstGeom prst="rect">
                <a:avLst/>
              </a:prstGeom>
              <a:solidFill>
                <a:srgbClr val="BAC5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5" name="Skyline building 2"/>
              <p:cNvSpPr/>
              <p:nvPr/>
            </p:nvSpPr>
            <p:spPr>
              <a:xfrm>
                <a:off x="845820" y="3916680"/>
                <a:ext cx="228600" cy="152400"/>
              </a:xfrm>
              <a:prstGeom prst="rect">
                <a:avLst/>
              </a:prstGeom>
              <a:solidFill>
                <a:srgbClr val="BAC5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Skyline building 3"/>
              <p:cNvSpPr/>
              <p:nvPr/>
            </p:nvSpPr>
            <p:spPr>
              <a:xfrm>
                <a:off x="1150620" y="3787140"/>
                <a:ext cx="182880" cy="281940"/>
              </a:xfrm>
              <a:prstGeom prst="rect">
                <a:avLst/>
              </a:prstGeom>
              <a:solidFill>
                <a:srgbClr val="BAC5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Skyline building 4"/>
              <p:cNvSpPr/>
              <p:nvPr/>
            </p:nvSpPr>
            <p:spPr>
              <a:xfrm>
                <a:off x="1356360" y="3863340"/>
                <a:ext cx="129540" cy="205740"/>
              </a:xfrm>
              <a:prstGeom prst="rect">
                <a:avLst/>
              </a:prstGeom>
              <a:solidFill>
                <a:srgbClr val="BAC5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Skyline building 5"/>
              <p:cNvSpPr/>
              <p:nvPr/>
            </p:nvSpPr>
            <p:spPr>
              <a:xfrm>
                <a:off x="1524000" y="3848100"/>
                <a:ext cx="220980" cy="220980"/>
              </a:xfrm>
              <a:prstGeom prst="rect">
                <a:avLst/>
              </a:prstGeom>
              <a:solidFill>
                <a:srgbClr val="BAC5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Skyline building 6"/>
              <p:cNvSpPr/>
              <p:nvPr/>
            </p:nvSpPr>
            <p:spPr>
              <a:xfrm>
                <a:off x="1798320" y="3642360"/>
                <a:ext cx="190500" cy="426720"/>
              </a:xfrm>
              <a:prstGeom prst="rect">
                <a:avLst/>
              </a:prstGeom>
              <a:solidFill>
                <a:srgbClr val="BAC5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Skyline building 7"/>
              <p:cNvSpPr/>
              <p:nvPr/>
            </p:nvSpPr>
            <p:spPr>
              <a:xfrm>
                <a:off x="1752600" y="3703320"/>
                <a:ext cx="60960" cy="365760"/>
              </a:xfrm>
              <a:prstGeom prst="rect">
                <a:avLst/>
              </a:prstGeom>
              <a:solidFill>
                <a:srgbClr val="BAC5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1" name="Skyline building 8"/>
              <p:cNvSpPr/>
              <p:nvPr/>
            </p:nvSpPr>
            <p:spPr>
              <a:xfrm>
                <a:off x="2004060" y="3962400"/>
                <a:ext cx="114300" cy="106680"/>
              </a:xfrm>
              <a:prstGeom prst="rect">
                <a:avLst/>
              </a:prstGeom>
              <a:solidFill>
                <a:srgbClr val="BAC5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Skyline building 9"/>
              <p:cNvSpPr/>
              <p:nvPr/>
            </p:nvSpPr>
            <p:spPr>
              <a:xfrm>
                <a:off x="2118360" y="3771900"/>
                <a:ext cx="152400" cy="297180"/>
              </a:xfrm>
              <a:prstGeom prst="rect">
                <a:avLst/>
              </a:prstGeom>
              <a:solidFill>
                <a:srgbClr val="BAC5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Skyline building 10"/>
              <p:cNvSpPr/>
              <p:nvPr/>
            </p:nvSpPr>
            <p:spPr>
              <a:xfrm>
                <a:off x="2278380" y="3893820"/>
                <a:ext cx="160020" cy="175260"/>
              </a:xfrm>
              <a:prstGeom prst="rect">
                <a:avLst/>
              </a:prstGeom>
              <a:solidFill>
                <a:srgbClr val="BAC5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Skyline building 11"/>
              <p:cNvSpPr/>
              <p:nvPr/>
            </p:nvSpPr>
            <p:spPr>
              <a:xfrm>
                <a:off x="2453640" y="3962400"/>
                <a:ext cx="160020" cy="106680"/>
              </a:xfrm>
              <a:prstGeom prst="rect">
                <a:avLst/>
              </a:prstGeom>
              <a:solidFill>
                <a:srgbClr val="BAC5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Palm trunk"/>
              <p:cNvSpPr/>
              <p:nvPr/>
            </p:nvSpPr>
            <p:spPr>
              <a:xfrm>
                <a:off x="731520" y="3787140"/>
                <a:ext cx="60960" cy="274320"/>
              </a:xfrm>
              <a:custGeom>
                <a:avLst/>
                <a:gdLst/>
                <a:ahLst/>
                <a:cxnLst/>
                <a:rect l="l" t="t" r="r" b="b"/>
                <a:pathLst>
                  <a:path w="8" h="36">
                    <a:moveTo>
                      <a:pt x="0" y="36"/>
                    </a:moveTo>
                    <a:lnTo>
                      <a:pt x="3" y="0"/>
                    </a:lnTo>
                    <a:lnTo>
                      <a:pt x="6" y="0"/>
                    </a:lnTo>
                    <a:lnTo>
                      <a:pt x="8" y="36"/>
                    </a:lnTo>
                    <a:close/>
                  </a:path>
                </a:pathLst>
              </a:custGeom>
              <a:solidFill>
                <a:srgbClr val="AEB9C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7" name="Palm leaf 1"/>
              <p:cNvSpPr/>
              <p:nvPr/>
            </p:nvSpPr>
            <p:spPr>
              <a:xfrm>
                <a:off x="594360" y="3726180"/>
                <a:ext cx="175260" cy="68580"/>
              </a:xfrm>
              <a:custGeom>
                <a:avLst/>
                <a:gdLst/>
                <a:ahLst/>
                <a:cxnLst/>
                <a:rect l="l" t="t" r="r" b="b"/>
                <a:pathLst>
                  <a:path w="23" h="9">
                    <a:moveTo>
                      <a:pt x="23" y="9"/>
                    </a:moveTo>
                    <a:lnTo>
                      <a:pt x="9" y="0"/>
                    </a:lnTo>
                    <a:lnTo>
                      <a:pt x="0" y="6"/>
                    </a:lnTo>
                    <a:lnTo>
                      <a:pt x="12" y="7"/>
                    </a:lnTo>
                    <a:close/>
                  </a:path>
                </a:pathLst>
              </a:custGeom>
              <a:solidFill>
                <a:srgbClr val="AEB9C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8" name="Palm leaf 2"/>
              <p:cNvSpPr/>
              <p:nvPr/>
            </p:nvSpPr>
            <p:spPr>
              <a:xfrm>
                <a:off x="609600" y="3634740"/>
                <a:ext cx="160020" cy="160020"/>
              </a:xfrm>
              <a:custGeom>
                <a:avLst/>
                <a:gdLst/>
                <a:ahLst/>
                <a:cxnLst/>
                <a:rect l="l" t="t" r="r" b="b"/>
                <a:pathLst>
                  <a:path w="21" h="21">
                    <a:moveTo>
                      <a:pt x="21" y="21"/>
                    </a:moveTo>
                    <a:lnTo>
                      <a:pt x="8" y="0"/>
                    </a:lnTo>
                    <a:lnTo>
                      <a:pt x="0" y="6"/>
                    </a:lnTo>
                    <a:lnTo>
                      <a:pt x="11" y="14"/>
                    </a:lnTo>
                    <a:close/>
                  </a:path>
                </a:pathLst>
              </a:custGeom>
              <a:solidFill>
                <a:srgbClr val="AEB9C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Palm leaf 3"/>
              <p:cNvSpPr/>
              <p:nvPr/>
            </p:nvSpPr>
            <p:spPr>
              <a:xfrm>
                <a:off x="678180" y="3604260"/>
                <a:ext cx="91440" cy="190500"/>
              </a:xfrm>
              <a:custGeom>
                <a:avLst/>
                <a:gdLst/>
                <a:ahLst/>
                <a:cxnLst/>
                <a:rect l="l" t="t" r="r" b="b"/>
                <a:pathLst>
                  <a:path w="12" h="25">
                    <a:moveTo>
                      <a:pt x="12" y="25"/>
                    </a:moveTo>
                    <a:lnTo>
                      <a:pt x="5" y="0"/>
                    </a:lnTo>
                    <a:lnTo>
                      <a:pt x="0" y="7"/>
                    </a:lnTo>
                    <a:lnTo>
                      <a:pt x="7" y="17"/>
                    </a:lnTo>
                    <a:close/>
                  </a:path>
                </a:pathLst>
              </a:custGeom>
              <a:solidFill>
                <a:srgbClr val="AEB9C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0" name="Palm leaf 4"/>
              <p:cNvSpPr/>
              <p:nvPr/>
            </p:nvSpPr>
            <p:spPr>
              <a:xfrm>
                <a:off x="769620" y="3596640"/>
                <a:ext cx="83820" cy="198120"/>
              </a:xfrm>
              <a:custGeom>
                <a:avLst/>
                <a:gdLst/>
                <a:ahLst/>
                <a:cxnLst/>
                <a:rect l="l" t="t" r="r" b="b"/>
                <a:pathLst>
                  <a:path w="11" h="26">
                    <a:moveTo>
                      <a:pt x="0" y="26"/>
                    </a:moveTo>
                    <a:lnTo>
                      <a:pt x="6" y="0"/>
                    </a:lnTo>
                    <a:lnTo>
                      <a:pt x="11" y="7"/>
                    </a:lnTo>
                    <a:lnTo>
                      <a:pt x="4" y="17"/>
                    </a:lnTo>
                    <a:close/>
                  </a:path>
                </a:pathLst>
              </a:custGeom>
              <a:solidFill>
                <a:srgbClr val="AEB9C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1" name="Palm leaf 5"/>
              <p:cNvSpPr/>
              <p:nvPr/>
            </p:nvSpPr>
            <p:spPr>
              <a:xfrm>
                <a:off x="769620" y="3649980"/>
                <a:ext cx="167640" cy="144780"/>
              </a:xfrm>
              <a:custGeom>
                <a:avLst/>
                <a:gdLst/>
                <a:ahLst/>
                <a:cxnLst/>
                <a:rect l="l" t="t" r="r" b="b"/>
                <a:pathLst>
                  <a:path w="22" h="19">
                    <a:moveTo>
                      <a:pt x="0" y="19"/>
                    </a:moveTo>
                    <a:lnTo>
                      <a:pt x="13" y="0"/>
                    </a:lnTo>
                    <a:lnTo>
                      <a:pt x="22" y="6"/>
                    </a:lnTo>
                    <a:lnTo>
                      <a:pt x="9" y="13"/>
                    </a:lnTo>
                    <a:close/>
                  </a:path>
                </a:pathLst>
              </a:custGeom>
              <a:solidFill>
                <a:srgbClr val="AEB9C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Palm leaf 6"/>
              <p:cNvSpPr/>
              <p:nvPr/>
            </p:nvSpPr>
            <p:spPr>
              <a:xfrm>
                <a:off x="769620" y="3741420"/>
                <a:ext cx="175260" cy="53340"/>
              </a:xfrm>
              <a:custGeom>
                <a:avLst/>
                <a:gdLst/>
                <a:ahLst/>
                <a:cxnLst/>
                <a:rect l="l" t="t" r="r" b="b"/>
                <a:pathLst>
                  <a:path w="23" h="7">
                    <a:moveTo>
                      <a:pt x="0" y="7"/>
                    </a:moveTo>
                    <a:lnTo>
                      <a:pt x="14" y="0"/>
                    </a:lnTo>
                    <a:lnTo>
                      <a:pt x="23" y="6"/>
                    </a:lnTo>
                    <a:lnTo>
                      <a:pt x="10" y="6"/>
                    </a:lnTo>
                    <a:close/>
                  </a:path>
                </a:pathLst>
              </a:custGeom>
              <a:solidFill>
                <a:srgbClr val="AEB9C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4" name="Palm trunk"/>
              <p:cNvSpPr/>
              <p:nvPr/>
            </p:nvSpPr>
            <p:spPr>
              <a:xfrm>
                <a:off x="2446020" y="3893820"/>
                <a:ext cx="38100" cy="190500"/>
              </a:xfrm>
              <a:custGeom>
                <a:avLst/>
                <a:gdLst/>
                <a:ahLst/>
                <a:cxnLst/>
                <a:rect l="l" t="t" r="r" b="b"/>
                <a:pathLst>
                  <a:path w="5" h="25">
                    <a:moveTo>
                      <a:pt x="0" y="25"/>
                    </a:moveTo>
                    <a:lnTo>
                      <a:pt x="2" y="0"/>
                    </a:lnTo>
                    <a:lnTo>
                      <a:pt x="4" y="0"/>
                    </a:lnTo>
                    <a:lnTo>
                      <a:pt x="5" y="25"/>
                    </a:lnTo>
                    <a:close/>
                  </a:path>
                </a:pathLst>
              </a:custGeom>
              <a:solidFill>
                <a:srgbClr val="AEB9C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Palm leaf 1"/>
              <p:cNvSpPr/>
              <p:nvPr/>
            </p:nvSpPr>
            <p:spPr>
              <a:xfrm>
                <a:off x="2346960" y="3848100"/>
                <a:ext cx="121920" cy="53340"/>
              </a:xfrm>
              <a:custGeom>
                <a:avLst/>
                <a:gdLst/>
                <a:ahLst/>
                <a:cxnLst/>
                <a:rect l="l" t="t" r="r" b="b"/>
                <a:pathLst>
                  <a:path w="16" h="7">
                    <a:moveTo>
                      <a:pt x="16" y="7"/>
                    </a:moveTo>
                    <a:lnTo>
                      <a:pt x="6" y="0"/>
                    </a:lnTo>
                    <a:lnTo>
                      <a:pt x="0" y="5"/>
                    </a:lnTo>
                    <a:lnTo>
                      <a:pt x="9" y="5"/>
                    </a:lnTo>
                    <a:close/>
                  </a:path>
                </a:pathLst>
              </a:custGeom>
              <a:solidFill>
                <a:srgbClr val="AEB9C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6" name="Palm leaf 2"/>
              <p:cNvSpPr/>
              <p:nvPr/>
            </p:nvSpPr>
            <p:spPr>
              <a:xfrm>
                <a:off x="2362200" y="3787140"/>
                <a:ext cx="106680" cy="114300"/>
              </a:xfrm>
              <a:custGeom>
                <a:avLst/>
                <a:gdLst/>
                <a:ahLst/>
                <a:cxnLst/>
                <a:rect l="l" t="t" r="r" b="b"/>
                <a:pathLst>
                  <a:path w="14" h="15">
                    <a:moveTo>
                      <a:pt x="14" y="15"/>
                    </a:moveTo>
                    <a:lnTo>
                      <a:pt x="5" y="0"/>
                    </a:lnTo>
                    <a:lnTo>
                      <a:pt x="0" y="4"/>
                    </a:lnTo>
                    <a:lnTo>
                      <a:pt x="8" y="10"/>
                    </a:lnTo>
                    <a:close/>
                  </a:path>
                </a:pathLst>
              </a:custGeom>
              <a:solidFill>
                <a:srgbClr val="AEB9C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7" name="Palm leaf 3"/>
              <p:cNvSpPr/>
              <p:nvPr/>
            </p:nvSpPr>
            <p:spPr>
              <a:xfrm>
                <a:off x="2407920" y="3764280"/>
                <a:ext cx="60960" cy="137160"/>
              </a:xfrm>
              <a:custGeom>
                <a:avLst/>
                <a:gdLst/>
                <a:ahLst/>
                <a:cxnLst/>
                <a:rect l="l" t="t" r="r" b="b"/>
                <a:pathLst>
                  <a:path w="8" h="18">
                    <a:moveTo>
                      <a:pt x="8" y="18"/>
                    </a:moveTo>
                    <a:lnTo>
                      <a:pt x="3" y="0"/>
                    </a:lnTo>
                    <a:lnTo>
                      <a:pt x="0" y="5"/>
                    </a:lnTo>
                    <a:lnTo>
                      <a:pt x="4" y="12"/>
                    </a:lnTo>
                    <a:close/>
                  </a:path>
                </a:pathLst>
              </a:custGeom>
              <a:solidFill>
                <a:srgbClr val="AEB9C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alm leaf 4"/>
              <p:cNvSpPr/>
              <p:nvPr/>
            </p:nvSpPr>
            <p:spPr>
              <a:xfrm>
                <a:off x="2468880" y="3764280"/>
                <a:ext cx="60960" cy="137160"/>
              </a:xfrm>
              <a:custGeom>
                <a:avLst/>
                <a:gdLst/>
                <a:ahLst/>
                <a:cxnLst/>
                <a:rect l="l" t="t" r="r" b="b"/>
                <a:pathLst>
                  <a:path w="8" h="18">
                    <a:moveTo>
                      <a:pt x="0" y="18"/>
                    </a:moveTo>
                    <a:lnTo>
                      <a:pt x="4" y="0"/>
                    </a:lnTo>
                    <a:lnTo>
                      <a:pt x="8" y="4"/>
                    </a:lnTo>
                    <a:lnTo>
                      <a:pt x="3" y="12"/>
                    </a:lnTo>
                    <a:close/>
                  </a:path>
                </a:pathLst>
              </a:custGeom>
              <a:solidFill>
                <a:srgbClr val="AEB9C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9" name="Palm leaf 5"/>
              <p:cNvSpPr/>
              <p:nvPr/>
            </p:nvSpPr>
            <p:spPr>
              <a:xfrm>
                <a:off x="2468880" y="3794760"/>
                <a:ext cx="114300" cy="106680"/>
              </a:xfrm>
              <a:custGeom>
                <a:avLst/>
                <a:gdLst/>
                <a:ahLst/>
                <a:cxnLst/>
                <a:rect l="l" t="t" r="r" b="b"/>
                <a:pathLst>
                  <a:path w="15" h="14">
                    <a:moveTo>
                      <a:pt x="0" y="14"/>
                    </a:moveTo>
                    <a:lnTo>
                      <a:pt x="9" y="0"/>
                    </a:lnTo>
                    <a:lnTo>
                      <a:pt x="15" y="5"/>
                    </a:lnTo>
                    <a:lnTo>
                      <a:pt x="7" y="10"/>
                    </a:lnTo>
                    <a:close/>
                  </a:path>
                </a:pathLst>
              </a:custGeom>
              <a:solidFill>
                <a:srgbClr val="AEB9C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0" name="Palm leaf 6"/>
              <p:cNvSpPr/>
              <p:nvPr/>
            </p:nvSpPr>
            <p:spPr>
              <a:xfrm>
                <a:off x="2468880" y="3863340"/>
                <a:ext cx="121920" cy="38100"/>
              </a:xfrm>
              <a:custGeom>
                <a:avLst/>
                <a:gdLst/>
                <a:ahLst/>
                <a:cxnLst/>
                <a:rect l="l" t="t" r="r" b="b"/>
                <a:pathLst>
                  <a:path w="16" h="5">
                    <a:moveTo>
                      <a:pt x="0" y="5"/>
                    </a:moveTo>
                    <a:lnTo>
                      <a:pt x="10" y="0"/>
                    </a:lnTo>
                    <a:lnTo>
                      <a:pt x="16" y="4"/>
                    </a:lnTo>
                    <a:lnTo>
                      <a:pt x="7" y="4"/>
                    </a:lnTo>
                    <a:close/>
                  </a:path>
                </a:pathLst>
              </a:custGeom>
              <a:solidFill>
                <a:srgbClr val="AEB9C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2" name="Cactus trunk"/>
              <p:cNvCxnSpPr/>
              <p:nvPr/>
            </p:nvCxnSpPr>
            <p:spPr>
              <a:xfrm>
                <a:off x="3809086" y="3548786"/>
                <a:ext cx="0" cy="474803"/>
              </a:xfrm>
              <a:prstGeom prst="line">
                <a:avLst/>
              </a:prstGeom>
              <a:ln w="70866" cap="rnd">
                <a:solidFill>
                  <a:srgbClr val="A5B1C9"/>
                </a:solidFill>
              </a:ln>
              <a:effectLst/>
            </p:spPr>
            <p:style>
              <a:lnRef idx="2">
                <a:schemeClr val="accent1"/>
              </a:lnRef>
              <a:fillRef idx="0">
                <a:schemeClr val="accent1"/>
              </a:fillRef>
              <a:effectRef idx="0">
                <a:schemeClr val="accent1"/>
              </a:effectRef>
              <a:fontRef idx="minor">
                <a:schemeClr val="tx1"/>
              </a:fontRef>
            </p:style>
          </p:cxnSp>
          <p:sp>
            <p:nvSpPr>
              <p:cNvPr id="73" name="Left cactus arm"/>
              <p:cNvSpPr/>
              <p:nvPr/>
            </p:nvSpPr>
            <p:spPr>
              <a:xfrm>
                <a:off x="3695700" y="3703320"/>
                <a:ext cx="114300" cy="190500"/>
              </a:xfrm>
              <a:custGeom>
                <a:avLst/>
                <a:gdLst/>
                <a:ahLst/>
                <a:cxnLst/>
                <a:rect l="l" t="t" r="r" b="b"/>
                <a:pathLst>
                  <a:path w="15" h="25">
                    <a:moveTo>
                      <a:pt x="0" y="0"/>
                    </a:moveTo>
                    <a:lnTo>
                      <a:pt x="0" y="19"/>
                    </a:lnTo>
                    <a:lnTo>
                      <a:pt x="4" y="25"/>
                    </a:lnTo>
                    <a:lnTo>
                      <a:pt x="15" y="25"/>
                    </a:lnTo>
                  </a:path>
                </a:pathLst>
              </a:custGeom>
              <a:noFill/>
              <a:ln w="59055" cap="rnd">
                <a:solidFill>
                  <a:srgbClr val="A5B1C9"/>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4" name="Right cactus arm"/>
              <p:cNvSpPr/>
              <p:nvPr/>
            </p:nvSpPr>
            <p:spPr>
              <a:xfrm>
                <a:off x="3810000" y="3756660"/>
                <a:ext cx="114300" cy="190500"/>
              </a:xfrm>
              <a:custGeom>
                <a:avLst/>
                <a:gdLst/>
                <a:ahLst/>
                <a:cxnLst/>
                <a:rect l="l" t="t" r="r" b="b"/>
                <a:pathLst>
                  <a:path w="15" h="25">
                    <a:moveTo>
                      <a:pt x="15" y="0"/>
                    </a:moveTo>
                    <a:lnTo>
                      <a:pt x="15" y="20"/>
                    </a:lnTo>
                    <a:lnTo>
                      <a:pt x="8" y="25"/>
                    </a:lnTo>
                    <a:lnTo>
                      <a:pt x="0" y="25"/>
                    </a:lnTo>
                  </a:path>
                </a:pathLst>
              </a:custGeom>
              <a:noFill/>
              <a:ln w="59055" cap="rnd">
                <a:solidFill>
                  <a:srgbClr val="A5B1C9"/>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grpSp>
      <p:grpSp>
        <p:nvGrpSpPr>
          <p:cNvPr id="15" name="Card 2 | IMPROVEMENT OPPORTUNITY"/>
          <p:cNvGrpSpPr/>
          <p:nvPr/>
        </p:nvGrpSpPr>
        <p:grpSpPr>
          <a:xfrm>
            <a:off x="4251960" y="1531620"/>
            <a:ext cx="3695700" cy="2545080"/>
            <a:chOff x="4251960" y="1531620"/>
            <a:chExt cx="3695700" cy="2545080"/>
          </a:xfrm>
        </p:grpSpPr>
        <p:sp>
          <p:nvSpPr>
            <p:cNvPr id="16" name="Card background"/>
            <p:cNvSpPr/>
            <p:nvPr/>
          </p:nvSpPr>
          <p:spPr>
            <a:xfrm>
              <a:off x="4251960" y="1531620"/>
              <a:ext cx="3695700" cy="2545080"/>
            </a:xfrm>
            <a:prstGeom prst="roundRect">
              <a:avLst>
                <a:gd name="adj" fmla="val 3293"/>
              </a:avLst>
            </a:prstGeom>
            <a:gradFill rotWithShape="1">
              <a:gsLst>
                <a:gs pos="0">
                  <a:srgbClr val="F0F4FC"/>
                </a:gs>
                <a:gs pos="50000">
                  <a:srgbClr val="F0F4FC"/>
                </a:gs>
                <a:gs pos="100000">
                  <a:srgbClr val="F0F4FA"/>
                </a:gs>
              </a:gsLst>
              <a:lin ang="54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Header with rounded top corners"/>
            <p:cNvSpPr/>
            <p:nvPr/>
          </p:nvSpPr>
          <p:spPr>
            <a:xfrm>
              <a:off x="4251960" y="1531620"/>
              <a:ext cx="3695700" cy="411480"/>
            </a:xfrm>
            <a:prstGeom prst="roundRect">
              <a:avLst>
                <a:gd name="adj" fmla="val 16666"/>
              </a:avLst>
            </a:prstGeom>
            <a:gradFill rotWithShape="1">
              <a:gsLst>
                <a:gs pos="0">
                  <a:srgbClr val="344CA2"/>
                </a:gs>
                <a:gs pos="100000">
                  <a:srgbClr val="3E59AA"/>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Header lower edge"/>
            <p:cNvSpPr/>
            <p:nvPr/>
          </p:nvSpPr>
          <p:spPr>
            <a:xfrm>
              <a:off x="4251960" y="1859280"/>
              <a:ext cx="3695700" cy="83820"/>
            </a:xfrm>
            <a:prstGeom prst="rect">
              <a:avLst/>
            </a:prstGeom>
            <a:gradFill rotWithShape="1">
              <a:gsLst>
                <a:gs pos="0">
                  <a:srgbClr val="344CA2"/>
                </a:gs>
                <a:gs pos="100000">
                  <a:srgbClr val="3E59AA"/>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Card heading"/>
            <p:cNvSpPr txBox="1"/>
            <p:nvPr/>
          </p:nvSpPr>
          <p:spPr>
            <a:xfrm>
              <a:off x="4442460" y="1653540"/>
              <a:ext cx="3360420" cy="213360"/>
            </a:xfrm>
            <a:prstGeom prst="rect">
              <a:avLst/>
            </a:prstGeom>
            <a:noFill/>
            <a:effectLst/>
          </p:spPr>
          <p:txBody>
            <a:bodyPr wrap="square" lIns="0" tIns="0" rIns="0" bIns="0" anchor="t">
              <a:spAutoFit/>
            </a:bodyPr>
            <a:lstStyle/>
            <a:p>
              <a:pPr algn="l">
                <a:lnSpc>
                  <a:spcPct val="105000"/>
                </a:lnSpc>
                <a:spcBef>
                  <a:spcPts val="0"/>
                </a:spcBef>
                <a:spcAft>
                  <a:spcPts val="0"/>
                </a:spcAft>
              </a:pPr>
              <a:r>
                <a:rPr sz="1280" b="1" i="0">
                  <a:solidFill>
                    <a:srgbClr val="FFFFFF"/>
                  </a:solidFill>
                  <a:latin typeface="Arial"/>
                </a:rPr>
                <a:t>IMPROVEMENT OPPORTUNITY</a:t>
              </a:r>
            </a:p>
          </p:txBody>
        </p:sp>
        <p:sp>
          <p:nvSpPr>
            <p:cNvPr id="75" name="Problem icon background"/>
            <p:cNvSpPr/>
            <p:nvPr/>
          </p:nvSpPr>
          <p:spPr>
            <a:xfrm>
              <a:off x="4404360" y="2118360"/>
              <a:ext cx="883920" cy="883920"/>
            </a:xfrm>
            <a:prstGeom prst="ellipse">
              <a:avLst/>
            </a:prstGeom>
            <a:solidFill>
              <a:srgbClr val="E3EA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7" name="Problem statement"/>
            <p:cNvSpPr txBox="1"/>
            <p:nvPr/>
          </p:nvSpPr>
          <p:spPr>
            <a:xfrm>
              <a:off x="5440680" y="2206447"/>
              <a:ext cx="2350008" cy="539496"/>
            </a:xfrm>
            <a:prstGeom prst="rect">
              <a:avLst/>
            </a:prstGeom>
            <a:noFill/>
            <a:effectLst/>
          </p:spPr>
          <p:txBody>
            <a:bodyPr wrap="square" lIns="0" tIns="0" rIns="0" bIns="0" anchor="t">
              <a:spAutoFit/>
            </a:bodyPr>
            <a:lstStyle/>
            <a:p>
              <a:pPr algn="l">
                <a:lnSpc>
                  <a:spcPct val="105000"/>
                </a:lnSpc>
                <a:spcBef>
                  <a:spcPts val="0"/>
                </a:spcBef>
                <a:spcAft>
                  <a:spcPts val="0"/>
                </a:spcAft>
              </a:pPr>
              <a:r>
                <a:rPr sz="1860" b="1" i="0">
                  <a:solidFill>
                    <a:srgbClr val="1D2357"/>
                  </a:solidFill>
                  <a:latin typeface="Arial"/>
                </a:rPr>
                <a:t>Less routine</a:t>
              </a:r>
            </a:p>
            <a:p>
              <a:pPr>
                <a:lnSpc>
                  <a:spcPct val="105000"/>
                </a:lnSpc>
                <a:spcBef>
                  <a:spcPts val="0"/>
                </a:spcBef>
                <a:spcAft>
                  <a:spcPts val="0"/>
                </a:spcAft>
              </a:pPr>
              <a:r>
                <a:rPr sz="1860" b="1" i="0">
                  <a:solidFill>
                    <a:srgbClr val="1D2357"/>
                  </a:solidFill>
                  <a:latin typeface="Arial"/>
                </a:rPr>
                <a:t>coordination</a:t>
              </a:r>
            </a:p>
          </p:txBody>
        </p:sp>
        <p:sp>
          <p:nvSpPr>
            <p:cNvPr id="88" name="Problem consequence"/>
            <p:cNvSpPr txBox="1"/>
            <p:nvPr/>
          </p:nvSpPr>
          <p:spPr>
            <a:xfrm>
              <a:off x="5440680" y="2862072"/>
              <a:ext cx="2304288" cy="896112"/>
            </a:xfrm>
            <a:prstGeom prst="rect">
              <a:avLst/>
            </a:prstGeom>
            <a:noFill/>
            <a:effectLst/>
          </p:spPr>
          <p:txBody>
            <a:bodyPr wrap="square" lIns="0" tIns="0" rIns="0" bIns="0" anchor="t">
              <a:spAutoFit/>
            </a:bodyPr>
            <a:lstStyle/>
            <a:p>
              <a:pPr algn="l">
                <a:lnSpc>
                  <a:spcPct val="103000"/>
                </a:lnSpc>
                <a:spcBef>
                  <a:spcPts val="0"/>
                </a:spcBef>
                <a:spcAft>
                  <a:spcPts val="0"/>
                </a:spcAft>
              </a:pPr>
              <a:r>
                <a:rPr sz="1410" b="0" i="0" dirty="0">
                  <a:solidFill>
                    <a:srgbClr val="627795"/>
                  </a:solidFill>
                  <a:latin typeface="Arial"/>
                </a:rPr>
                <a:t>Bring document requests, preliminary checks and status tracking into one shared workflow.</a:t>
              </a:r>
            </a:p>
          </p:txBody>
        </p:sp>
        <p:grpSp>
          <p:nvGrpSpPr>
            <p:cNvPr id="55" name="Editable icon | clock"/>
            <p:cNvGrpSpPr/>
            <p:nvPr/>
          </p:nvGrpSpPr>
          <p:grpSpPr>
            <a:xfrm>
              <a:off x="4604004" y="2318003"/>
              <a:ext cx="484632" cy="484632"/>
              <a:chOff x="4604004" y="2318003"/>
              <a:chExt cx="484632" cy="484632"/>
            </a:xfrm>
          </p:grpSpPr>
          <p:sp>
            <p:nvSpPr>
              <p:cNvPr id="172" name="Clock face"/>
              <p:cNvSpPr/>
              <p:nvPr/>
            </p:nvSpPr>
            <p:spPr>
              <a:xfrm>
                <a:off x="4604004" y="2318003"/>
                <a:ext cx="484632" cy="484632"/>
              </a:xfrm>
              <a:prstGeom prst="ellipse">
                <a:avLst/>
              </a:prstGeom>
              <a:solidFill>
                <a:srgbClr val="FFFFFF"/>
              </a:solidFill>
              <a:ln w="26670">
                <a:solidFill>
                  <a:srgbClr val="394DA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73" name="Hour hand"/>
              <p:cNvCxnSpPr/>
              <p:nvPr/>
            </p:nvCxnSpPr>
            <p:spPr>
              <a:xfrm flipV="1">
                <a:off x="4846320" y="2424623"/>
                <a:ext cx="0" cy="135697"/>
              </a:xfrm>
              <a:prstGeom prst="line">
                <a:avLst/>
              </a:prstGeom>
              <a:ln w="26670" cap="rnd">
                <a:solidFill>
                  <a:srgbClr val="394DAA"/>
                </a:solidFill>
              </a:ln>
              <a:effectLst/>
            </p:spPr>
            <p:style>
              <a:lnRef idx="2">
                <a:schemeClr val="accent1"/>
              </a:lnRef>
              <a:fillRef idx="0">
                <a:schemeClr val="accent1"/>
              </a:fillRef>
              <a:effectRef idx="0">
                <a:schemeClr val="accent1"/>
              </a:effectRef>
              <a:fontRef idx="minor">
                <a:schemeClr val="tx1"/>
              </a:fontRef>
            </p:style>
          </p:cxnSp>
          <p:cxnSp>
            <p:nvCxnSpPr>
              <p:cNvPr id="174" name="Minute hand"/>
              <p:cNvCxnSpPr/>
              <p:nvPr/>
            </p:nvCxnSpPr>
            <p:spPr>
              <a:xfrm>
                <a:off x="4846320" y="2560320"/>
                <a:ext cx="116311" cy="67848"/>
              </a:xfrm>
              <a:prstGeom prst="line">
                <a:avLst/>
              </a:prstGeom>
              <a:ln w="26670" cap="rnd">
                <a:solidFill>
                  <a:srgbClr val="394DAA"/>
                </a:solidFill>
              </a:ln>
              <a:effectLst/>
            </p:spPr>
            <p:style>
              <a:lnRef idx="2">
                <a:schemeClr val="accent1"/>
              </a:lnRef>
              <a:fillRef idx="0">
                <a:schemeClr val="accent1"/>
              </a:fillRef>
              <a:effectRef idx="0">
                <a:schemeClr val="accent1"/>
              </a:effectRef>
              <a:fontRef idx="minor">
                <a:schemeClr val="tx1"/>
              </a:fontRef>
            </p:style>
          </p:cxnSp>
          <p:sp>
            <p:nvSpPr>
              <p:cNvPr id="175" name="Clock centre"/>
              <p:cNvSpPr/>
              <p:nvPr/>
            </p:nvSpPr>
            <p:spPr>
              <a:xfrm>
                <a:off x="4829860" y="2543860"/>
                <a:ext cx="32918" cy="32918"/>
              </a:xfrm>
              <a:prstGeom prst="ellipse">
                <a:avLst/>
              </a:prstGeom>
              <a:solidFill>
                <a:srgbClr val="394DA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grpSp>
      <p:grpSp>
        <p:nvGrpSpPr>
          <p:cNvPr id="20" name="Card 3 | PURPOSE OF THIS PROPOSAL"/>
          <p:cNvGrpSpPr/>
          <p:nvPr/>
        </p:nvGrpSpPr>
        <p:grpSpPr>
          <a:xfrm>
            <a:off x="8153400" y="1531620"/>
            <a:ext cx="3642360" cy="2545080"/>
            <a:chOff x="8153400" y="1531620"/>
            <a:chExt cx="3642360" cy="2545080"/>
          </a:xfrm>
        </p:grpSpPr>
        <p:sp>
          <p:nvSpPr>
            <p:cNvPr id="21" name="Card background"/>
            <p:cNvSpPr/>
            <p:nvPr/>
          </p:nvSpPr>
          <p:spPr>
            <a:xfrm>
              <a:off x="8153400" y="1531620"/>
              <a:ext cx="3642360" cy="2545080"/>
            </a:xfrm>
            <a:prstGeom prst="roundRect">
              <a:avLst>
                <a:gd name="adj" fmla="val 3293"/>
              </a:avLst>
            </a:prstGeom>
            <a:gradFill rotWithShape="1">
              <a:gsLst>
                <a:gs pos="0">
                  <a:srgbClr val="EFF7FF"/>
                </a:gs>
                <a:gs pos="50000">
                  <a:srgbClr val="EFF7FF"/>
                </a:gs>
                <a:gs pos="100000">
                  <a:srgbClr val="EDF7FF"/>
                </a:gs>
              </a:gsLst>
              <a:lin ang="540000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Header with rounded top corners"/>
            <p:cNvSpPr/>
            <p:nvPr/>
          </p:nvSpPr>
          <p:spPr>
            <a:xfrm>
              <a:off x="8153400" y="1531620"/>
              <a:ext cx="3642360" cy="411480"/>
            </a:xfrm>
            <a:prstGeom prst="roundRect">
              <a:avLst>
                <a:gd name="adj" fmla="val 16666"/>
              </a:avLst>
            </a:prstGeom>
            <a:gradFill rotWithShape="1">
              <a:gsLst>
                <a:gs pos="0">
                  <a:srgbClr val="6478CB"/>
                </a:gs>
                <a:gs pos="100000">
                  <a:srgbClr val="7189D8"/>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Header lower edge"/>
            <p:cNvSpPr/>
            <p:nvPr/>
          </p:nvSpPr>
          <p:spPr>
            <a:xfrm>
              <a:off x="8153400" y="1859280"/>
              <a:ext cx="3642360" cy="83820"/>
            </a:xfrm>
            <a:prstGeom prst="rect">
              <a:avLst/>
            </a:prstGeom>
            <a:gradFill rotWithShape="1">
              <a:gsLst>
                <a:gs pos="0">
                  <a:srgbClr val="6478CB"/>
                </a:gs>
                <a:gs pos="100000">
                  <a:srgbClr val="7189D8"/>
                </a:gs>
              </a:gsLst>
              <a:lin ang="0" scaled="1"/>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Card heading"/>
            <p:cNvSpPr txBox="1"/>
            <p:nvPr/>
          </p:nvSpPr>
          <p:spPr>
            <a:xfrm>
              <a:off x="8343900" y="1653540"/>
              <a:ext cx="3307080" cy="213360"/>
            </a:xfrm>
            <a:prstGeom prst="rect">
              <a:avLst/>
            </a:prstGeom>
            <a:noFill/>
            <a:effectLst/>
          </p:spPr>
          <p:txBody>
            <a:bodyPr wrap="square" lIns="0" tIns="0" rIns="0" bIns="0" anchor="t">
              <a:spAutoFit/>
            </a:bodyPr>
            <a:lstStyle/>
            <a:p>
              <a:pPr algn="l">
                <a:lnSpc>
                  <a:spcPct val="105000"/>
                </a:lnSpc>
                <a:spcBef>
                  <a:spcPts val="0"/>
                </a:spcBef>
                <a:spcAft>
                  <a:spcPts val="0"/>
                </a:spcAft>
              </a:pPr>
              <a:r>
                <a:rPr sz="1280" b="1" i="0">
                  <a:solidFill>
                    <a:srgbClr val="FFFFFF"/>
                  </a:solidFill>
                  <a:latin typeface="Arial"/>
                </a:rPr>
                <a:t>PURPOSE OF THIS PROPOSAL</a:t>
              </a:r>
            </a:p>
          </p:txBody>
        </p:sp>
        <p:sp>
          <p:nvSpPr>
            <p:cNvPr id="89" name="Purpose icon background"/>
            <p:cNvSpPr/>
            <p:nvPr/>
          </p:nvSpPr>
          <p:spPr>
            <a:xfrm>
              <a:off x="8290560" y="2118360"/>
              <a:ext cx="883920" cy="883920"/>
            </a:xfrm>
            <a:prstGeom prst="ellipse">
              <a:avLst/>
            </a:prstGeom>
            <a:solidFill>
              <a:srgbClr val="DFEE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nvGrpSpPr>
            <p:cNvPr id="90" name="Editable icon | target"/>
            <p:cNvGrpSpPr/>
            <p:nvPr/>
          </p:nvGrpSpPr>
          <p:grpSpPr>
            <a:xfrm>
              <a:off x="8488680" y="2301240"/>
              <a:ext cx="579120" cy="554431"/>
              <a:chOff x="8488680" y="2301240"/>
              <a:chExt cx="579120" cy="554431"/>
            </a:xfrm>
          </p:grpSpPr>
          <p:sp>
            <p:nvSpPr>
              <p:cNvPr id="91" name="Target ring 1"/>
              <p:cNvSpPr/>
              <p:nvPr/>
            </p:nvSpPr>
            <p:spPr>
              <a:xfrm>
                <a:off x="8488680" y="2392985"/>
                <a:ext cx="462686" cy="462686"/>
              </a:xfrm>
              <a:prstGeom prst="ellipse">
                <a:avLst/>
              </a:prstGeom>
              <a:noFill/>
              <a:ln w="38100">
                <a:solidFill>
                  <a:srgbClr val="15538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2" name="Target ring 2"/>
              <p:cNvSpPr/>
              <p:nvPr/>
            </p:nvSpPr>
            <p:spPr>
              <a:xfrm>
                <a:off x="8575853" y="2480158"/>
                <a:ext cx="288341" cy="288341"/>
              </a:xfrm>
              <a:prstGeom prst="ellipse">
                <a:avLst/>
              </a:prstGeom>
              <a:noFill/>
              <a:ln w="38100">
                <a:solidFill>
                  <a:srgbClr val="15538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3" name="Target ring 3"/>
              <p:cNvSpPr/>
              <p:nvPr/>
            </p:nvSpPr>
            <p:spPr>
              <a:xfrm>
                <a:off x="8663026" y="2567330"/>
                <a:ext cx="113995" cy="113995"/>
              </a:xfrm>
              <a:prstGeom prst="ellipse">
                <a:avLst/>
              </a:prstGeom>
              <a:noFill/>
              <a:ln w="38100">
                <a:solidFill>
                  <a:srgbClr val="15538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94" name="Arrow shaft clearance"/>
              <p:cNvCxnSpPr/>
              <p:nvPr/>
            </p:nvCxnSpPr>
            <p:spPr>
              <a:xfrm flipV="1">
                <a:off x="8723376" y="2346046"/>
                <a:ext cx="274930" cy="288340"/>
              </a:xfrm>
              <a:prstGeom prst="line">
                <a:avLst/>
              </a:prstGeom>
              <a:ln w="76200" cap="rnd">
                <a:solidFill>
                  <a:srgbClr val="E6F2FC"/>
                </a:solidFill>
              </a:ln>
              <a:effectLst/>
            </p:spPr>
            <p:style>
              <a:lnRef idx="2">
                <a:schemeClr val="accent1"/>
              </a:lnRef>
              <a:fillRef idx="0">
                <a:schemeClr val="accent1"/>
              </a:fillRef>
              <a:effectRef idx="0">
                <a:schemeClr val="accent1"/>
              </a:effectRef>
              <a:fontRef idx="minor">
                <a:schemeClr val="tx1"/>
              </a:fontRef>
            </p:style>
          </p:cxnSp>
          <p:cxnSp>
            <p:nvCxnSpPr>
              <p:cNvPr id="95" name="Target arrow shaft"/>
              <p:cNvCxnSpPr/>
              <p:nvPr/>
            </p:nvCxnSpPr>
            <p:spPr>
              <a:xfrm flipV="1">
                <a:off x="8723376" y="2346046"/>
                <a:ext cx="274930" cy="288340"/>
              </a:xfrm>
              <a:prstGeom prst="line">
                <a:avLst/>
              </a:prstGeom>
              <a:ln w="40640" cap="rnd">
                <a:solidFill>
                  <a:srgbClr val="174F88"/>
                </a:solidFill>
              </a:ln>
              <a:effectLst/>
            </p:spPr>
            <p:style>
              <a:lnRef idx="2">
                <a:schemeClr val="accent1"/>
              </a:lnRef>
              <a:fillRef idx="0">
                <a:schemeClr val="accent1"/>
              </a:fillRef>
              <a:effectRef idx="0">
                <a:schemeClr val="accent1"/>
              </a:effectRef>
              <a:fontRef idx="minor">
                <a:schemeClr val="tx1"/>
              </a:fontRef>
            </p:style>
          </p:cxnSp>
          <p:sp>
            <p:nvSpPr>
              <p:cNvPr id="96" name="Target arrowhead"/>
              <p:cNvSpPr/>
              <p:nvPr/>
            </p:nvSpPr>
            <p:spPr>
              <a:xfrm>
                <a:off x="8900160" y="2301240"/>
                <a:ext cx="167640" cy="160020"/>
              </a:xfrm>
              <a:custGeom>
                <a:avLst/>
                <a:gdLst/>
                <a:ahLst/>
                <a:cxnLst/>
                <a:rect l="l" t="t" r="r" b="b"/>
                <a:pathLst>
                  <a:path w="22" h="21">
                    <a:moveTo>
                      <a:pt x="0" y="10"/>
                    </a:moveTo>
                    <a:lnTo>
                      <a:pt x="9" y="0"/>
                    </a:lnTo>
                    <a:lnTo>
                      <a:pt x="10" y="9"/>
                    </a:lnTo>
                    <a:lnTo>
                      <a:pt x="22" y="10"/>
                    </a:lnTo>
                    <a:lnTo>
                      <a:pt x="12" y="21"/>
                    </a:lnTo>
                    <a:lnTo>
                      <a:pt x="1" y="21"/>
                    </a:lnTo>
                    <a:close/>
                  </a:path>
                </a:pathLst>
              </a:custGeom>
              <a:solidFill>
                <a:srgbClr val="174F8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sp>
          <p:nvSpPr>
            <p:cNvPr id="97" name="Proposal purpose"/>
            <p:cNvSpPr txBox="1"/>
            <p:nvPr/>
          </p:nvSpPr>
          <p:spPr>
            <a:xfrm>
              <a:off x="9372600" y="2206447"/>
              <a:ext cx="2249424" cy="539496"/>
            </a:xfrm>
            <a:prstGeom prst="rect">
              <a:avLst/>
            </a:prstGeom>
            <a:noFill/>
            <a:effectLst/>
          </p:spPr>
          <p:txBody>
            <a:bodyPr wrap="square" lIns="0" tIns="0" rIns="0" bIns="0" anchor="t">
              <a:spAutoFit/>
            </a:bodyPr>
            <a:lstStyle/>
            <a:p>
              <a:pPr algn="l">
                <a:lnSpc>
                  <a:spcPct val="105000"/>
                </a:lnSpc>
                <a:spcBef>
                  <a:spcPts val="0"/>
                </a:spcBef>
                <a:spcAft>
                  <a:spcPts val="0"/>
                </a:spcAft>
              </a:pPr>
              <a:r>
                <a:rPr sz="1860" b="1" i="0">
                  <a:solidFill>
                    <a:srgbClr val="1D2357"/>
                  </a:solidFill>
                  <a:latin typeface="Arial"/>
                </a:rPr>
                <a:t>Upload. Verify.</a:t>
              </a:r>
            </a:p>
            <a:p>
              <a:pPr>
                <a:lnSpc>
                  <a:spcPct val="105000"/>
                </a:lnSpc>
                <a:spcBef>
                  <a:spcPts val="0"/>
                </a:spcBef>
                <a:spcAft>
                  <a:spcPts val="0"/>
                </a:spcAft>
              </a:pPr>
              <a:r>
                <a:rPr sz="1860" b="1" i="0">
                  <a:solidFill>
                    <a:srgbClr val="1D2357"/>
                  </a:solidFill>
                  <a:latin typeface="Arial"/>
                </a:rPr>
                <a:t>Staff approve.</a:t>
              </a:r>
            </a:p>
          </p:txBody>
        </p:sp>
        <p:sp>
          <p:nvSpPr>
            <p:cNvPr id="176" name="Specific platform deliverables"/>
            <p:cNvSpPr txBox="1"/>
            <p:nvPr/>
          </p:nvSpPr>
          <p:spPr>
            <a:xfrm>
              <a:off x="9372600" y="2862072"/>
              <a:ext cx="2231136" cy="877824"/>
            </a:xfrm>
            <a:prstGeom prst="rect">
              <a:avLst/>
            </a:prstGeom>
            <a:noFill/>
            <a:effectLst/>
          </p:spPr>
          <p:txBody>
            <a:bodyPr wrap="square" lIns="0" tIns="0" rIns="0" bIns="0" anchor="t">
              <a:spAutoFit/>
            </a:bodyPr>
            <a:lstStyle/>
            <a:p>
              <a:pPr algn="l">
                <a:lnSpc>
                  <a:spcPct val="103000"/>
                </a:lnSpc>
                <a:spcBef>
                  <a:spcPts val="0"/>
                </a:spcBef>
                <a:spcAft>
                  <a:spcPts val="0"/>
                </a:spcAft>
              </a:pPr>
              <a:r>
                <a:rPr sz="1410" b="0" i="0">
                  <a:solidFill>
                    <a:srgbClr val="627795"/>
                  </a:solidFill>
                  <a:latin typeface="Arial"/>
                </a:rPr>
                <a:t>Build a secure client portal, automated verification and a central administrator dashboard.</a:t>
              </a:r>
            </a:p>
          </p:txBody>
        </p:sp>
        <p:grpSp>
          <p:nvGrpSpPr>
            <p:cNvPr id="63" name="Editable decorative purpose illustration"/>
            <p:cNvGrpSpPr/>
            <p:nvPr/>
          </p:nvGrpSpPr>
          <p:grpSpPr>
            <a:xfrm>
              <a:off x="8161020" y="3776472"/>
              <a:ext cx="3048000" cy="297180"/>
              <a:chOff x="8161020" y="3444240"/>
              <a:chExt cx="3048000" cy="624840"/>
            </a:xfrm>
          </p:grpSpPr>
          <p:sp>
            <p:nvSpPr>
              <p:cNvPr id="99" name="Purpose landscape back"/>
              <p:cNvSpPr/>
              <p:nvPr/>
            </p:nvSpPr>
            <p:spPr>
              <a:xfrm>
                <a:off x="8161020" y="3459480"/>
                <a:ext cx="3048000" cy="601980"/>
              </a:xfrm>
              <a:custGeom>
                <a:avLst/>
                <a:gdLst/>
                <a:ahLst/>
                <a:cxnLst/>
                <a:rect l="l" t="t" r="r" b="b"/>
                <a:pathLst>
                  <a:path w="400" h="79">
                    <a:moveTo>
                      <a:pt x="0" y="67"/>
                    </a:moveTo>
                    <a:lnTo>
                      <a:pt x="29" y="57"/>
                    </a:lnTo>
                    <a:lnTo>
                      <a:pt x="66" y="39"/>
                    </a:lnTo>
                    <a:lnTo>
                      <a:pt x="99" y="52"/>
                    </a:lnTo>
                    <a:lnTo>
                      <a:pt x="123" y="39"/>
                    </a:lnTo>
                    <a:lnTo>
                      <a:pt x="153" y="43"/>
                    </a:lnTo>
                    <a:lnTo>
                      <a:pt x="218" y="4"/>
                    </a:lnTo>
                    <a:lnTo>
                      <a:pt x="239" y="0"/>
                    </a:lnTo>
                    <a:lnTo>
                      <a:pt x="273" y="23"/>
                    </a:lnTo>
                    <a:lnTo>
                      <a:pt x="296" y="19"/>
                    </a:lnTo>
                    <a:lnTo>
                      <a:pt x="325" y="36"/>
                    </a:lnTo>
                    <a:lnTo>
                      <a:pt x="349" y="55"/>
                    </a:lnTo>
                    <a:lnTo>
                      <a:pt x="400" y="79"/>
                    </a:lnTo>
                    <a:lnTo>
                      <a:pt x="0" y="79"/>
                    </a:lnTo>
                    <a:close/>
                  </a:path>
                </a:pathLst>
              </a:custGeom>
              <a:solidFill>
                <a:srgbClr val="E1EE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0" name="Purpose landscape front"/>
              <p:cNvSpPr/>
              <p:nvPr/>
            </p:nvSpPr>
            <p:spPr>
              <a:xfrm>
                <a:off x="8161020" y="3825240"/>
                <a:ext cx="2514600" cy="243840"/>
              </a:xfrm>
              <a:custGeom>
                <a:avLst/>
                <a:gdLst/>
                <a:ahLst/>
                <a:cxnLst/>
                <a:rect l="l" t="t" r="r" b="b"/>
                <a:pathLst>
                  <a:path w="330" h="32">
                    <a:moveTo>
                      <a:pt x="0" y="24"/>
                    </a:moveTo>
                    <a:lnTo>
                      <a:pt x="37" y="12"/>
                    </a:lnTo>
                    <a:lnTo>
                      <a:pt x="66" y="1"/>
                    </a:lnTo>
                    <a:lnTo>
                      <a:pt x="100" y="12"/>
                    </a:lnTo>
                    <a:lnTo>
                      <a:pt x="128" y="0"/>
                    </a:lnTo>
                    <a:lnTo>
                      <a:pt x="159" y="5"/>
                    </a:lnTo>
                    <a:lnTo>
                      <a:pt x="199" y="21"/>
                    </a:lnTo>
                    <a:lnTo>
                      <a:pt x="239" y="25"/>
                    </a:lnTo>
                    <a:lnTo>
                      <a:pt x="280" y="29"/>
                    </a:lnTo>
                    <a:lnTo>
                      <a:pt x="330" y="32"/>
                    </a:lnTo>
                    <a:lnTo>
                      <a:pt x="0" y="32"/>
                    </a:lnTo>
                    <a:close/>
                  </a:path>
                </a:pathLst>
              </a:custGeom>
              <a:solidFill>
                <a:srgbClr val="D5E6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1" name="Rising direction arrow"/>
              <p:cNvSpPr/>
              <p:nvPr/>
            </p:nvSpPr>
            <p:spPr>
              <a:xfrm>
                <a:off x="9776460" y="3444240"/>
                <a:ext cx="1196340" cy="495300"/>
              </a:xfrm>
              <a:custGeom>
                <a:avLst/>
                <a:gdLst/>
                <a:ahLst/>
                <a:cxnLst/>
                <a:rect l="l" t="t" r="r" b="b"/>
                <a:pathLst>
                  <a:path w="157" h="65">
                    <a:moveTo>
                      <a:pt x="0" y="62"/>
                    </a:moveTo>
                    <a:lnTo>
                      <a:pt x="7" y="63"/>
                    </a:lnTo>
                    <a:lnTo>
                      <a:pt x="13" y="63"/>
                    </a:lnTo>
                    <a:lnTo>
                      <a:pt x="20" y="63"/>
                    </a:lnTo>
                    <a:lnTo>
                      <a:pt x="26" y="62"/>
                    </a:lnTo>
                    <a:lnTo>
                      <a:pt x="33" y="62"/>
                    </a:lnTo>
                    <a:lnTo>
                      <a:pt x="39" y="61"/>
                    </a:lnTo>
                    <a:lnTo>
                      <a:pt x="45" y="60"/>
                    </a:lnTo>
                    <a:lnTo>
                      <a:pt x="51" y="59"/>
                    </a:lnTo>
                    <a:lnTo>
                      <a:pt x="57" y="57"/>
                    </a:lnTo>
                    <a:lnTo>
                      <a:pt x="63" y="56"/>
                    </a:lnTo>
                    <a:lnTo>
                      <a:pt x="69" y="54"/>
                    </a:lnTo>
                    <a:lnTo>
                      <a:pt x="74" y="52"/>
                    </a:lnTo>
                    <a:lnTo>
                      <a:pt x="80" y="50"/>
                    </a:lnTo>
                    <a:lnTo>
                      <a:pt x="85" y="47"/>
                    </a:lnTo>
                    <a:lnTo>
                      <a:pt x="90" y="45"/>
                    </a:lnTo>
                    <a:lnTo>
                      <a:pt x="95" y="43"/>
                    </a:lnTo>
                    <a:lnTo>
                      <a:pt x="100" y="40"/>
                    </a:lnTo>
                    <a:lnTo>
                      <a:pt x="105" y="37"/>
                    </a:lnTo>
                    <a:lnTo>
                      <a:pt x="110" y="35"/>
                    </a:lnTo>
                    <a:lnTo>
                      <a:pt x="114" y="32"/>
                    </a:lnTo>
                    <a:lnTo>
                      <a:pt x="118" y="29"/>
                    </a:lnTo>
                    <a:lnTo>
                      <a:pt x="123" y="26"/>
                    </a:lnTo>
                    <a:lnTo>
                      <a:pt x="126" y="23"/>
                    </a:lnTo>
                    <a:lnTo>
                      <a:pt x="130" y="21"/>
                    </a:lnTo>
                    <a:lnTo>
                      <a:pt x="134" y="18"/>
                    </a:lnTo>
                    <a:lnTo>
                      <a:pt x="137" y="15"/>
                    </a:lnTo>
                    <a:lnTo>
                      <a:pt x="130" y="8"/>
                    </a:lnTo>
                    <a:lnTo>
                      <a:pt x="157" y="0"/>
                    </a:lnTo>
                    <a:lnTo>
                      <a:pt x="151" y="27"/>
                    </a:lnTo>
                    <a:lnTo>
                      <a:pt x="144" y="21"/>
                    </a:lnTo>
                    <a:lnTo>
                      <a:pt x="144" y="21"/>
                    </a:lnTo>
                    <a:lnTo>
                      <a:pt x="140" y="25"/>
                    </a:lnTo>
                    <a:lnTo>
                      <a:pt x="136" y="28"/>
                    </a:lnTo>
                    <a:lnTo>
                      <a:pt x="132" y="32"/>
                    </a:lnTo>
                    <a:lnTo>
                      <a:pt x="127" y="35"/>
                    </a:lnTo>
                    <a:lnTo>
                      <a:pt x="123" y="38"/>
                    </a:lnTo>
                    <a:lnTo>
                      <a:pt x="118" y="41"/>
                    </a:lnTo>
                    <a:lnTo>
                      <a:pt x="113" y="44"/>
                    </a:lnTo>
                    <a:lnTo>
                      <a:pt x="108" y="47"/>
                    </a:lnTo>
                    <a:lnTo>
                      <a:pt x="102" y="49"/>
                    </a:lnTo>
                    <a:lnTo>
                      <a:pt x="97" y="52"/>
                    </a:lnTo>
                    <a:lnTo>
                      <a:pt x="92" y="54"/>
                    </a:lnTo>
                    <a:lnTo>
                      <a:pt x="86" y="56"/>
                    </a:lnTo>
                    <a:lnTo>
                      <a:pt x="80" y="58"/>
                    </a:lnTo>
                    <a:lnTo>
                      <a:pt x="74" y="59"/>
                    </a:lnTo>
                    <a:lnTo>
                      <a:pt x="69" y="61"/>
                    </a:lnTo>
                    <a:lnTo>
                      <a:pt x="63" y="62"/>
                    </a:lnTo>
                    <a:lnTo>
                      <a:pt x="56" y="63"/>
                    </a:lnTo>
                    <a:lnTo>
                      <a:pt x="50" y="64"/>
                    </a:lnTo>
                    <a:lnTo>
                      <a:pt x="44" y="65"/>
                    </a:lnTo>
                    <a:lnTo>
                      <a:pt x="38" y="65"/>
                    </a:lnTo>
                    <a:lnTo>
                      <a:pt x="32" y="65"/>
                    </a:lnTo>
                    <a:lnTo>
                      <a:pt x="25" y="65"/>
                    </a:lnTo>
                    <a:lnTo>
                      <a:pt x="19" y="65"/>
                    </a:lnTo>
                    <a:lnTo>
                      <a:pt x="13" y="64"/>
                    </a:lnTo>
                    <a:lnTo>
                      <a:pt x="6" y="63"/>
                    </a:lnTo>
                    <a:lnTo>
                      <a:pt x="0" y="62"/>
                    </a:lnTo>
                    <a:close/>
                  </a:path>
                </a:pathLst>
              </a:custGeom>
              <a:solidFill>
                <a:srgbClr val="2963A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grpSp>
      <p:grpSp>
        <p:nvGrpSpPr>
          <p:cNvPr id="164" name="Source and footer"/>
          <p:cNvGrpSpPr/>
          <p:nvPr/>
        </p:nvGrpSpPr>
        <p:grpSpPr>
          <a:xfrm>
            <a:off x="396240" y="6484620"/>
            <a:ext cx="11399520" cy="243840"/>
            <a:chOff x="396240" y="6484620"/>
            <a:chExt cx="11399520" cy="243840"/>
          </a:xfrm>
        </p:grpSpPr>
        <p:cxnSp>
          <p:nvCxnSpPr>
            <p:cNvPr id="166" name="Footer rule"/>
            <p:cNvCxnSpPr/>
            <p:nvPr/>
          </p:nvCxnSpPr>
          <p:spPr>
            <a:xfrm>
              <a:off x="396240" y="6484620"/>
              <a:ext cx="11399520" cy="0"/>
            </a:xfrm>
            <a:prstGeom prst="line">
              <a:avLst/>
            </a:prstGeom>
            <a:ln w="10160">
              <a:solidFill>
                <a:srgbClr val="CAD1E2"/>
              </a:solidFill>
            </a:ln>
            <a:effectLst/>
          </p:spPr>
          <p:style>
            <a:lnRef idx="2">
              <a:schemeClr val="accent1"/>
            </a:lnRef>
            <a:fillRef idx="0">
              <a:schemeClr val="accent1"/>
            </a:fillRef>
            <a:effectRef idx="0">
              <a:schemeClr val="accent1"/>
            </a:effectRef>
            <a:fontRef idx="minor">
              <a:schemeClr val="tx1"/>
            </a:fontRef>
          </p:style>
        </p:cxnSp>
        <p:sp>
          <p:nvSpPr>
            <p:cNvPr id="167" name="Confidentiality"/>
            <p:cNvSpPr txBox="1"/>
            <p:nvPr/>
          </p:nvSpPr>
          <p:spPr>
            <a:xfrm>
              <a:off x="396240" y="6576060"/>
              <a:ext cx="3848100" cy="152400"/>
            </a:xfrm>
            <a:prstGeom prst="rect">
              <a:avLst/>
            </a:prstGeom>
            <a:noFill/>
            <a:effectLst/>
          </p:spPr>
          <p:txBody>
            <a:bodyPr wrap="square" lIns="0" tIns="0" rIns="0" bIns="0" anchor="t">
              <a:spAutoFit/>
            </a:bodyPr>
            <a:lstStyle/>
            <a:p>
              <a:pPr algn="l">
                <a:lnSpc>
                  <a:spcPct val="105000"/>
                </a:lnSpc>
                <a:spcBef>
                  <a:spcPts val="0"/>
                </a:spcBef>
                <a:spcAft>
                  <a:spcPts val="0"/>
                </a:spcAft>
              </a:pPr>
              <a:r>
                <a:rPr sz="770" b="0" i="0">
                  <a:solidFill>
                    <a:srgbClr val="8590AA"/>
                  </a:solidFill>
                  <a:latin typeface="Arial"/>
                </a:rPr>
                <a:t>Confidential  |  Initial proposal</a:t>
              </a:r>
            </a:p>
          </p:txBody>
        </p:sp>
        <p:sp>
          <p:nvSpPr>
            <p:cNvPr id="168" name="Prepared by"/>
            <p:cNvSpPr txBox="1"/>
            <p:nvPr/>
          </p:nvSpPr>
          <p:spPr>
            <a:xfrm>
              <a:off x="3749039" y="6576060"/>
              <a:ext cx="5102352" cy="152400"/>
            </a:xfrm>
            <a:prstGeom prst="rect">
              <a:avLst/>
            </a:prstGeom>
            <a:noFill/>
            <a:effectLst/>
          </p:spPr>
          <p:txBody>
            <a:bodyPr wrap="square" lIns="0" tIns="0" rIns="0" bIns="0" anchor="t">
              <a:spAutoFit/>
            </a:bodyPr>
            <a:lstStyle/>
            <a:p>
              <a:pPr algn="ctr">
                <a:lnSpc>
                  <a:spcPct val="105000"/>
                </a:lnSpc>
                <a:spcBef>
                  <a:spcPts val="0"/>
                </a:spcBef>
                <a:spcAft>
                  <a:spcPts val="0"/>
                </a:spcAft>
              </a:pPr>
              <a:r>
                <a:rPr sz="770" b="0" i="0">
                  <a:solidFill>
                    <a:srgbClr val="8694AF"/>
                  </a:solidFill>
                  <a:latin typeface="Arial"/>
                </a:rPr>
                <a:t>[Delivery Partner]  |  Company / presenter placeholder</a:t>
              </a:r>
            </a:p>
          </p:txBody>
        </p:sp>
        <p:sp>
          <p:nvSpPr>
            <p:cNvPr id="169" name="Date"/>
            <p:cNvSpPr txBox="1"/>
            <p:nvPr/>
          </p:nvSpPr>
          <p:spPr>
            <a:xfrm>
              <a:off x="9811512" y="6576060"/>
              <a:ext cx="1417320" cy="115737"/>
            </a:xfrm>
            <a:prstGeom prst="rect">
              <a:avLst/>
            </a:prstGeom>
            <a:noFill/>
            <a:effectLst/>
          </p:spPr>
          <p:txBody>
            <a:bodyPr wrap="square" lIns="0" tIns="0" rIns="0" bIns="0" anchor="t">
              <a:spAutoFit/>
            </a:bodyPr>
            <a:lstStyle/>
            <a:p>
              <a:pPr algn="r">
                <a:lnSpc>
                  <a:spcPct val="105000"/>
                </a:lnSpc>
                <a:spcBef>
                  <a:spcPts val="0"/>
                </a:spcBef>
                <a:spcAft>
                  <a:spcPts val="0"/>
                </a:spcAft>
              </a:pPr>
              <a:r>
                <a:rPr sz="770" b="0" i="0" dirty="0" smtClean="0">
                  <a:solidFill>
                    <a:srgbClr val="8694AF"/>
                  </a:solidFill>
                  <a:latin typeface="Arial"/>
                </a:rPr>
                <a:t>September </a:t>
              </a:r>
              <a:r>
                <a:rPr sz="770" b="0" i="0" dirty="0">
                  <a:solidFill>
                    <a:srgbClr val="8694AF"/>
                  </a:solidFill>
                  <a:latin typeface="Arial"/>
                </a:rPr>
                <a:t>2026</a:t>
              </a:r>
            </a:p>
          </p:txBody>
        </p:sp>
        <p:cxnSp>
          <p:nvCxnSpPr>
            <p:cNvPr id="170" name="Page-number divider"/>
            <p:cNvCxnSpPr/>
            <p:nvPr/>
          </p:nvCxnSpPr>
          <p:spPr>
            <a:xfrm>
              <a:off x="11468100" y="6560820"/>
              <a:ext cx="0" cy="137160"/>
            </a:xfrm>
            <a:prstGeom prst="line">
              <a:avLst/>
            </a:prstGeom>
            <a:ln w="7620">
              <a:solidFill>
                <a:srgbClr val="CAD1E2"/>
              </a:solidFill>
            </a:ln>
            <a:effectLst/>
          </p:spPr>
          <p:style>
            <a:lnRef idx="2">
              <a:schemeClr val="accent1"/>
            </a:lnRef>
            <a:fillRef idx="0">
              <a:schemeClr val="accent1"/>
            </a:fillRef>
            <a:effectRef idx="0">
              <a:schemeClr val="accent1"/>
            </a:effectRef>
            <a:fontRef idx="minor">
              <a:schemeClr val="tx1"/>
            </a:fontRef>
          </p:style>
        </p:cxnSp>
        <p:sp>
          <p:nvSpPr>
            <p:cNvPr id="171" name="Page number"/>
            <p:cNvSpPr txBox="1"/>
            <p:nvPr/>
          </p:nvSpPr>
          <p:spPr>
            <a:xfrm>
              <a:off x="11582400" y="6576060"/>
              <a:ext cx="213360" cy="152400"/>
            </a:xfrm>
            <a:prstGeom prst="rect">
              <a:avLst/>
            </a:prstGeom>
            <a:noFill/>
            <a:effectLst/>
          </p:spPr>
          <p:txBody>
            <a:bodyPr wrap="none" lIns="0" tIns="0" rIns="0" bIns="0" anchor="t">
              <a:spAutoFit/>
            </a:bodyPr>
            <a:lstStyle/>
            <a:p>
              <a:pPr algn="r">
                <a:lnSpc>
                  <a:spcPts val="862"/>
                </a:lnSpc>
                <a:spcBef>
                  <a:spcPts val="0"/>
                </a:spcBef>
                <a:spcAft>
                  <a:spcPts val="0"/>
                </a:spcAft>
              </a:pPr>
              <a:r>
                <a:rPr sz="770" b="0" i="0">
                  <a:solidFill>
                    <a:srgbClr val="8590AA"/>
                  </a:solidFill>
                  <a:latin typeface="Arial"/>
                </a:rPr>
                <a:t>1</a:t>
              </a:r>
            </a:p>
          </p:txBody>
        </p:sp>
      </p:grpSp>
      <p:grpSp>
        <p:nvGrpSpPr>
          <p:cNvPr id="71" name="Current document journey | five editable stages"/>
          <p:cNvGrpSpPr/>
          <p:nvPr/>
        </p:nvGrpSpPr>
        <p:grpSpPr>
          <a:xfrm>
            <a:off x="388620" y="4236415"/>
            <a:ext cx="11407140" cy="1698041"/>
            <a:chOff x="388620" y="4236415"/>
            <a:chExt cx="11407140" cy="1698041"/>
          </a:xfrm>
        </p:grpSpPr>
        <p:cxnSp>
          <p:nvCxnSpPr>
            <p:cNvPr id="177" name="Workflow horizontal divider"/>
            <p:cNvCxnSpPr/>
            <p:nvPr/>
          </p:nvCxnSpPr>
          <p:spPr>
            <a:xfrm>
              <a:off x="395935" y="4236415"/>
              <a:ext cx="11399825" cy="0"/>
            </a:xfrm>
            <a:prstGeom prst="line">
              <a:avLst/>
            </a:prstGeom>
            <a:ln w="10160" cap="rnd">
              <a:solidFill>
                <a:srgbClr val="C7D2E5"/>
              </a:solidFill>
            </a:ln>
            <a:effectLst/>
          </p:spPr>
          <p:style>
            <a:lnRef idx="2">
              <a:schemeClr val="accent1"/>
            </a:lnRef>
            <a:fillRef idx="0">
              <a:schemeClr val="accent1"/>
            </a:fillRef>
            <a:effectRef idx="0">
              <a:schemeClr val="accent1"/>
            </a:effectRef>
            <a:fontRef idx="minor">
              <a:schemeClr val="tx1"/>
            </a:fontRef>
          </p:style>
        </p:cxnSp>
        <p:sp>
          <p:nvSpPr>
            <p:cNvPr id="178" name="Current workflow heading"/>
            <p:cNvSpPr txBox="1"/>
            <p:nvPr/>
          </p:nvSpPr>
          <p:spPr>
            <a:xfrm>
              <a:off x="395935" y="4381804"/>
              <a:ext cx="8961120" cy="237744"/>
            </a:xfrm>
            <a:prstGeom prst="rect">
              <a:avLst/>
            </a:prstGeom>
            <a:noFill/>
            <a:effectLst/>
          </p:spPr>
          <p:txBody>
            <a:bodyPr wrap="square" lIns="0" tIns="0" rIns="0" bIns="0" anchor="t">
              <a:spAutoFit/>
            </a:bodyPr>
            <a:lstStyle/>
            <a:p>
              <a:pPr algn="l">
                <a:lnSpc>
                  <a:spcPct val="105000"/>
                </a:lnSpc>
                <a:spcBef>
                  <a:spcPts val="0"/>
                </a:spcBef>
                <a:spcAft>
                  <a:spcPts val="0"/>
                </a:spcAft>
              </a:pPr>
              <a:r>
                <a:rPr sz="1160" b="1" i="0">
                  <a:solidFill>
                    <a:srgbClr val="627795"/>
                  </a:solidFill>
                  <a:latin typeface="Arial"/>
                </a:rPr>
                <a:t>THE CURRENT DOCUMENT JOURNEY</a:t>
              </a:r>
            </a:p>
          </p:txBody>
        </p:sp>
        <p:grpSp>
          <p:nvGrpSpPr>
            <p:cNvPr id="76" name="Stage 1 | Request"/>
            <p:cNvGrpSpPr/>
            <p:nvPr/>
          </p:nvGrpSpPr>
          <p:grpSpPr>
            <a:xfrm>
              <a:off x="388620" y="4636008"/>
              <a:ext cx="1600199" cy="1124711"/>
              <a:chOff x="388620" y="4636008"/>
              <a:chExt cx="1600199" cy="1124711"/>
            </a:xfrm>
          </p:grpSpPr>
          <p:sp>
            <p:nvSpPr>
              <p:cNvPr id="179" name="Stage panel"/>
              <p:cNvSpPr/>
              <p:nvPr/>
            </p:nvSpPr>
            <p:spPr>
              <a:xfrm>
                <a:off x="395935" y="4727448"/>
                <a:ext cx="1592884" cy="1033271"/>
              </a:xfrm>
              <a:prstGeom prst="roundRect">
                <a:avLst>
                  <a:gd name="adj" fmla="val 8000"/>
                </a:avLst>
              </a:prstGeom>
              <a:solidFill>
                <a:srgbClr val="EBF1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0" name="Stage number circle"/>
              <p:cNvSpPr/>
              <p:nvPr/>
            </p:nvSpPr>
            <p:spPr>
              <a:xfrm>
                <a:off x="388620" y="4636008"/>
                <a:ext cx="304495" cy="304495"/>
              </a:xfrm>
              <a:prstGeom prst="ellipse">
                <a:avLst/>
              </a:prstGeom>
              <a:solidFill>
                <a:srgbClr val="394DAA"/>
              </a:solidFill>
              <a:ln w="1397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1" name="Stage number"/>
              <p:cNvSpPr txBox="1"/>
              <p:nvPr/>
            </p:nvSpPr>
            <p:spPr>
              <a:xfrm>
                <a:off x="388620" y="4685385"/>
                <a:ext cx="304495" cy="219456"/>
              </a:xfrm>
              <a:prstGeom prst="rect">
                <a:avLst/>
              </a:prstGeom>
              <a:noFill/>
              <a:effectLst/>
            </p:spPr>
            <p:txBody>
              <a:bodyPr wrap="square" lIns="0" tIns="0" rIns="0" bIns="0" anchor="t">
                <a:spAutoFit/>
              </a:bodyPr>
              <a:lstStyle/>
              <a:p>
                <a:pPr algn="ctr">
                  <a:lnSpc>
                    <a:spcPct val="105000"/>
                  </a:lnSpc>
                  <a:spcBef>
                    <a:spcPts val="0"/>
                  </a:spcBef>
                  <a:spcAft>
                    <a:spcPts val="0"/>
                  </a:spcAft>
                </a:pPr>
                <a:r>
                  <a:rPr sz="1320" b="1" i="0">
                    <a:solidFill>
                      <a:srgbClr val="FFFFFF"/>
                    </a:solidFill>
                    <a:latin typeface="Arial"/>
                  </a:rPr>
                  <a:t>1</a:t>
                </a:r>
              </a:p>
            </p:txBody>
          </p:sp>
          <p:grpSp>
            <p:nvGrpSpPr>
              <p:cNvPr id="77" name="Editable icon | document request checklist"/>
              <p:cNvGrpSpPr/>
              <p:nvPr/>
            </p:nvGrpSpPr>
            <p:grpSpPr>
              <a:xfrm>
                <a:off x="1021201" y="4916545"/>
                <a:ext cx="342352" cy="309433"/>
                <a:chOff x="1021201" y="4916545"/>
                <a:chExt cx="342352" cy="309433"/>
              </a:xfrm>
            </p:grpSpPr>
            <p:sp>
              <p:nvSpPr>
                <p:cNvPr id="182" name="Checklist box 1"/>
                <p:cNvSpPr/>
                <p:nvPr/>
              </p:nvSpPr>
              <p:spPr>
                <a:xfrm>
                  <a:off x="1021201" y="4916545"/>
                  <a:ext cx="63642" cy="63642"/>
                </a:xfrm>
                <a:prstGeom prst="rect">
                  <a:avLst/>
                </a:prstGeom>
                <a:solidFill>
                  <a:srgbClr val="FFFFFF"/>
                </a:solidFill>
                <a:ln w="13970">
                  <a:solidFill>
                    <a:srgbClr val="183C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83" name="Checklist line 1"/>
                <p:cNvCxnSpPr/>
                <p:nvPr/>
              </p:nvCxnSpPr>
              <p:spPr>
                <a:xfrm>
                  <a:off x="1130929" y="4948586"/>
                  <a:ext cx="232624" cy="0"/>
                </a:xfrm>
                <a:prstGeom prst="line">
                  <a:avLst/>
                </a:prstGeom>
                <a:ln w="25400" cap="rnd">
                  <a:solidFill>
                    <a:srgbClr val="183C6A"/>
                  </a:solidFill>
                </a:ln>
                <a:effectLst/>
              </p:spPr>
              <p:style>
                <a:lnRef idx="2">
                  <a:schemeClr val="accent1"/>
                </a:lnRef>
                <a:fillRef idx="0">
                  <a:schemeClr val="accent1"/>
                </a:fillRef>
                <a:effectRef idx="0">
                  <a:schemeClr val="accent1"/>
                </a:effectRef>
                <a:fontRef idx="minor">
                  <a:schemeClr val="tx1"/>
                </a:fontRef>
              </p:style>
            </p:cxnSp>
            <p:sp>
              <p:nvSpPr>
                <p:cNvPr id="184" name="Checklist box 2"/>
                <p:cNvSpPr/>
                <p:nvPr/>
              </p:nvSpPr>
              <p:spPr>
                <a:xfrm>
                  <a:off x="1021201" y="5039441"/>
                  <a:ext cx="63642" cy="63642"/>
                </a:xfrm>
                <a:prstGeom prst="rect">
                  <a:avLst/>
                </a:prstGeom>
                <a:solidFill>
                  <a:srgbClr val="FFFFFF"/>
                </a:solidFill>
                <a:ln w="13970">
                  <a:solidFill>
                    <a:srgbClr val="183C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85" name="Checklist line 2"/>
                <p:cNvCxnSpPr/>
                <p:nvPr/>
              </p:nvCxnSpPr>
              <p:spPr>
                <a:xfrm>
                  <a:off x="1130929" y="5071481"/>
                  <a:ext cx="232624" cy="0"/>
                </a:xfrm>
                <a:prstGeom prst="line">
                  <a:avLst/>
                </a:prstGeom>
                <a:ln w="25400" cap="rnd">
                  <a:solidFill>
                    <a:srgbClr val="183C6A"/>
                  </a:solidFill>
                </a:ln>
                <a:effectLst/>
              </p:spPr>
              <p:style>
                <a:lnRef idx="2">
                  <a:schemeClr val="accent1"/>
                </a:lnRef>
                <a:fillRef idx="0">
                  <a:schemeClr val="accent1"/>
                </a:fillRef>
                <a:effectRef idx="0">
                  <a:schemeClr val="accent1"/>
                </a:effectRef>
                <a:fontRef idx="minor">
                  <a:schemeClr val="tx1"/>
                </a:fontRef>
              </p:style>
            </p:cxnSp>
            <p:sp>
              <p:nvSpPr>
                <p:cNvPr id="186" name="Checklist box 3"/>
                <p:cNvSpPr/>
                <p:nvPr/>
              </p:nvSpPr>
              <p:spPr>
                <a:xfrm>
                  <a:off x="1021201" y="5162336"/>
                  <a:ext cx="63642" cy="63642"/>
                </a:xfrm>
                <a:prstGeom prst="rect">
                  <a:avLst/>
                </a:prstGeom>
                <a:solidFill>
                  <a:srgbClr val="FFFFFF"/>
                </a:solidFill>
                <a:ln w="13970">
                  <a:solidFill>
                    <a:srgbClr val="183C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87" name="Checklist line 3"/>
                <p:cNvCxnSpPr/>
                <p:nvPr/>
              </p:nvCxnSpPr>
              <p:spPr>
                <a:xfrm>
                  <a:off x="1130929" y="5194377"/>
                  <a:ext cx="232624" cy="0"/>
                </a:xfrm>
                <a:prstGeom prst="line">
                  <a:avLst/>
                </a:prstGeom>
                <a:ln w="25400" cap="rnd">
                  <a:solidFill>
                    <a:srgbClr val="183C6A"/>
                  </a:solidFill>
                </a:ln>
                <a:effectLst/>
              </p:spPr>
              <p:style>
                <a:lnRef idx="2">
                  <a:schemeClr val="accent1"/>
                </a:lnRef>
                <a:fillRef idx="0">
                  <a:schemeClr val="accent1"/>
                </a:fillRef>
                <a:effectRef idx="0">
                  <a:schemeClr val="accent1"/>
                </a:effectRef>
                <a:fontRef idx="minor">
                  <a:schemeClr val="tx1"/>
                </a:fontRef>
              </p:style>
            </p:cxnSp>
          </p:grpSp>
          <p:sp>
            <p:nvSpPr>
              <p:cNvPr id="188" name="Stage label"/>
              <p:cNvSpPr txBox="1"/>
              <p:nvPr/>
            </p:nvSpPr>
            <p:spPr>
              <a:xfrm>
                <a:off x="441655" y="5413248"/>
                <a:ext cx="1501444" cy="265176"/>
              </a:xfrm>
              <a:prstGeom prst="rect">
                <a:avLst/>
              </a:prstGeom>
              <a:noFill/>
              <a:effectLst/>
            </p:spPr>
            <p:txBody>
              <a:bodyPr wrap="square" lIns="0" tIns="0" rIns="0" bIns="0" anchor="t">
                <a:spAutoFit/>
              </a:bodyPr>
              <a:lstStyle/>
              <a:p>
                <a:pPr algn="ctr">
                  <a:lnSpc>
                    <a:spcPct val="105000"/>
                  </a:lnSpc>
                  <a:spcBef>
                    <a:spcPts val="0"/>
                  </a:spcBef>
                  <a:spcAft>
                    <a:spcPts val="0"/>
                  </a:spcAft>
                </a:pPr>
                <a:r>
                  <a:rPr sz="1410" b="1" i="0">
                    <a:solidFill>
                      <a:srgbClr val="1D2357"/>
                    </a:solidFill>
                    <a:latin typeface="Arial"/>
                  </a:rPr>
                  <a:t>Request</a:t>
                </a:r>
              </a:p>
            </p:txBody>
          </p:sp>
        </p:grpSp>
        <p:sp>
          <p:nvSpPr>
            <p:cNvPr id="189" name="Workflow connector 1"/>
            <p:cNvSpPr/>
            <p:nvPr/>
          </p:nvSpPr>
          <p:spPr>
            <a:xfrm>
              <a:off x="2071115" y="5148072"/>
              <a:ext cx="137160" cy="246888"/>
            </a:xfrm>
            <a:prstGeom prst="chevron">
              <a:avLst/>
            </a:prstGeom>
            <a:solidFill>
              <a:srgbClr val="919C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nvGrpSpPr>
            <p:cNvPr id="78" name="Stage 2 | Receive"/>
            <p:cNvGrpSpPr/>
            <p:nvPr/>
          </p:nvGrpSpPr>
          <p:grpSpPr>
            <a:xfrm>
              <a:off x="2255824" y="4636008"/>
              <a:ext cx="1600199" cy="1124711"/>
              <a:chOff x="2255824" y="4636008"/>
              <a:chExt cx="1600199" cy="1124711"/>
            </a:xfrm>
          </p:grpSpPr>
          <p:sp>
            <p:nvSpPr>
              <p:cNvPr id="190" name="Stage panel"/>
              <p:cNvSpPr/>
              <p:nvPr/>
            </p:nvSpPr>
            <p:spPr>
              <a:xfrm>
                <a:off x="2263139" y="4727448"/>
                <a:ext cx="1592884" cy="1033271"/>
              </a:xfrm>
              <a:prstGeom prst="roundRect">
                <a:avLst>
                  <a:gd name="adj" fmla="val 8000"/>
                </a:avLst>
              </a:prstGeom>
              <a:solidFill>
                <a:srgbClr val="EBF1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1" name="Stage number circle"/>
              <p:cNvSpPr/>
              <p:nvPr/>
            </p:nvSpPr>
            <p:spPr>
              <a:xfrm>
                <a:off x="2255824" y="4636008"/>
                <a:ext cx="304495" cy="304495"/>
              </a:xfrm>
              <a:prstGeom prst="ellipse">
                <a:avLst/>
              </a:prstGeom>
              <a:solidFill>
                <a:srgbClr val="394DAA"/>
              </a:solidFill>
              <a:ln w="1397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2" name="Stage number"/>
              <p:cNvSpPr txBox="1"/>
              <p:nvPr/>
            </p:nvSpPr>
            <p:spPr>
              <a:xfrm>
                <a:off x="2255824" y="4685385"/>
                <a:ext cx="304495" cy="219456"/>
              </a:xfrm>
              <a:prstGeom prst="rect">
                <a:avLst/>
              </a:prstGeom>
              <a:noFill/>
              <a:effectLst/>
            </p:spPr>
            <p:txBody>
              <a:bodyPr wrap="square" lIns="0" tIns="0" rIns="0" bIns="0" anchor="t">
                <a:spAutoFit/>
              </a:bodyPr>
              <a:lstStyle/>
              <a:p>
                <a:pPr algn="ctr">
                  <a:lnSpc>
                    <a:spcPct val="105000"/>
                  </a:lnSpc>
                  <a:spcBef>
                    <a:spcPts val="0"/>
                  </a:spcBef>
                  <a:spcAft>
                    <a:spcPts val="0"/>
                  </a:spcAft>
                </a:pPr>
                <a:r>
                  <a:rPr sz="1320" b="1" i="0">
                    <a:solidFill>
                      <a:srgbClr val="FFFFFF"/>
                    </a:solidFill>
                    <a:latin typeface="Arial"/>
                  </a:rPr>
                  <a:t>2</a:t>
                </a:r>
              </a:p>
            </p:txBody>
          </p:sp>
          <p:grpSp>
            <p:nvGrpSpPr>
              <p:cNvPr id="79" name="Editable icon | received documents"/>
              <p:cNvGrpSpPr/>
              <p:nvPr/>
            </p:nvGrpSpPr>
            <p:grpSpPr>
              <a:xfrm>
                <a:off x="2862071" y="4938491"/>
                <a:ext cx="395020" cy="254568"/>
                <a:chOff x="2862071" y="4938491"/>
                <a:chExt cx="395020" cy="254568"/>
              </a:xfrm>
            </p:grpSpPr>
            <p:sp>
              <p:nvSpPr>
                <p:cNvPr id="193" name="Envelope outline"/>
                <p:cNvSpPr/>
                <p:nvPr/>
              </p:nvSpPr>
              <p:spPr>
                <a:xfrm>
                  <a:off x="2862071" y="4938491"/>
                  <a:ext cx="395020" cy="254568"/>
                </a:xfrm>
                <a:prstGeom prst="roundRect">
                  <a:avLst>
                    <a:gd name="adj" fmla="val 8000"/>
                  </a:avLst>
                </a:prstGeom>
                <a:solidFill>
                  <a:srgbClr val="FFFFFF"/>
                </a:solidFill>
                <a:ln w="22860">
                  <a:solidFill>
                    <a:srgbClr val="183C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94" name="Envelope flap left"/>
                <p:cNvCxnSpPr/>
                <p:nvPr/>
              </p:nvCxnSpPr>
              <p:spPr>
                <a:xfrm>
                  <a:off x="2884931" y="4961351"/>
                  <a:ext cx="174651" cy="131857"/>
                </a:xfrm>
                <a:prstGeom prst="line">
                  <a:avLst/>
                </a:prstGeom>
                <a:ln w="22860" cap="rnd">
                  <a:solidFill>
                    <a:srgbClr val="183C6A"/>
                  </a:solidFill>
                </a:ln>
                <a:effectLst/>
              </p:spPr>
              <p:style>
                <a:lnRef idx="2">
                  <a:schemeClr val="accent1"/>
                </a:lnRef>
                <a:fillRef idx="0">
                  <a:schemeClr val="accent1"/>
                </a:fillRef>
                <a:effectRef idx="0">
                  <a:schemeClr val="accent1"/>
                </a:effectRef>
                <a:fontRef idx="minor">
                  <a:schemeClr val="tx1"/>
                </a:fontRef>
              </p:style>
            </p:cxnSp>
            <p:cxnSp>
              <p:nvCxnSpPr>
                <p:cNvPr id="195" name="Envelope flap right"/>
                <p:cNvCxnSpPr/>
                <p:nvPr/>
              </p:nvCxnSpPr>
              <p:spPr>
                <a:xfrm flipV="1">
                  <a:off x="3059582" y="4961351"/>
                  <a:ext cx="174650" cy="131857"/>
                </a:xfrm>
                <a:prstGeom prst="line">
                  <a:avLst/>
                </a:prstGeom>
                <a:ln w="22860" cap="rnd">
                  <a:solidFill>
                    <a:srgbClr val="183C6A"/>
                  </a:solidFill>
                </a:ln>
                <a:effectLst/>
              </p:spPr>
              <p:style>
                <a:lnRef idx="2">
                  <a:schemeClr val="accent1"/>
                </a:lnRef>
                <a:fillRef idx="0">
                  <a:schemeClr val="accent1"/>
                </a:fillRef>
                <a:effectRef idx="0">
                  <a:schemeClr val="accent1"/>
                </a:effectRef>
                <a:fontRef idx="minor">
                  <a:schemeClr val="tx1"/>
                </a:fontRef>
              </p:style>
            </p:cxnSp>
          </p:grpSp>
          <p:sp>
            <p:nvSpPr>
              <p:cNvPr id="196" name="Stage label"/>
              <p:cNvSpPr txBox="1"/>
              <p:nvPr/>
            </p:nvSpPr>
            <p:spPr>
              <a:xfrm>
                <a:off x="2308859" y="5413248"/>
                <a:ext cx="1501444" cy="265176"/>
              </a:xfrm>
              <a:prstGeom prst="rect">
                <a:avLst/>
              </a:prstGeom>
              <a:noFill/>
              <a:effectLst/>
            </p:spPr>
            <p:txBody>
              <a:bodyPr wrap="square" lIns="0" tIns="0" rIns="0" bIns="0" anchor="t">
                <a:spAutoFit/>
              </a:bodyPr>
              <a:lstStyle/>
              <a:p>
                <a:pPr algn="ctr">
                  <a:lnSpc>
                    <a:spcPct val="105000"/>
                  </a:lnSpc>
                  <a:spcBef>
                    <a:spcPts val="0"/>
                  </a:spcBef>
                  <a:spcAft>
                    <a:spcPts val="0"/>
                  </a:spcAft>
                </a:pPr>
                <a:r>
                  <a:rPr sz="1410" b="1" i="0">
                    <a:solidFill>
                      <a:srgbClr val="1D2357"/>
                    </a:solidFill>
                    <a:latin typeface="Arial"/>
                  </a:rPr>
                  <a:t>Receive</a:t>
                </a:r>
              </a:p>
            </p:txBody>
          </p:sp>
        </p:grpSp>
        <p:sp>
          <p:nvSpPr>
            <p:cNvPr id="197" name="Workflow connector 2"/>
            <p:cNvSpPr/>
            <p:nvPr/>
          </p:nvSpPr>
          <p:spPr>
            <a:xfrm>
              <a:off x="3938320" y="5148072"/>
              <a:ext cx="137160" cy="246888"/>
            </a:xfrm>
            <a:prstGeom prst="chevron">
              <a:avLst/>
            </a:prstGeom>
            <a:solidFill>
              <a:srgbClr val="919C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nvGrpSpPr>
            <p:cNvPr id="80" name="Stage 3 | Check"/>
            <p:cNvGrpSpPr/>
            <p:nvPr/>
          </p:nvGrpSpPr>
          <p:grpSpPr>
            <a:xfrm>
              <a:off x="4123029" y="4636008"/>
              <a:ext cx="1600199" cy="1124711"/>
              <a:chOff x="4123029" y="4636008"/>
              <a:chExt cx="1600199" cy="1124711"/>
            </a:xfrm>
          </p:grpSpPr>
          <p:sp>
            <p:nvSpPr>
              <p:cNvPr id="198" name="Stage panel"/>
              <p:cNvSpPr/>
              <p:nvPr/>
            </p:nvSpPr>
            <p:spPr>
              <a:xfrm>
                <a:off x="4130344" y="4727448"/>
                <a:ext cx="1592884" cy="1033271"/>
              </a:xfrm>
              <a:prstGeom prst="roundRect">
                <a:avLst>
                  <a:gd name="adj" fmla="val 8000"/>
                </a:avLst>
              </a:prstGeom>
              <a:solidFill>
                <a:srgbClr val="EBF1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9" name="Stage number circle"/>
              <p:cNvSpPr/>
              <p:nvPr/>
            </p:nvSpPr>
            <p:spPr>
              <a:xfrm>
                <a:off x="4123029" y="4636008"/>
                <a:ext cx="304495" cy="304495"/>
              </a:xfrm>
              <a:prstGeom prst="ellipse">
                <a:avLst/>
              </a:prstGeom>
              <a:solidFill>
                <a:srgbClr val="394DAA"/>
              </a:solidFill>
              <a:ln w="1397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0" name="Stage number"/>
              <p:cNvSpPr txBox="1"/>
              <p:nvPr/>
            </p:nvSpPr>
            <p:spPr>
              <a:xfrm>
                <a:off x="4123029" y="4685385"/>
                <a:ext cx="304495" cy="219456"/>
              </a:xfrm>
              <a:prstGeom prst="rect">
                <a:avLst/>
              </a:prstGeom>
              <a:noFill/>
              <a:effectLst/>
            </p:spPr>
            <p:txBody>
              <a:bodyPr wrap="square" lIns="0" tIns="0" rIns="0" bIns="0" anchor="t">
                <a:spAutoFit/>
              </a:bodyPr>
              <a:lstStyle/>
              <a:p>
                <a:pPr algn="ctr">
                  <a:lnSpc>
                    <a:spcPct val="105000"/>
                  </a:lnSpc>
                  <a:spcBef>
                    <a:spcPts val="0"/>
                  </a:spcBef>
                  <a:spcAft>
                    <a:spcPts val="0"/>
                  </a:spcAft>
                </a:pPr>
                <a:r>
                  <a:rPr sz="1320" b="1" i="0">
                    <a:solidFill>
                      <a:srgbClr val="FFFFFF"/>
                    </a:solidFill>
                    <a:latin typeface="Arial"/>
                  </a:rPr>
                  <a:t>3</a:t>
                </a:r>
              </a:p>
            </p:txBody>
          </p:sp>
          <p:grpSp>
            <p:nvGrpSpPr>
              <p:cNvPr id="81" name="Editable icon | staff check"/>
              <p:cNvGrpSpPr/>
              <p:nvPr/>
            </p:nvGrpSpPr>
            <p:grpSpPr>
              <a:xfrm>
                <a:off x="4760000" y="4890211"/>
                <a:ext cx="355519" cy="364297"/>
                <a:chOff x="4760000" y="4890211"/>
                <a:chExt cx="355519" cy="364297"/>
              </a:xfrm>
            </p:grpSpPr>
            <p:sp>
              <p:nvSpPr>
                <p:cNvPr id="201" name="Magnifier lens"/>
                <p:cNvSpPr/>
                <p:nvPr/>
              </p:nvSpPr>
              <p:spPr>
                <a:xfrm>
                  <a:off x="4760000" y="4890211"/>
                  <a:ext cx="272125" cy="272125"/>
                </a:xfrm>
                <a:prstGeom prst="ellipse">
                  <a:avLst/>
                </a:prstGeom>
                <a:noFill/>
                <a:ln w="29209">
                  <a:solidFill>
                    <a:srgbClr val="183C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202" name="Magnifier handle"/>
                <p:cNvCxnSpPr/>
                <p:nvPr/>
              </p:nvCxnSpPr>
              <p:spPr>
                <a:xfrm>
                  <a:off x="4992624" y="5127223"/>
                  <a:ext cx="122895" cy="127285"/>
                </a:xfrm>
                <a:prstGeom prst="line">
                  <a:avLst/>
                </a:prstGeom>
                <a:ln w="52069" cap="rnd">
                  <a:solidFill>
                    <a:srgbClr val="183C6A"/>
                  </a:solidFill>
                </a:ln>
                <a:effectLst/>
              </p:spPr>
              <p:style>
                <a:lnRef idx="2">
                  <a:schemeClr val="accent1"/>
                </a:lnRef>
                <a:fillRef idx="0">
                  <a:schemeClr val="accent1"/>
                </a:fillRef>
                <a:effectRef idx="0">
                  <a:schemeClr val="accent1"/>
                </a:effectRef>
                <a:fontRef idx="minor">
                  <a:schemeClr val="tx1"/>
                </a:fontRef>
              </p:style>
            </p:cxnSp>
          </p:grpSp>
          <p:sp>
            <p:nvSpPr>
              <p:cNvPr id="203" name="Stage label"/>
              <p:cNvSpPr txBox="1"/>
              <p:nvPr/>
            </p:nvSpPr>
            <p:spPr>
              <a:xfrm>
                <a:off x="4176064" y="5413248"/>
                <a:ext cx="1501444" cy="265176"/>
              </a:xfrm>
              <a:prstGeom prst="rect">
                <a:avLst/>
              </a:prstGeom>
              <a:noFill/>
              <a:effectLst/>
            </p:spPr>
            <p:txBody>
              <a:bodyPr wrap="square" lIns="0" tIns="0" rIns="0" bIns="0" anchor="t">
                <a:spAutoFit/>
              </a:bodyPr>
              <a:lstStyle/>
              <a:p>
                <a:pPr algn="ctr">
                  <a:lnSpc>
                    <a:spcPct val="105000"/>
                  </a:lnSpc>
                  <a:spcBef>
                    <a:spcPts val="0"/>
                  </a:spcBef>
                  <a:spcAft>
                    <a:spcPts val="0"/>
                  </a:spcAft>
                </a:pPr>
                <a:r>
                  <a:rPr sz="1410" b="1" i="0" dirty="0">
                    <a:solidFill>
                      <a:srgbClr val="1D2357"/>
                    </a:solidFill>
                    <a:latin typeface="Arial"/>
                  </a:rPr>
                  <a:t>Check</a:t>
                </a:r>
              </a:p>
            </p:txBody>
          </p:sp>
        </p:grpSp>
        <p:sp>
          <p:nvSpPr>
            <p:cNvPr id="204" name="Workflow connector 3"/>
            <p:cNvSpPr/>
            <p:nvPr/>
          </p:nvSpPr>
          <p:spPr>
            <a:xfrm>
              <a:off x="5805525" y="5148072"/>
              <a:ext cx="137160" cy="246888"/>
            </a:xfrm>
            <a:prstGeom prst="chevron">
              <a:avLst/>
            </a:prstGeom>
            <a:solidFill>
              <a:srgbClr val="919C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nvGrpSpPr>
            <p:cNvPr id="82" name="Stage 4 | Follow up"/>
            <p:cNvGrpSpPr/>
            <p:nvPr/>
          </p:nvGrpSpPr>
          <p:grpSpPr>
            <a:xfrm>
              <a:off x="5990234" y="4636008"/>
              <a:ext cx="1600199" cy="1124711"/>
              <a:chOff x="5990234" y="4636008"/>
              <a:chExt cx="1600199" cy="1124711"/>
            </a:xfrm>
          </p:grpSpPr>
          <p:sp>
            <p:nvSpPr>
              <p:cNvPr id="205" name="Stage panel"/>
              <p:cNvSpPr/>
              <p:nvPr/>
            </p:nvSpPr>
            <p:spPr>
              <a:xfrm>
                <a:off x="5997549" y="4727448"/>
                <a:ext cx="1592884" cy="1033271"/>
              </a:xfrm>
              <a:prstGeom prst="roundRect">
                <a:avLst>
                  <a:gd name="adj" fmla="val 8000"/>
                </a:avLst>
              </a:prstGeom>
              <a:solidFill>
                <a:srgbClr val="FFF2E7"/>
              </a:solidFill>
              <a:ln w="8890">
                <a:solidFill>
                  <a:srgbClr val="FF69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6" name="Stage number circle"/>
              <p:cNvSpPr/>
              <p:nvPr/>
            </p:nvSpPr>
            <p:spPr>
              <a:xfrm>
                <a:off x="5990234" y="4636008"/>
                <a:ext cx="304495" cy="304495"/>
              </a:xfrm>
              <a:prstGeom prst="ellipse">
                <a:avLst/>
              </a:prstGeom>
              <a:solidFill>
                <a:srgbClr val="FF6900"/>
              </a:solidFill>
              <a:ln w="1397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7" name="Stage number"/>
              <p:cNvSpPr txBox="1"/>
              <p:nvPr/>
            </p:nvSpPr>
            <p:spPr>
              <a:xfrm>
                <a:off x="5990234" y="4685385"/>
                <a:ext cx="304495" cy="219456"/>
              </a:xfrm>
              <a:prstGeom prst="rect">
                <a:avLst/>
              </a:prstGeom>
              <a:noFill/>
              <a:effectLst/>
            </p:spPr>
            <p:txBody>
              <a:bodyPr wrap="square" lIns="0" tIns="0" rIns="0" bIns="0" anchor="t">
                <a:spAutoFit/>
              </a:bodyPr>
              <a:lstStyle/>
              <a:p>
                <a:pPr algn="ctr">
                  <a:lnSpc>
                    <a:spcPct val="105000"/>
                  </a:lnSpc>
                  <a:spcBef>
                    <a:spcPts val="0"/>
                  </a:spcBef>
                  <a:spcAft>
                    <a:spcPts val="0"/>
                  </a:spcAft>
                </a:pPr>
                <a:r>
                  <a:rPr sz="1320" b="1" i="0">
                    <a:solidFill>
                      <a:srgbClr val="FFFFFF"/>
                    </a:solidFill>
                    <a:latin typeface="Arial"/>
                  </a:rPr>
                  <a:t>4</a:t>
                </a:r>
              </a:p>
            </p:txBody>
          </p:sp>
          <p:grpSp>
            <p:nvGrpSpPr>
              <p:cNvPr id="83" name="Editable icon | clock"/>
              <p:cNvGrpSpPr/>
              <p:nvPr/>
            </p:nvGrpSpPr>
            <p:grpSpPr>
              <a:xfrm>
                <a:off x="6574536" y="4846320"/>
                <a:ext cx="438912" cy="438912"/>
                <a:chOff x="6574536" y="4846320"/>
                <a:chExt cx="438912" cy="438912"/>
              </a:xfrm>
            </p:grpSpPr>
            <p:sp>
              <p:nvSpPr>
                <p:cNvPr id="208" name="Clock face"/>
                <p:cNvSpPr/>
                <p:nvPr/>
              </p:nvSpPr>
              <p:spPr>
                <a:xfrm>
                  <a:off x="6574536" y="4846320"/>
                  <a:ext cx="438912" cy="438912"/>
                </a:xfrm>
                <a:prstGeom prst="ellipse">
                  <a:avLst/>
                </a:prstGeom>
                <a:solidFill>
                  <a:srgbClr val="FFFFFF"/>
                </a:solidFill>
                <a:ln w="26670">
                  <a:solidFill>
                    <a:srgbClr val="FF69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209" name="Hour hand"/>
                <p:cNvCxnSpPr/>
                <p:nvPr/>
              </p:nvCxnSpPr>
              <p:spPr>
                <a:xfrm flipV="1">
                  <a:off x="6793992" y="4942880"/>
                  <a:ext cx="0" cy="122896"/>
                </a:xfrm>
                <a:prstGeom prst="line">
                  <a:avLst/>
                </a:prstGeom>
                <a:ln w="26670" cap="rnd">
                  <a:solidFill>
                    <a:srgbClr val="FF6900"/>
                  </a:solidFill>
                </a:ln>
                <a:effectLst/>
              </p:spPr>
              <p:style>
                <a:lnRef idx="2">
                  <a:schemeClr val="accent1"/>
                </a:lnRef>
                <a:fillRef idx="0">
                  <a:schemeClr val="accent1"/>
                </a:fillRef>
                <a:effectRef idx="0">
                  <a:schemeClr val="accent1"/>
                </a:effectRef>
                <a:fontRef idx="minor">
                  <a:schemeClr val="tx1"/>
                </a:fontRef>
              </p:style>
            </p:cxnSp>
            <p:cxnSp>
              <p:nvCxnSpPr>
                <p:cNvPr id="210" name="Minute hand"/>
                <p:cNvCxnSpPr/>
                <p:nvPr/>
              </p:nvCxnSpPr>
              <p:spPr>
                <a:xfrm>
                  <a:off x="6793992" y="5065776"/>
                  <a:ext cx="105338" cy="61447"/>
                </a:xfrm>
                <a:prstGeom prst="line">
                  <a:avLst/>
                </a:prstGeom>
                <a:ln w="26670" cap="rnd">
                  <a:solidFill>
                    <a:srgbClr val="FF6900"/>
                  </a:solidFill>
                </a:ln>
                <a:effectLst/>
              </p:spPr>
              <p:style>
                <a:lnRef idx="2">
                  <a:schemeClr val="accent1"/>
                </a:lnRef>
                <a:fillRef idx="0">
                  <a:schemeClr val="accent1"/>
                </a:fillRef>
                <a:effectRef idx="0">
                  <a:schemeClr val="accent1"/>
                </a:effectRef>
                <a:fontRef idx="minor">
                  <a:schemeClr val="tx1"/>
                </a:fontRef>
              </p:style>
            </p:cxnSp>
            <p:sp>
              <p:nvSpPr>
                <p:cNvPr id="211" name="Clock centre"/>
                <p:cNvSpPr/>
                <p:nvPr/>
              </p:nvSpPr>
              <p:spPr>
                <a:xfrm>
                  <a:off x="6777532" y="5049316"/>
                  <a:ext cx="32918" cy="32918"/>
                </a:xfrm>
                <a:prstGeom prst="ellipse">
                  <a:avLst/>
                </a:prstGeom>
                <a:solidFill>
                  <a:srgbClr val="FF69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grpSp>
        <p:sp>
          <p:nvSpPr>
            <p:cNvPr id="213" name="Workflow connector 4"/>
            <p:cNvSpPr/>
            <p:nvPr/>
          </p:nvSpPr>
          <p:spPr>
            <a:xfrm>
              <a:off x="7672730" y="5148072"/>
              <a:ext cx="137160" cy="246888"/>
            </a:xfrm>
            <a:prstGeom prst="chevron">
              <a:avLst/>
            </a:prstGeom>
            <a:solidFill>
              <a:srgbClr val="919C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nvGrpSpPr>
            <p:cNvPr id="84" name="Stage 5 | Finalize"/>
            <p:cNvGrpSpPr/>
            <p:nvPr/>
          </p:nvGrpSpPr>
          <p:grpSpPr>
            <a:xfrm>
              <a:off x="7857439" y="4636008"/>
              <a:ext cx="1600199" cy="1124711"/>
              <a:chOff x="7857439" y="4636008"/>
              <a:chExt cx="1600199" cy="1124711"/>
            </a:xfrm>
          </p:grpSpPr>
          <p:sp>
            <p:nvSpPr>
              <p:cNvPr id="214" name="Stage panel"/>
              <p:cNvSpPr/>
              <p:nvPr/>
            </p:nvSpPr>
            <p:spPr>
              <a:xfrm>
                <a:off x="7864754" y="4727448"/>
                <a:ext cx="1592884" cy="1033271"/>
              </a:xfrm>
              <a:prstGeom prst="roundRect">
                <a:avLst>
                  <a:gd name="adj" fmla="val 8000"/>
                </a:avLst>
              </a:prstGeom>
              <a:solidFill>
                <a:srgbClr val="EBF1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5" name="Stage number circle"/>
              <p:cNvSpPr/>
              <p:nvPr/>
            </p:nvSpPr>
            <p:spPr>
              <a:xfrm>
                <a:off x="7857439" y="4636008"/>
                <a:ext cx="304495" cy="304495"/>
              </a:xfrm>
              <a:prstGeom prst="ellipse">
                <a:avLst/>
              </a:prstGeom>
              <a:solidFill>
                <a:srgbClr val="394DAA"/>
              </a:solidFill>
              <a:ln w="1397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6" name="Stage number"/>
              <p:cNvSpPr txBox="1"/>
              <p:nvPr/>
            </p:nvSpPr>
            <p:spPr>
              <a:xfrm>
                <a:off x="7857439" y="4685385"/>
                <a:ext cx="304495" cy="219456"/>
              </a:xfrm>
              <a:prstGeom prst="rect">
                <a:avLst/>
              </a:prstGeom>
              <a:noFill/>
              <a:effectLst/>
            </p:spPr>
            <p:txBody>
              <a:bodyPr wrap="square" lIns="0" tIns="0" rIns="0" bIns="0" anchor="t">
                <a:spAutoFit/>
              </a:bodyPr>
              <a:lstStyle/>
              <a:p>
                <a:pPr algn="ctr">
                  <a:lnSpc>
                    <a:spcPct val="105000"/>
                  </a:lnSpc>
                  <a:spcBef>
                    <a:spcPts val="0"/>
                  </a:spcBef>
                  <a:spcAft>
                    <a:spcPts val="0"/>
                  </a:spcAft>
                </a:pPr>
                <a:r>
                  <a:rPr sz="1320" b="1" i="0">
                    <a:solidFill>
                      <a:srgbClr val="FFFFFF"/>
                    </a:solidFill>
                    <a:latin typeface="Arial"/>
                  </a:rPr>
                  <a:t>5</a:t>
                </a:r>
              </a:p>
            </p:txBody>
          </p:sp>
          <p:grpSp>
            <p:nvGrpSpPr>
              <p:cNvPr id="85" name="Editable icon | finalized document"/>
              <p:cNvGrpSpPr/>
              <p:nvPr/>
            </p:nvGrpSpPr>
            <p:grpSpPr>
              <a:xfrm>
                <a:off x="8520744" y="4868265"/>
                <a:ext cx="377465" cy="386243"/>
                <a:chOff x="8520744" y="4868265"/>
                <a:chExt cx="377465" cy="386243"/>
              </a:xfrm>
            </p:grpSpPr>
            <p:sp>
              <p:nvSpPr>
                <p:cNvPr id="86" name="Document outline"/>
                <p:cNvSpPr/>
                <p:nvPr/>
              </p:nvSpPr>
              <p:spPr>
                <a:xfrm>
                  <a:off x="8520744" y="4868265"/>
                  <a:ext cx="258959" cy="386243"/>
                </a:xfrm>
                <a:custGeom>
                  <a:avLst/>
                  <a:gdLst/>
                  <a:ahLst/>
                  <a:cxnLst/>
                  <a:rect l="l" t="t" r="r" b="b"/>
                  <a:pathLst>
                    <a:path w="258959" h="386243">
                      <a:moveTo>
                        <a:pt x="0" y="0"/>
                      </a:moveTo>
                      <a:lnTo>
                        <a:pt x="181271" y="0"/>
                      </a:lnTo>
                      <a:lnTo>
                        <a:pt x="258959" y="88836"/>
                      </a:lnTo>
                      <a:lnTo>
                        <a:pt x="258959" y="386243"/>
                      </a:lnTo>
                      <a:lnTo>
                        <a:pt x="0" y="386243"/>
                      </a:lnTo>
                      <a:close/>
                    </a:path>
                  </a:pathLst>
                </a:custGeom>
                <a:solidFill>
                  <a:srgbClr val="FFFFFF"/>
                </a:solidFill>
                <a:ln w="21590">
                  <a:solidFill>
                    <a:srgbClr val="183C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217" name="Fold vertical"/>
                <p:cNvCxnSpPr/>
                <p:nvPr/>
              </p:nvCxnSpPr>
              <p:spPr>
                <a:xfrm>
                  <a:off x="8702015" y="4868265"/>
                  <a:ext cx="0" cy="88836"/>
                </a:xfrm>
                <a:prstGeom prst="line">
                  <a:avLst/>
                </a:prstGeom>
                <a:ln w="19050" cap="rnd">
                  <a:solidFill>
                    <a:srgbClr val="183C6A"/>
                  </a:solidFill>
                </a:ln>
                <a:effectLst/>
              </p:spPr>
              <p:style>
                <a:lnRef idx="2">
                  <a:schemeClr val="accent1"/>
                </a:lnRef>
                <a:fillRef idx="0">
                  <a:schemeClr val="accent1"/>
                </a:fillRef>
                <a:effectRef idx="0">
                  <a:schemeClr val="accent1"/>
                </a:effectRef>
                <a:fontRef idx="minor">
                  <a:schemeClr val="tx1"/>
                </a:fontRef>
              </p:style>
            </p:cxnSp>
            <p:cxnSp>
              <p:nvCxnSpPr>
                <p:cNvPr id="218" name="Fold horizontal"/>
                <p:cNvCxnSpPr/>
                <p:nvPr/>
              </p:nvCxnSpPr>
              <p:spPr>
                <a:xfrm>
                  <a:off x="8702015" y="4957101"/>
                  <a:ext cx="77688" cy="0"/>
                </a:xfrm>
                <a:prstGeom prst="line">
                  <a:avLst/>
                </a:prstGeom>
                <a:ln w="19050" cap="rnd">
                  <a:solidFill>
                    <a:srgbClr val="183C6A"/>
                  </a:solidFill>
                </a:ln>
                <a:effectLst/>
              </p:spPr>
              <p:style>
                <a:lnRef idx="2">
                  <a:schemeClr val="accent1"/>
                </a:lnRef>
                <a:fillRef idx="0">
                  <a:schemeClr val="accent1"/>
                </a:fillRef>
                <a:effectRef idx="0">
                  <a:schemeClr val="accent1"/>
                </a:effectRef>
                <a:fontRef idx="minor">
                  <a:schemeClr val="tx1"/>
                </a:fontRef>
              </p:style>
            </p:cxnSp>
            <p:cxnSp>
              <p:nvCxnSpPr>
                <p:cNvPr id="219" name="Document line 0"/>
                <p:cNvCxnSpPr/>
                <p:nvPr/>
              </p:nvCxnSpPr>
              <p:spPr>
                <a:xfrm>
                  <a:off x="8564767" y="5018900"/>
                  <a:ext cx="136730" cy="0"/>
                </a:xfrm>
                <a:prstGeom prst="line">
                  <a:avLst/>
                </a:prstGeom>
                <a:ln w="17780" cap="rnd">
                  <a:solidFill>
                    <a:srgbClr val="183C6A"/>
                  </a:solidFill>
                </a:ln>
                <a:effectLst/>
              </p:spPr>
              <p:style>
                <a:lnRef idx="2">
                  <a:schemeClr val="accent1"/>
                </a:lnRef>
                <a:fillRef idx="0">
                  <a:schemeClr val="accent1"/>
                </a:fillRef>
                <a:effectRef idx="0">
                  <a:schemeClr val="accent1"/>
                </a:effectRef>
                <a:fontRef idx="minor">
                  <a:schemeClr val="tx1"/>
                </a:fontRef>
              </p:style>
            </p:cxnSp>
            <p:cxnSp>
              <p:nvCxnSpPr>
                <p:cNvPr id="220" name="Document line 1"/>
                <p:cNvCxnSpPr/>
                <p:nvPr/>
              </p:nvCxnSpPr>
              <p:spPr>
                <a:xfrm>
                  <a:off x="8564767" y="5080699"/>
                  <a:ext cx="136730" cy="0"/>
                </a:xfrm>
                <a:prstGeom prst="line">
                  <a:avLst/>
                </a:prstGeom>
                <a:ln w="17780" cap="rnd">
                  <a:solidFill>
                    <a:srgbClr val="183C6A"/>
                  </a:solidFill>
                </a:ln>
                <a:effectLst/>
              </p:spPr>
              <p:style>
                <a:lnRef idx="2">
                  <a:schemeClr val="accent1"/>
                </a:lnRef>
                <a:fillRef idx="0">
                  <a:schemeClr val="accent1"/>
                </a:fillRef>
                <a:effectRef idx="0">
                  <a:schemeClr val="accent1"/>
                </a:effectRef>
                <a:fontRef idx="minor">
                  <a:schemeClr val="tx1"/>
                </a:fontRef>
              </p:style>
            </p:cxnSp>
            <p:cxnSp>
              <p:nvCxnSpPr>
                <p:cNvPr id="221" name="Document line 2"/>
                <p:cNvCxnSpPr/>
                <p:nvPr/>
              </p:nvCxnSpPr>
              <p:spPr>
                <a:xfrm>
                  <a:off x="8564767" y="5142497"/>
                  <a:ext cx="94002" cy="0"/>
                </a:xfrm>
                <a:prstGeom prst="line">
                  <a:avLst/>
                </a:prstGeom>
                <a:ln w="17780" cap="rnd">
                  <a:solidFill>
                    <a:srgbClr val="183C6A"/>
                  </a:solidFill>
                </a:ln>
                <a:effectLst/>
              </p:spPr>
              <p:style>
                <a:lnRef idx="2">
                  <a:schemeClr val="accent1"/>
                </a:lnRef>
                <a:fillRef idx="0">
                  <a:schemeClr val="accent1"/>
                </a:fillRef>
                <a:effectRef idx="0">
                  <a:schemeClr val="accent1"/>
                </a:effectRef>
                <a:fontRef idx="minor">
                  <a:schemeClr val="tx1"/>
                </a:fontRef>
              </p:style>
            </p:cxnSp>
            <p:cxnSp>
              <p:nvCxnSpPr>
                <p:cNvPr id="222" name="Check clear left"/>
                <p:cNvCxnSpPr/>
                <p:nvPr/>
              </p:nvCxnSpPr>
              <p:spPr>
                <a:xfrm>
                  <a:off x="8687531" y="5171114"/>
                  <a:ext cx="74615" cy="70226"/>
                </a:xfrm>
                <a:prstGeom prst="line">
                  <a:avLst/>
                </a:prstGeom>
                <a:ln w="77470" cap="rnd">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223" name="Check clear right"/>
                <p:cNvCxnSpPr/>
                <p:nvPr/>
              </p:nvCxnSpPr>
              <p:spPr>
                <a:xfrm flipV="1">
                  <a:off x="8762146" y="5078943"/>
                  <a:ext cx="136063" cy="162397"/>
                </a:xfrm>
                <a:prstGeom prst="line">
                  <a:avLst/>
                </a:prstGeom>
                <a:ln w="77470" cap="rnd">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224" name="Check left"/>
                <p:cNvCxnSpPr/>
                <p:nvPr/>
              </p:nvCxnSpPr>
              <p:spPr>
                <a:xfrm>
                  <a:off x="8687531" y="5171114"/>
                  <a:ext cx="74615" cy="70226"/>
                </a:xfrm>
                <a:prstGeom prst="line">
                  <a:avLst/>
                </a:prstGeom>
                <a:ln w="39370" cap="rnd">
                  <a:solidFill>
                    <a:srgbClr val="183C6A"/>
                  </a:solidFill>
                </a:ln>
                <a:effectLst/>
              </p:spPr>
              <p:style>
                <a:lnRef idx="2">
                  <a:schemeClr val="accent1"/>
                </a:lnRef>
                <a:fillRef idx="0">
                  <a:schemeClr val="accent1"/>
                </a:fillRef>
                <a:effectRef idx="0">
                  <a:schemeClr val="accent1"/>
                </a:effectRef>
                <a:fontRef idx="minor">
                  <a:schemeClr val="tx1"/>
                </a:fontRef>
              </p:style>
            </p:cxnSp>
            <p:cxnSp>
              <p:nvCxnSpPr>
                <p:cNvPr id="225" name="Check right"/>
                <p:cNvCxnSpPr/>
                <p:nvPr/>
              </p:nvCxnSpPr>
              <p:spPr>
                <a:xfrm flipV="1">
                  <a:off x="8762146" y="5078943"/>
                  <a:ext cx="136063" cy="162397"/>
                </a:xfrm>
                <a:prstGeom prst="line">
                  <a:avLst/>
                </a:prstGeom>
                <a:ln w="39370" cap="rnd">
                  <a:solidFill>
                    <a:srgbClr val="183C6A"/>
                  </a:solidFill>
                </a:ln>
                <a:effectLst/>
              </p:spPr>
              <p:style>
                <a:lnRef idx="2">
                  <a:schemeClr val="accent1"/>
                </a:lnRef>
                <a:fillRef idx="0">
                  <a:schemeClr val="accent1"/>
                </a:fillRef>
                <a:effectRef idx="0">
                  <a:schemeClr val="accent1"/>
                </a:effectRef>
                <a:fontRef idx="minor">
                  <a:schemeClr val="tx1"/>
                </a:fontRef>
              </p:style>
            </p:cxnSp>
          </p:grpSp>
          <p:sp>
            <p:nvSpPr>
              <p:cNvPr id="226" name="Stage label"/>
              <p:cNvSpPr txBox="1"/>
              <p:nvPr/>
            </p:nvSpPr>
            <p:spPr>
              <a:xfrm>
                <a:off x="7910474" y="5413248"/>
                <a:ext cx="1501444" cy="265176"/>
              </a:xfrm>
              <a:prstGeom prst="rect">
                <a:avLst/>
              </a:prstGeom>
              <a:noFill/>
              <a:effectLst/>
            </p:spPr>
            <p:txBody>
              <a:bodyPr wrap="square" lIns="0" tIns="0" rIns="0" bIns="0" anchor="t">
                <a:spAutoFit/>
              </a:bodyPr>
              <a:lstStyle/>
              <a:p>
                <a:pPr algn="ctr">
                  <a:lnSpc>
                    <a:spcPct val="105000"/>
                  </a:lnSpc>
                  <a:spcBef>
                    <a:spcPts val="0"/>
                  </a:spcBef>
                  <a:spcAft>
                    <a:spcPts val="0"/>
                  </a:spcAft>
                </a:pPr>
                <a:r>
                  <a:rPr sz="1410" b="1" i="0">
                    <a:solidFill>
                      <a:srgbClr val="1D2357"/>
                    </a:solidFill>
                    <a:latin typeface="Arial"/>
                  </a:rPr>
                  <a:t>Finalize</a:t>
                </a:r>
              </a:p>
            </p:txBody>
          </p:sp>
        </p:grpSp>
        <p:cxnSp>
          <p:nvCxnSpPr>
            <p:cNvPr id="227" name="Highlight left"/>
            <p:cNvCxnSpPr/>
            <p:nvPr/>
          </p:nvCxnSpPr>
          <p:spPr>
            <a:xfrm>
              <a:off x="5997549" y="5824728"/>
              <a:ext cx="0" cy="54864"/>
            </a:xfrm>
            <a:prstGeom prst="line">
              <a:avLst/>
            </a:prstGeom>
            <a:ln w="11430" cap="rnd">
              <a:solidFill>
                <a:srgbClr val="FF6900"/>
              </a:solidFill>
            </a:ln>
            <a:effectLst/>
          </p:spPr>
          <p:style>
            <a:lnRef idx="2">
              <a:schemeClr val="accent1"/>
            </a:lnRef>
            <a:fillRef idx="0">
              <a:schemeClr val="accent1"/>
            </a:fillRef>
            <a:effectRef idx="0">
              <a:schemeClr val="accent1"/>
            </a:effectRef>
            <a:fontRef idx="minor">
              <a:schemeClr val="tx1"/>
            </a:fontRef>
          </p:style>
        </p:cxnSp>
        <p:cxnSp>
          <p:nvCxnSpPr>
            <p:cNvPr id="228" name="Highlight right"/>
            <p:cNvCxnSpPr/>
            <p:nvPr/>
          </p:nvCxnSpPr>
          <p:spPr>
            <a:xfrm>
              <a:off x="7590434" y="5824728"/>
              <a:ext cx="0" cy="54864"/>
            </a:xfrm>
            <a:prstGeom prst="line">
              <a:avLst/>
            </a:prstGeom>
            <a:ln w="11430" cap="rnd">
              <a:solidFill>
                <a:srgbClr val="FF6900"/>
              </a:solidFill>
            </a:ln>
            <a:effectLst/>
          </p:spPr>
          <p:style>
            <a:lnRef idx="2">
              <a:schemeClr val="accent1"/>
            </a:lnRef>
            <a:fillRef idx="0">
              <a:schemeClr val="accent1"/>
            </a:fillRef>
            <a:effectRef idx="0">
              <a:schemeClr val="accent1"/>
            </a:effectRef>
            <a:fontRef idx="minor">
              <a:schemeClr val="tx1"/>
            </a:fontRef>
          </p:style>
        </p:cxnSp>
        <p:cxnSp>
          <p:nvCxnSpPr>
            <p:cNvPr id="229" name="Highlight base left"/>
            <p:cNvCxnSpPr/>
            <p:nvPr/>
          </p:nvCxnSpPr>
          <p:spPr>
            <a:xfrm>
              <a:off x="5997549" y="5879592"/>
              <a:ext cx="732434" cy="0"/>
            </a:xfrm>
            <a:prstGeom prst="line">
              <a:avLst/>
            </a:prstGeom>
            <a:ln w="11430" cap="rnd">
              <a:solidFill>
                <a:srgbClr val="FF6900"/>
              </a:solidFill>
            </a:ln>
            <a:effectLst/>
          </p:spPr>
          <p:style>
            <a:lnRef idx="2">
              <a:schemeClr val="accent1"/>
            </a:lnRef>
            <a:fillRef idx="0">
              <a:schemeClr val="accent1"/>
            </a:fillRef>
            <a:effectRef idx="0">
              <a:schemeClr val="accent1"/>
            </a:effectRef>
            <a:fontRef idx="minor">
              <a:schemeClr val="tx1"/>
            </a:fontRef>
          </p:style>
        </p:cxnSp>
        <p:cxnSp>
          <p:nvCxnSpPr>
            <p:cNvPr id="230" name="Highlight centre left"/>
            <p:cNvCxnSpPr/>
            <p:nvPr/>
          </p:nvCxnSpPr>
          <p:spPr>
            <a:xfrm>
              <a:off x="6729983" y="5879592"/>
              <a:ext cx="64009" cy="54864"/>
            </a:xfrm>
            <a:prstGeom prst="line">
              <a:avLst/>
            </a:prstGeom>
            <a:ln w="11430" cap="rnd">
              <a:solidFill>
                <a:srgbClr val="FF6900"/>
              </a:solidFill>
            </a:ln>
            <a:effectLst/>
          </p:spPr>
          <p:style>
            <a:lnRef idx="2">
              <a:schemeClr val="accent1"/>
            </a:lnRef>
            <a:fillRef idx="0">
              <a:schemeClr val="accent1"/>
            </a:fillRef>
            <a:effectRef idx="0">
              <a:schemeClr val="accent1"/>
            </a:effectRef>
            <a:fontRef idx="minor">
              <a:schemeClr val="tx1"/>
            </a:fontRef>
          </p:style>
        </p:cxnSp>
        <p:cxnSp>
          <p:nvCxnSpPr>
            <p:cNvPr id="231" name="Highlight centre right"/>
            <p:cNvCxnSpPr/>
            <p:nvPr/>
          </p:nvCxnSpPr>
          <p:spPr>
            <a:xfrm flipV="1">
              <a:off x="6793992" y="5879592"/>
              <a:ext cx="64008" cy="54864"/>
            </a:xfrm>
            <a:prstGeom prst="line">
              <a:avLst/>
            </a:prstGeom>
            <a:ln w="11430" cap="rnd">
              <a:solidFill>
                <a:srgbClr val="FF6900"/>
              </a:solidFill>
            </a:ln>
            <a:effectLst/>
          </p:spPr>
          <p:style>
            <a:lnRef idx="2">
              <a:schemeClr val="accent1"/>
            </a:lnRef>
            <a:fillRef idx="0">
              <a:schemeClr val="accent1"/>
            </a:fillRef>
            <a:effectRef idx="0">
              <a:schemeClr val="accent1"/>
            </a:effectRef>
            <a:fontRef idx="minor">
              <a:schemeClr val="tx1"/>
            </a:fontRef>
          </p:style>
        </p:cxnSp>
        <p:cxnSp>
          <p:nvCxnSpPr>
            <p:cNvPr id="232" name="Highlight base right"/>
            <p:cNvCxnSpPr/>
            <p:nvPr/>
          </p:nvCxnSpPr>
          <p:spPr>
            <a:xfrm>
              <a:off x="6858000" y="5879592"/>
              <a:ext cx="732434" cy="0"/>
            </a:xfrm>
            <a:prstGeom prst="line">
              <a:avLst/>
            </a:prstGeom>
            <a:ln w="11430" cap="rnd">
              <a:solidFill>
                <a:srgbClr val="FF6900"/>
              </a:solidFill>
            </a:ln>
            <a:effectLst/>
          </p:spPr>
          <p:style>
            <a:lnRef idx="2">
              <a:schemeClr val="accent1"/>
            </a:lnRef>
            <a:fillRef idx="0">
              <a:schemeClr val="accent1"/>
            </a:fillRef>
            <a:effectRef idx="0">
              <a:schemeClr val="accent1"/>
            </a:effectRef>
            <a:fontRef idx="minor">
              <a:schemeClr val="tx1"/>
            </a:fontRef>
          </p:style>
        </p:cxnSp>
      </p:grpSp>
      <p:grpSp>
        <p:nvGrpSpPr>
          <p:cNvPr id="98" name="Workflow callout | human approval retained"/>
          <p:cNvGrpSpPr/>
          <p:nvPr/>
        </p:nvGrpSpPr>
        <p:grpSpPr>
          <a:xfrm>
            <a:off x="9616744" y="4396435"/>
            <a:ext cx="2179015" cy="1691640"/>
            <a:chOff x="9616744" y="4396435"/>
            <a:chExt cx="2179015" cy="1691640"/>
          </a:xfrm>
        </p:grpSpPr>
        <p:cxnSp>
          <p:nvCxnSpPr>
            <p:cNvPr id="233" name="Callout separator"/>
            <p:cNvCxnSpPr/>
            <p:nvPr/>
          </p:nvCxnSpPr>
          <p:spPr>
            <a:xfrm>
              <a:off x="9616744" y="4396435"/>
              <a:ext cx="0" cy="1638605"/>
            </a:xfrm>
            <a:prstGeom prst="line">
              <a:avLst/>
            </a:prstGeom>
            <a:ln w="10160" cap="rnd">
              <a:solidFill>
                <a:srgbClr val="C7D2E5"/>
              </a:solidFill>
            </a:ln>
            <a:effectLst/>
          </p:spPr>
          <p:style>
            <a:lnRef idx="2">
              <a:schemeClr val="accent1"/>
            </a:lnRef>
            <a:fillRef idx="0">
              <a:schemeClr val="accent1"/>
            </a:fillRef>
            <a:effectRef idx="0">
              <a:schemeClr val="accent1"/>
            </a:effectRef>
            <a:fontRef idx="minor">
              <a:schemeClr val="tx1"/>
            </a:fontRef>
          </p:style>
        </p:cxnSp>
        <p:sp>
          <p:nvSpPr>
            <p:cNvPr id="234" name="Callout panel"/>
            <p:cNvSpPr/>
            <p:nvPr/>
          </p:nvSpPr>
          <p:spPr>
            <a:xfrm>
              <a:off x="9799624" y="4396435"/>
              <a:ext cx="1996135" cy="1691640"/>
            </a:xfrm>
            <a:prstGeom prst="roundRect">
              <a:avLst>
                <a:gd name="adj" fmla="val 8000"/>
              </a:avLst>
            </a:prstGeom>
            <a:solidFill>
              <a:srgbClr val="FFF2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nvGrpSpPr>
            <p:cNvPr id="102" name="Editable icon | staff approval control"/>
            <p:cNvGrpSpPr/>
            <p:nvPr/>
          </p:nvGrpSpPr>
          <p:grpSpPr>
            <a:xfrm>
              <a:off x="9970617" y="4558284"/>
              <a:ext cx="312725" cy="402336"/>
              <a:chOff x="9970617" y="4558284"/>
              <a:chExt cx="312725" cy="402336"/>
            </a:xfrm>
          </p:grpSpPr>
          <p:sp>
            <p:nvSpPr>
              <p:cNvPr id="103" name="Approval shield"/>
              <p:cNvSpPr/>
              <p:nvPr/>
            </p:nvSpPr>
            <p:spPr>
              <a:xfrm>
                <a:off x="9970617" y="4558284"/>
                <a:ext cx="312725" cy="402336"/>
              </a:xfrm>
              <a:custGeom>
                <a:avLst/>
                <a:gdLst/>
                <a:ahLst/>
                <a:cxnLst/>
                <a:rect l="l" t="t" r="r" b="b"/>
                <a:pathLst>
                  <a:path w="312725" h="402336">
                    <a:moveTo>
                      <a:pt x="156363" y="0"/>
                    </a:moveTo>
                    <a:lnTo>
                      <a:pt x="312725" y="80467"/>
                    </a:lnTo>
                    <a:lnTo>
                      <a:pt x="284927" y="241401"/>
                    </a:lnTo>
                    <a:lnTo>
                      <a:pt x="225857" y="329915"/>
                    </a:lnTo>
                    <a:lnTo>
                      <a:pt x="156363" y="402336"/>
                    </a:lnTo>
                    <a:lnTo>
                      <a:pt x="86868" y="329915"/>
                    </a:lnTo>
                    <a:lnTo>
                      <a:pt x="27798" y="241401"/>
                    </a:lnTo>
                    <a:lnTo>
                      <a:pt x="0" y="80467"/>
                    </a:lnTo>
                    <a:close/>
                  </a:path>
                </a:pathLst>
              </a:custGeom>
              <a:noFill/>
              <a:ln w="22860">
                <a:solidFill>
                  <a:srgbClr val="FF69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235" name="Shield check left"/>
              <p:cNvCxnSpPr/>
              <p:nvPr/>
            </p:nvCxnSpPr>
            <p:spPr>
              <a:xfrm>
                <a:off x="10050536" y="4751405"/>
                <a:ext cx="52120" cy="60350"/>
              </a:xfrm>
              <a:prstGeom prst="line">
                <a:avLst/>
              </a:prstGeom>
              <a:ln w="25400" cap="rnd">
                <a:solidFill>
                  <a:srgbClr val="FF6900"/>
                </a:solidFill>
              </a:ln>
              <a:effectLst/>
            </p:spPr>
            <p:style>
              <a:lnRef idx="2">
                <a:schemeClr val="accent1"/>
              </a:lnRef>
              <a:fillRef idx="0">
                <a:schemeClr val="accent1"/>
              </a:fillRef>
              <a:effectRef idx="0">
                <a:schemeClr val="accent1"/>
              </a:effectRef>
              <a:fontRef idx="minor">
                <a:schemeClr val="tx1"/>
              </a:fontRef>
            </p:style>
          </p:cxnSp>
          <p:cxnSp>
            <p:nvCxnSpPr>
              <p:cNvPr id="236" name="Shield check right"/>
              <p:cNvCxnSpPr/>
              <p:nvPr/>
            </p:nvCxnSpPr>
            <p:spPr>
              <a:xfrm flipV="1">
                <a:off x="10102656" y="4687031"/>
                <a:ext cx="107717" cy="124724"/>
              </a:xfrm>
              <a:prstGeom prst="line">
                <a:avLst/>
              </a:prstGeom>
              <a:ln w="25400" cap="rnd">
                <a:solidFill>
                  <a:srgbClr val="FF6900"/>
                </a:solidFill>
              </a:ln>
              <a:effectLst/>
            </p:spPr>
            <p:style>
              <a:lnRef idx="2">
                <a:schemeClr val="accent1"/>
              </a:lnRef>
              <a:fillRef idx="0">
                <a:schemeClr val="accent1"/>
              </a:fillRef>
              <a:effectRef idx="0">
                <a:schemeClr val="accent1"/>
              </a:effectRef>
              <a:fontRef idx="minor">
                <a:schemeClr val="tx1"/>
              </a:fontRef>
            </p:style>
          </p:cxnSp>
        </p:grpSp>
        <p:sp>
          <p:nvSpPr>
            <p:cNvPr id="237" name="Approval assurance"/>
            <p:cNvSpPr txBox="1"/>
            <p:nvPr/>
          </p:nvSpPr>
          <p:spPr>
            <a:xfrm>
              <a:off x="10405872" y="4526280"/>
              <a:ext cx="1289304" cy="676656"/>
            </a:xfrm>
            <a:prstGeom prst="rect">
              <a:avLst/>
            </a:prstGeom>
            <a:noFill/>
            <a:effectLst/>
          </p:spPr>
          <p:txBody>
            <a:bodyPr wrap="square" lIns="0" tIns="0" rIns="0" bIns="0" anchor="t">
              <a:spAutoFit/>
            </a:bodyPr>
            <a:lstStyle/>
            <a:p>
              <a:pPr algn="l">
                <a:lnSpc>
                  <a:spcPct val="106000"/>
                </a:lnSpc>
                <a:spcBef>
                  <a:spcPts val="0"/>
                </a:spcBef>
                <a:spcAft>
                  <a:spcPts val="0"/>
                </a:spcAft>
              </a:pPr>
              <a:r>
                <a:rPr sz="1210" b="1" i="0">
                  <a:solidFill>
                    <a:srgbClr val="1D2357"/>
                  </a:solidFill>
                  <a:latin typeface="Arial"/>
                </a:rPr>
                <a:t>Administrators</a:t>
              </a:r>
            </a:p>
            <a:p>
              <a:pPr algn="l">
                <a:lnSpc>
                  <a:spcPct val="106000"/>
                </a:lnSpc>
                <a:spcBef>
                  <a:spcPts val="0"/>
                </a:spcBef>
                <a:spcAft>
                  <a:spcPts val="0"/>
                </a:spcAft>
              </a:pPr>
              <a:r>
                <a:rPr sz="1210" b="1" i="0">
                  <a:solidFill>
                    <a:srgbClr val="1D2357"/>
                  </a:solidFill>
                  <a:latin typeface="Arial"/>
                </a:rPr>
                <a:t>retain every</a:t>
              </a:r>
            </a:p>
            <a:p>
              <a:pPr algn="l">
                <a:lnSpc>
                  <a:spcPct val="106000"/>
                </a:lnSpc>
                <a:spcBef>
                  <a:spcPts val="0"/>
                </a:spcBef>
                <a:spcAft>
                  <a:spcPts val="0"/>
                </a:spcAft>
              </a:pPr>
              <a:r>
                <a:rPr sz="1210" b="1" i="0">
                  <a:solidFill>
                    <a:srgbClr val="1D2357"/>
                  </a:solidFill>
                  <a:latin typeface="Arial"/>
                </a:rPr>
                <a:t>final approval.</a:t>
              </a:r>
            </a:p>
          </p:txBody>
        </p:sp>
        <p:cxnSp>
          <p:nvCxnSpPr>
            <p:cNvPr id="238" name="Callout short divider"/>
            <p:cNvCxnSpPr/>
            <p:nvPr/>
          </p:nvCxnSpPr>
          <p:spPr>
            <a:xfrm>
              <a:off x="9989820" y="5266944"/>
              <a:ext cx="278892" cy="0"/>
            </a:xfrm>
            <a:prstGeom prst="line">
              <a:avLst/>
            </a:prstGeom>
            <a:ln w="10160" cap="rnd">
              <a:solidFill>
                <a:srgbClr val="9CABBE"/>
              </a:solidFill>
            </a:ln>
            <a:effectLst/>
          </p:spPr>
          <p:style>
            <a:lnRef idx="2">
              <a:schemeClr val="accent1"/>
            </a:lnRef>
            <a:fillRef idx="0">
              <a:schemeClr val="accent1"/>
            </a:fillRef>
            <a:effectRef idx="0">
              <a:schemeClr val="accent1"/>
            </a:effectRef>
            <a:fontRef idx="minor">
              <a:schemeClr val="tx1"/>
            </a:fontRef>
          </p:style>
        </p:cxnSp>
        <p:sp>
          <p:nvSpPr>
            <p:cNvPr id="239" name="Platform support statement"/>
            <p:cNvSpPr txBox="1"/>
            <p:nvPr/>
          </p:nvSpPr>
          <p:spPr>
            <a:xfrm>
              <a:off x="9989820" y="5422392"/>
              <a:ext cx="1645920" cy="630936"/>
            </a:xfrm>
            <a:prstGeom prst="rect">
              <a:avLst/>
            </a:prstGeom>
            <a:noFill/>
            <a:effectLst/>
          </p:spPr>
          <p:txBody>
            <a:bodyPr wrap="square" lIns="0" tIns="0" rIns="0" bIns="0" anchor="t">
              <a:spAutoFit/>
            </a:bodyPr>
            <a:lstStyle/>
            <a:p>
              <a:pPr algn="l">
                <a:lnSpc>
                  <a:spcPct val="105000"/>
                </a:lnSpc>
                <a:spcBef>
                  <a:spcPts val="0"/>
                </a:spcBef>
                <a:spcAft>
                  <a:spcPts val="0"/>
                </a:spcAft>
              </a:pPr>
              <a:r>
                <a:rPr sz="1140" b="0" i="0">
                  <a:solidFill>
                    <a:srgbClr val="627795"/>
                  </a:solidFill>
                  <a:latin typeface="Arial"/>
                </a:rPr>
                <a:t>The platform supports coordination and preliminary processing.</a:t>
              </a:r>
            </a:p>
          </p:txBody>
        </p:sp>
      </p:grpSp>
      <p:sp>
        <p:nvSpPr>
          <p:cNvPr id="105" name="TextBox 104">
            <a:extLst>
              <a:ext uri="{FF2B5EF4-FFF2-40B4-BE49-F238E27FC236}">
                <a16:creationId xmlns:a16="http://schemas.microsoft.com/office/drawing/2014/main" id="{62EF361D-7F5C-BD03-2778-D12A8FD834EC}"/>
              </a:ext>
            </a:extLst>
          </p:cNvPr>
          <p:cNvSpPr txBox="1"/>
          <p:nvPr/>
        </p:nvSpPr>
        <p:spPr>
          <a:xfrm>
            <a:off x="5978856" y="5951137"/>
            <a:ext cx="1687983" cy="338554"/>
          </a:xfrm>
          <a:prstGeom prst="rect">
            <a:avLst/>
          </a:prstGeom>
          <a:noFill/>
        </p:spPr>
        <p:txBody>
          <a:bodyPr wrap="square">
            <a:spAutoFit/>
          </a:bodyPr>
          <a:lstStyle/>
          <a:p>
            <a:pPr algn="just"/>
            <a:r>
              <a:rPr lang="en-PK" sz="800" dirty="0" smtClean="0">
                <a:solidFill>
                  <a:srgbClr val="627795"/>
                </a:solidFill>
                <a:latin typeface="Arial"/>
              </a:rPr>
              <a:t>Automate client notifications</a:t>
            </a:r>
            <a:br>
              <a:rPr lang="en-PK" sz="800" dirty="0" smtClean="0">
                <a:solidFill>
                  <a:srgbClr val="627795"/>
                </a:solidFill>
                <a:latin typeface="Arial"/>
              </a:rPr>
            </a:br>
            <a:r>
              <a:rPr lang="en-PK" sz="800" dirty="0" smtClean="0">
                <a:solidFill>
                  <a:srgbClr val="627795"/>
                </a:solidFill>
                <a:latin typeface="Arial"/>
              </a:rPr>
              <a:t>and track resubmissions</a:t>
            </a:r>
            <a:endParaRPr lang="en-PK" sz="800" dirty="0">
              <a:solidFill>
                <a:srgbClr val="627795"/>
              </a:solidFill>
              <a:latin typeface="Arial"/>
            </a:endParaRPr>
          </a:p>
        </p:txBody>
      </p:sp>
      <p:sp>
        <p:nvSpPr>
          <p:cNvPr id="240" name="Stage label"/>
          <p:cNvSpPr txBox="1"/>
          <p:nvPr/>
        </p:nvSpPr>
        <p:spPr>
          <a:xfrm>
            <a:off x="6072125" y="5403479"/>
            <a:ext cx="1501444" cy="212046"/>
          </a:xfrm>
          <a:prstGeom prst="rect">
            <a:avLst/>
          </a:prstGeom>
          <a:noFill/>
          <a:effectLst/>
        </p:spPr>
        <p:txBody>
          <a:bodyPr wrap="square" lIns="0" tIns="0" rIns="0" bIns="0" anchor="t">
            <a:spAutoFit/>
          </a:bodyPr>
          <a:lstStyle/>
          <a:p>
            <a:pPr algn="ctr">
              <a:lnSpc>
                <a:spcPct val="105000"/>
              </a:lnSpc>
              <a:spcBef>
                <a:spcPts val="0"/>
              </a:spcBef>
              <a:spcAft>
                <a:spcPts val="0"/>
              </a:spcAft>
            </a:pPr>
            <a:r>
              <a:rPr lang="en-US" sz="1410" b="1" i="0" dirty="0" smtClean="0">
                <a:solidFill>
                  <a:srgbClr val="1D2357"/>
                </a:solidFill>
                <a:latin typeface="Arial"/>
              </a:rPr>
              <a:t>Follow Up </a:t>
            </a:r>
            <a:endParaRPr sz="1410" b="1" i="0" dirty="0">
              <a:solidFill>
                <a:srgbClr val="1D2357"/>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93192" y="210312"/>
            <a:ext cx="4023360" cy="201168"/>
          </a:xfrm>
          <a:prstGeom prst="rect">
            <a:avLst/>
          </a:prstGeom>
          <a:noFill/>
          <a:ln/>
        </p:spPr>
        <p:txBody>
          <a:bodyPr wrap="square" lIns="0" tIns="0" rIns="0" bIns="0" rtlCol="0" anchor="t">
            <a:normAutofit/>
          </a:bodyPr>
          <a:lstStyle/>
          <a:p>
            <a:pPr marL="0" indent="0">
              <a:buNone/>
            </a:pPr>
            <a:r>
              <a:rPr lang="en-US" sz="1080" dirty="0">
                <a:solidFill>
                  <a:srgbClr val="8B95AA"/>
                </a:solidFill>
                <a:latin typeface="Arial" pitchFamily="34" charset="0"/>
                <a:ea typeface="Arial" pitchFamily="34" charset="-122"/>
                <a:cs typeface="Arial" pitchFamily="34" charset="-120"/>
              </a:rPr>
              <a:t>Solution and first-release scope</a:t>
            </a:r>
            <a:endParaRPr lang="en-US" sz="1080" dirty="0"/>
          </a:p>
        </p:txBody>
      </p:sp>
      <p:sp>
        <p:nvSpPr>
          <p:cNvPr id="3" name="Shape 1"/>
          <p:cNvSpPr/>
          <p:nvPr/>
        </p:nvSpPr>
        <p:spPr>
          <a:xfrm>
            <a:off x="5010912" y="164592"/>
            <a:ext cx="2176272" cy="0"/>
          </a:xfrm>
          <a:prstGeom prst="line">
            <a:avLst/>
          </a:prstGeom>
          <a:solidFill>
            <a:srgbClr val="FFFFFF">
              <a:alpha val="0"/>
            </a:srgbClr>
          </a:solidFill>
          <a:ln w="11430">
            <a:solidFill>
              <a:srgbClr val="FF6B00"/>
            </a:solidFill>
            <a:prstDash val="solid"/>
          </a:ln>
        </p:spPr>
        <p:txBody>
          <a:bodyPr/>
          <a:lstStyle/>
          <a:p>
            <a:endParaRPr lang="en-PK"/>
          </a:p>
        </p:txBody>
      </p:sp>
      <p:sp>
        <p:nvSpPr>
          <p:cNvPr id="4" name="Shape 2"/>
          <p:cNvSpPr/>
          <p:nvPr/>
        </p:nvSpPr>
        <p:spPr>
          <a:xfrm>
            <a:off x="5010912" y="420624"/>
            <a:ext cx="2176272" cy="0"/>
          </a:xfrm>
          <a:prstGeom prst="line">
            <a:avLst/>
          </a:prstGeom>
          <a:solidFill>
            <a:srgbClr val="FFFFFF">
              <a:alpha val="0"/>
            </a:srgbClr>
          </a:solidFill>
          <a:ln w="11430">
            <a:solidFill>
              <a:srgbClr val="FF6B00"/>
            </a:solidFill>
            <a:prstDash val="solid"/>
          </a:ln>
        </p:spPr>
        <p:txBody>
          <a:bodyPr/>
          <a:lstStyle/>
          <a:p>
            <a:endParaRPr lang="en-PK"/>
          </a:p>
        </p:txBody>
      </p:sp>
      <p:sp>
        <p:nvSpPr>
          <p:cNvPr id="5" name="Text 3"/>
          <p:cNvSpPr/>
          <p:nvPr/>
        </p:nvSpPr>
        <p:spPr>
          <a:xfrm>
            <a:off x="5020056" y="244145"/>
            <a:ext cx="2148840" cy="146304"/>
          </a:xfrm>
          <a:prstGeom prst="rect">
            <a:avLst/>
          </a:prstGeom>
          <a:noFill/>
          <a:ln/>
        </p:spPr>
        <p:txBody>
          <a:bodyPr wrap="square" lIns="0" tIns="0" rIns="0" bIns="0" rtlCol="0" anchor="t">
            <a:normAutofit/>
          </a:bodyPr>
          <a:lstStyle/>
          <a:p>
            <a:pPr marL="0" indent="0" algn="ctr">
              <a:buNone/>
            </a:pPr>
            <a:r>
              <a:rPr lang="en-US" sz="920" b="1" dirty="0">
                <a:solidFill>
                  <a:srgbClr val="FF6B00"/>
                </a:solidFill>
                <a:latin typeface="Arial" pitchFamily="34" charset="0"/>
                <a:ea typeface="Arial" pitchFamily="34" charset="-122"/>
                <a:cs typeface="Arial" pitchFamily="34" charset="-120"/>
              </a:rPr>
              <a:t>F O R   D I S C U S S I O N</a:t>
            </a:r>
            <a:endParaRPr lang="en-US" sz="920" dirty="0"/>
          </a:p>
        </p:txBody>
      </p:sp>
      <p:sp>
        <p:nvSpPr>
          <p:cNvPr id="6" name="Text 4"/>
          <p:cNvSpPr/>
          <p:nvPr/>
        </p:nvSpPr>
        <p:spPr>
          <a:xfrm>
            <a:off x="10314432" y="210312"/>
            <a:ext cx="1481328" cy="201168"/>
          </a:xfrm>
          <a:prstGeom prst="rect">
            <a:avLst/>
          </a:prstGeom>
          <a:noFill/>
          <a:ln/>
        </p:spPr>
        <p:txBody>
          <a:bodyPr wrap="square" lIns="0" tIns="0" rIns="0" bIns="0" rtlCol="0" anchor="t">
            <a:normAutofit/>
          </a:bodyPr>
          <a:lstStyle/>
          <a:p>
            <a:pPr marL="0" indent="0" algn="r">
              <a:buNone/>
            </a:pPr>
            <a:r>
              <a:rPr lang="en-US" sz="1150" b="1" dirty="0">
                <a:solidFill>
                  <a:srgbClr val="1C2255"/>
                </a:solidFill>
                <a:latin typeface="Arial" pitchFamily="34" charset="0"/>
                <a:ea typeface="Arial" pitchFamily="34" charset="-122"/>
                <a:cs typeface="Arial" pitchFamily="34" charset="-120"/>
              </a:rPr>
              <a:t>NEELEY LAW</a:t>
            </a:r>
            <a:endParaRPr lang="en-US" sz="1150" dirty="0"/>
          </a:p>
        </p:txBody>
      </p:sp>
      <p:sp>
        <p:nvSpPr>
          <p:cNvPr id="7" name="Text 5"/>
          <p:cNvSpPr/>
          <p:nvPr/>
        </p:nvSpPr>
        <p:spPr>
          <a:xfrm>
            <a:off x="393192" y="658368"/>
            <a:ext cx="11402568" cy="667512"/>
          </a:xfrm>
          <a:prstGeom prst="rect">
            <a:avLst/>
          </a:prstGeom>
          <a:noFill/>
          <a:ln/>
        </p:spPr>
        <p:txBody>
          <a:bodyPr wrap="square" lIns="0" tIns="0" rIns="0" bIns="0" rtlCol="0" anchor="t">
            <a:normAutofit/>
          </a:bodyPr>
          <a:lstStyle/>
          <a:p>
            <a:pPr marL="0" indent="0">
              <a:buNone/>
            </a:pPr>
            <a:r>
              <a:rPr lang="en-US" sz="2650" b="1" dirty="0">
                <a:solidFill>
                  <a:srgbClr val="1C2255"/>
                </a:solidFill>
                <a:latin typeface="Arial" pitchFamily="34" charset="0"/>
                <a:ea typeface="Arial" pitchFamily="34" charset="-122"/>
                <a:cs typeface="Arial" pitchFamily="34" charset="-120"/>
              </a:rPr>
              <a:t>Five connected components support one controlled first release</a:t>
            </a:r>
            <a:endParaRPr lang="en-US" sz="2650" dirty="0"/>
          </a:p>
        </p:txBody>
      </p:sp>
      <p:sp>
        <p:nvSpPr>
          <p:cNvPr id="8" name="Text 6"/>
          <p:cNvSpPr/>
          <p:nvPr/>
        </p:nvSpPr>
        <p:spPr>
          <a:xfrm>
            <a:off x="393192" y="1298448"/>
            <a:ext cx="11292840" cy="274320"/>
          </a:xfrm>
          <a:prstGeom prst="rect">
            <a:avLst/>
          </a:prstGeom>
          <a:noFill/>
          <a:ln/>
        </p:spPr>
        <p:txBody>
          <a:bodyPr wrap="square" lIns="0" tIns="0" rIns="0" bIns="0" rtlCol="0" anchor="t">
            <a:normAutofit/>
          </a:bodyPr>
          <a:lstStyle/>
          <a:p>
            <a:pPr marL="0" indent="0">
              <a:buNone/>
            </a:pPr>
            <a:r>
              <a:rPr lang="en-US" sz="1380" dirty="0">
                <a:solidFill>
                  <a:srgbClr val="687B96"/>
                </a:solidFill>
                <a:latin typeface="Arial" pitchFamily="34" charset="0"/>
                <a:ea typeface="Arial" pitchFamily="34" charset="-122"/>
                <a:cs typeface="Arial" pitchFamily="34" charset="-120"/>
              </a:rPr>
              <a:t>Clients submit online; automated checks prepare the file; administrators review and decide.</a:t>
            </a:r>
            <a:endParaRPr lang="en-US" sz="1380" dirty="0"/>
          </a:p>
        </p:txBody>
      </p:sp>
      <p:sp>
        <p:nvSpPr>
          <p:cNvPr id="9" name="Shape 7"/>
          <p:cNvSpPr/>
          <p:nvPr/>
        </p:nvSpPr>
        <p:spPr>
          <a:xfrm>
            <a:off x="393192" y="1664208"/>
            <a:ext cx="11402568" cy="0"/>
          </a:xfrm>
          <a:prstGeom prst="line">
            <a:avLst/>
          </a:prstGeom>
          <a:solidFill>
            <a:srgbClr val="FFFFFF">
              <a:alpha val="0"/>
            </a:srgbClr>
          </a:solidFill>
          <a:ln w="9525">
            <a:solidFill>
              <a:srgbClr val="CED6E6"/>
            </a:solidFill>
            <a:prstDash val="solid"/>
          </a:ln>
        </p:spPr>
        <p:txBody>
          <a:bodyPr/>
          <a:lstStyle/>
          <a:p>
            <a:endParaRPr lang="en-PK"/>
          </a:p>
        </p:txBody>
      </p:sp>
      <p:sp>
        <p:nvSpPr>
          <p:cNvPr id="11" name="Shape 9"/>
          <p:cNvSpPr/>
          <p:nvPr/>
        </p:nvSpPr>
        <p:spPr>
          <a:xfrm>
            <a:off x="393192" y="6583680"/>
            <a:ext cx="11402568" cy="0"/>
          </a:xfrm>
          <a:prstGeom prst="line">
            <a:avLst/>
          </a:prstGeom>
          <a:solidFill>
            <a:srgbClr val="FFFFFF">
              <a:alpha val="0"/>
            </a:srgbClr>
          </a:solidFill>
          <a:ln w="8255">
            <a:solidFill>
              <a:srgbClr val="CED6E6"/>
            </a:solidFill>
            <a:prstDash val="solid"/>
          </a:ln>
        </p:spPr>
        <p:txBody>
          <a:bodyPr/>
          <a:lstStyle/>
          <a:p>
            <a:endParaRPr lang="en-PK"/>
          </a:p>
        </p:txBody>
      </p:sp>
      <p:sp>
        <p:nvSpPr>
          <p:cNvPr id="12" name="Text 10"/>
          <p:cNvSpPr/>
          <p:nvPr/>
        </p:nvSpPr>
        <p:spPr>
          <a:xfrm>
            <a:off x="393192" y="6647688"/>
            <a:ext cx="3017520" cy="137160"/>
          </a:xfrm>
          <a:prstGeom prst="rect">
            <a:avLst/>
          </a:prstGeom>
          <a:noFill/>
          <a:ln/>
        </p:spPr>
        <p:txBody>
          <a:bodyPr wrap="square" lIns="0" tIns="0" rIns="0" bIns="0" rtlCol="0" anchor="t">
            <a:normAutofit/>
          </a:bodyPr>
          <a:lstStyle/>
          <a:p>
            <a:pPr marL="0" indent="0">
              <a:buNone/>
            </a:pPr>
            <a:r>
              <a:rPr lang="en-US" sz="770" dirty="0">
                <a:solidFill>
                  <a:srgbClr val="8B95AA"/>
                </a:solidFill>
                <a:latin typeface="Arial" pitchFamily="34" charset="0"/>
                <a:ea typeface="Arial" pitchFamily="34" charset="-122"/>
                <a:cs typeface="Arial" pitchFamily="34" charset="-120"/>
              </a:rPr>
              <a:t>Confidential  |  Initial proposal</a:t>
            </a:r>
            <a:endParaRPr lang="en-US" sz="770" dirty="0"/>
          </a:p>
        </p:txBody>
      </p:sp>
      <p:sp>
        <p:nvSpPr>
          <p:cNvPr id="13" name="Text 11"/>
          <p:cNvSpPr/>
          <p:nvPr/>
        </p:nvSpPr>
        <p:spPr>
          <a:xfrm>
            <a:off x="3730752" y="6647688"/>
            <a:ext cx="4937760" cy="137160"/>
          </a:xfrm>
          <a:prstGeom prst="rect">
            <a:avLst/>
          </a:prstGeom>
          <a:noFill/>
          <a:ln/>
        </p:spPr>
        <p:txBody>
          <a:bodyPr wrap="square" lIns="0" tIns="0" rIns="0" bIns="0" rtlCol="0" anchor="t">
            <a:normAutofit/>
          </a:bodyPr>
          <a:lstStyle/>
          <a:p>
            <a:pPr marL="0" indent="0" algn="ctr">
              <a:buNone/>
            </a:pPr>
            <a:r>
              <a:rPr lang="en-US" sz="770" dirty="0">
                <a:solidFill>
                  <a:srgbClr val="8B95AA"/>
                </a:solidFill>
                <a:latin typeface="Arial" pitchFamily="34" charset="0"/>
                <a:ea typeface="Arial" pitchFamily="34" charset="-122"/>
                <a:cs typeface="Arial" pitchFamily="34" charset="-120"/>
              </a:rPr>
              <a:t>[Delivery Partner]  |  Company / presenter placeholder</a:t>
            </a:r>
            <a:endParaRPr lang="en-US" sz="770" dirty="0"/>
          </a:p>
        </p:txBody>
      </p:sp>
      <p:sp>
        <p:nvSpPr>
          <p:cNvPr id="14" name="Text 12"/>
          <p:cNvSpPr/>
          <p:nvPr/>
        </p:nvSpPr>
        <p:spPr>
          <a:xfrm>
            <a:off x="9811512" y="6647688"/>
            <a:ext cx="1417320" cy="137160"/>
          </a:xfrm>
          <a:prstGeom prst="rect">
            <a:avLst/>
          </a:prstGeom>
          <a:noFill/>
          <a:ln/>
        </p:spPr>
        <p:txBody>
          <a:bodyPr wrap="square" lIns="0" tIns="0" rIns="0" bIns="0" rtlCol="0" anchor="t">
            <a:normAutofit/>
          </a:bodyPr>
          <a:lstStyle/>
          <a:p>
            <a:pPr marL="0" indent="0" algn="r">
              <a:buNone/>
            </a:pPr>
            <a:r>
              <a:rPr lang="en-US" sz="770" dirty="0" smtClean="0">
                <a:solidFill>
                  <a:srgbClr val="8B95AA"/>
                </a:solidFill>
                <a:latin typeface="Arial" pitchFamily="34" charset="0"/>
                <a:ea typeface="Arial" pitchFamily="34" charset="-122"/>
                <a:cs typeface="Arial" pitchFamily="34" charset="-120"/>
              </a:rPr>
              <a:t>September </a:t>
            </a:r>
            <a:r>
              <a:rPr lang="en-US" sz="770" dirty="0">
                <a:solidFill>
                  <a:srgbClr val="8B95AA"/>
                </a:solidFill>
                <a:latin typeface="Arial" pitchFamily="34" charset="0"/>
                <a:ea typeface="Arial" pitchFamily="34" charset="-122"/>
                <a:cs typeface="Arial" pitchFamily="34" charset="-120"/>
              </a:rPr>
              <a:t>2026</a:t>
            </a:r>
            <a:endParaRPr lang="en-US" sz="770" dirty="0"/>
          </a:p>
        </p:txBody>
      </p:sp>
      <p:sp>
        <p:nvSpPr>
          <p:cNvPr id="15" name="Shape 13"/>
          <p:cNvSpPr/>
          <p:nvPr/>
        </p:nvSpPr>
        <p:spPr>
          <a:xfrm>
            <a:off x="11430000" y="6629400"/>
            <a:ext cx="0" cy="173736"/>
          </a:xfrm>
          <a:prstGeom prst="line">
            <a:avLst/>
          </a:prstGeom>
          <a:solidFill>
            <a:srgbClr val="FFFFFF">
              <a:alpha val="0"/>
            </a:srgbClr>
          </a:solidFill>
          <a:ln w="8255">
            <a:solidFill>
              <a:srgbClr val="CED6E6"/>
            </a:solidFill>
            <a:prstDash val="solid"/>
          </a:ln>
        </p:spPr>
        <p:txBody>
          <a:bodyPr/>
          <a:lstStyle/>
          <a:p>
            <a:endParaRPr lang="en-PK"/>
          </a:p>
        </p:txBody>
      </p:sp>
      <p:sp>
        <p:nvSpPr>
          <p:cNvPr id="16" name="Text 14"/>
          <p:cNvSpPr/>
          <p:nvPr/>
        </p:nvSpPr>
        <p:spPr>
          <a:xfrm>
            <a:off x="11576304" y="6647688"/>
            <a:ext cx="219456" cy="137160"/>
          </a:xfrm>
          <a:prstGeom prst="rect">
            <a:avLst/>
          </a:prstGeom>
          <a:noFill/>
          <a:ln/>
        </p:spPr>
        <p:txBody>
          <a:bodyPr wrap="square" lIns="0" tIns="0" rIns="0" bIns="0" rtlCol="0" anchor="t">
            <a:normAutofit/>
          </a:bodyPr>
          <a:lstStyle/>
          <a:p>
            <a:pPr marL="0" indent="0" algn="r">
              <a:buNone/>
            </a:pPr>
            <a:r>
              <a:rPr lang="en-US" sz="770" dirty="0">
                <a:solidFill>
                  <a:srgbClr val="8B95AA"/>
                </a:solidFill>
                <a:latin typeface="Arial" pitchFamily="34" charset="0"/>
                <a:ea typeface="Arial" pitchFamily="34" charset="-122"/>
                <a:cs typeface="Arial" pitchFamily="34" charset="-120"/>
              </a:rPr>
              <a:t>2</a:t>
            </a:r>
            <a:endParaRPr lang="en-US" sz="770" dirty="0"/>
          </a:p>
        </p:txBody>
      </p:sp>
      <p:sp>
        <p:nvSpPr>
          <p:cNvPr id="17" name="Shape 15"/>
          <p:cNvSpPr/>
          <p:nvPr/>
        </p:nvSpPr>
        <p:spPr>
          <a:xfrm>
            <a:off x="393192" y="2011680"/>
            <a:ext cx="2779776" cy="2871216"/>
          </a:xfrm>
          <a:prstGeom prst="roundRect">
            <a:avLst>
              <a:gd name="adj" fmla="val 2632"/>
            </a:avLst>
          </a:prstGeom>
          <a:solidFill>
            <a:srgbClr val="F2F5FA"/>
          </a:solidFill>
          <a:ln w="12700">
            <a:solidFill>
              <a:srgbClr val="F2F5FA">
                <a:alpha val="0"/>
              </a:srgbClr>
            </a:solidFill>
            <a:prstDash val="solid"/>
          </a:ln>
        </p:spPr>
        <p:txBody>
          <a:bodyPr/>
          <a:lstStyle/>
          <a:p>
            <a:endParaRPr lang="en-PK"/>
          </a:p>
        </p:txBody>
      </p:sp>
      <p:sp>
        <p:nvSpPr>
          <p:cNvPr id="18" name="Shape 16"/>
          <p:cNvSpPr/>
          <p:nvPr/>
        </p:nvSpPr>
        <p:spPr>
          <a:xfrm>
            <a:off x="393192" y="2011680"/>
            <a:ext cx="2779776" cy="402336"/>
          </a:xfrm>
          <a:prstGeom prst="rect">
            <a:avLst/>
          </a:prstGeom>
          <a:solidFill>
            <a:srgbClr val="1C2255"/>
          </a:solidFill>
          <a:ln w="12700">
            <a:solidFill>
              <a:srgbClr val="1C2255">
                <a:alpha val="0"/>
              </a:srgbClr>
            </a:solidFill>
            <a:prstDash val="solid"/>
          </a:ln>
        </p:spPr>
        <p:txBody>
          <a:bodyPr/>
          <a:lstStyle/>
          <a:p>
            <a:endParaRPr lang="en-PK"/>
          </a:p>
        </p:txBody>
      </p:sp>
      <p:sp>
        <p:nvSpPr>
          <p:cNvPr id="19" name="Text 17"/>
          <p:cNvSpPr/>
          <p:nvPr/>
        </p:nvSpPr>
        <p:spPr>
          <a:xfrm>
            <a:off x="557784" y="2112264"/>
            <a:ext cx="2450592" cy="219456"/>
          </a:xfrm>
          <a:prstGeom prst="rect">
            <a:avLst/>
          </a:prstGeom>
          <a:noFill/>
          <a:ln/>
        </p:spPr>
        <p:txBody>
          <a:bodyPr wrap="square" lIns="0" tIns="0" rIns="0" bIns="0" rtlCol="0" anchor="t">
            <a:normAutofit/>
          </a:bodyPr>
          <a:lstStyle/>
          <a:p>
            <a:pPr marL="0" indent="0">
              <a:buNone/>
            </a:pPr>
            <a:r>
              <a:rPr lang="en-US" sz="1250" b="1" dirty="0">
                <a:solidFill>
                  <a:srgbClr val="FFFFFF"/>
                </a:solidFill>
                <a:latin typeface="Arial" pitchFamily="34" charset="0"/>
                <a:ea typeface="Arial" pitchFamily="34" charset="-122"/>
                <a:cs typeface="Arial" pitchFamily="34" charset="-120"/>
              </a:rPr>
              <a:t>1  CLIENT INTERFACE</a:t>
            </a:r>
            <a:endParaRPr lang="en-US" sz="1250" dirty="0"/>
          </a:p>
        </p:txBody>
      </p:sp>
      <p:sp>
        <p:nvSpPr>
          <p:cNvPr id="20" name="Shape 18"/>
          <p:cNvSpPr/>
          <p:nvPr/>
        </p:nvSpPr>
        <p:spPr>
          <a:xfrm>
            <a:off x="585216" y="2679192"/>
            <a:ext cx="786384" cy="786384"/>
          </a:xfrm>
          <a:prstGeom prst="ellipse">
            <a:avLst/>
          </a:prstGeom>
          <a:solidFill>
            <a:srgbClr val="E9F0FB"/>
          </a:solidFill>
          <a:ln w="12700">
            <a:solidFill>
              <a:srgbClr val="E9F0FB">
                <a:alpha val="0"/>
              </a:srgbClr>
            </a:solidFill>
            <a:prstDash val="solid"/>
          </a:ln>
        </p:spPr>
        <p:txBody>
          <a:bodyPr/>
          <a:lstStyle/>
          <a:p>
            <a:endParaRPr lang="en-PK"/>
          </a:p>
        </p:txBody>
      </p:sp>
      <p:sp>
        <p:nvSpPr>
          <p:cNvPr id="21" name="Shape 19"/>
          <p:cNvSpPr/>
          <p:nvPr/>
        </p:nvSpPr>
        <p:spPr>
          <a:xfrm>
            <a:off x="816020" y="2835682"/>
            <a:ext cx="306690" cy="439589"/>
          </a:xfrm>
          <a:prstGeom prst="rect">
            <a:avLst/>
          </a:prstGeom>
          <a:solidFill>
            <a:srgbClr val="FFFFFF"/>
          </a:solidFill>
          <a:ln w="8255">
            <a:solidFill>
              <a:srgbClr val="1C2255"/>
            </a:solidFill>
            <a:prstDash val="solid"/>
          </a:ln>
        </p:spPr>
        <p:txBody>
          <a:bodyPr/>
          <a:lstStyle/>
          <a:p>
            <a:endParaRPr lang="en-PK"/>
          </a:p>
        </p:txBody>
      </p:sp>
      <p:sp>
        <p:nvSpPr>
          <p:cNvPr id="22" name="Shape 20"/>
          <p:cNvSpPr/>
          <p:nvPr/>
        </p:nvSpPr>
        <p:spPr>
          <a:xfrm>
            <a:off x="1025591" y="2835682"/>
            <a:ext cx="0" cy="102230"/>
          </a:xfrm>
          <a:prstGeom prst="line">
            <a:avLst/>
          </a:prstGeom>
          <a:solidFill>
            <a:srgbClr val="FFFFFF">
              <a:alpha val="0"/>
            </a:srgbClr>
          </a:solidFill>
          <a:ln w="21590">
            <a:solidFill>
              <a:srgbClr val="1C2255"/>
            </a:solidFill>
            <a:prstDash val="solid"/>
          </a:ln>
        </p:spPr>
        <p:txBody>
          <a:bodyPr/>
          <a:lstStyle/>
          <a:p>
            <a:endParaRPr lang="en-PK"/>
          </a:p>
        </p:txBody>
      </p:sp>
      <p:sp>
        <p:nvSpPr>
          <p:cNvPr id="23" name="Shape 21"/>
          <p:cNvSpPr/>
          <p:nvPr/>
        </p:nvSpPr>
        <p:spPr>
          <a:xfrm>
            <a:off x="1025591" y="2937912"/>
            <a:ext cx="97118" cy="0"/>
          </a:xfrm>
          <a:prstGeom prst="line">
            <a:avLst/>
          </a:prstGeom>
          <a:solidFill>
            <a:srgbClr val="FFFFFF">
              <a:alpha val="0"/>
            </a:srgbClr>
          </a:solidFill>
          <a:ln w="21590">
            <a:solidFill>
              <a:srgbClr val="1C2255"/>
            </a:solidFill>
            <a:prstDash val="solid"/>
          </a:ln>
        </p:spPr>
        <p:txBody>
          <a:bodyPr/>
          <a:lstStyle/>
          <a:p>
            <a:endParaRPr lang="en-PK"/>
          </a:p>
        </p:txBody>
      </p:sp>
      <p:sp>
        <p:nvSpPr>
          <p:cNvPr id="24" name="Shape 22"/>
          <p:cNvSpPr/>
          <p:nvPr/>
        </p:nvSpPr>
        <p:spPr>
          <a:xfrm>
            <a:off x="1025591" y="2835682"/>
            <a:ext cx="97118" cy="102230"/>
          </a:xfrm>
          <a:prstGeom prst="line">
            <a:avLst/>
          </a:prstGeom>
          <a:solidFill>
            <a:srgbClr val="FFFFFF">
              <a:alpha val="0"/>
            </a:srgbClr>
          </a:solidFill>
          <a:ln w="21590">
            <a:solidFill>
              <a:srgbClr val="1C2255"/>
            </a:solidFill>
            <a:prstDash val="solid"/>
          </a:ln>
        </p:spPr>
        <p:txBody>
          <a:bodyPr/>
          <a:lstStyle/>
          <a:p>
            <a:endParaRPr lang="en-PK"/>
          </a:p>
        </p:txBody>
      </p:sp>
      <p:sp>
        <p:nvSpPr>
          <p:cNvPr id="25" name="Shape 23"/>
          <p:cNvSpPr/>
          <p:nvPr/>
        </p:nvSpPr>
        <p:spPr>
          <a:xfrm>
            <a:off x="872246" y="2999250"/>
            <a:ext cx="184014" cy="0"/>
          </a:xfrm>
          <a:prstGeom prst="line">
            <a:avLst/>
          </a:prstGeom>
          <a:solidFill>
            <a:srgbClr val="FFFFFF">
              <a:alpha val="0"/>
            </a:srgbClr>
          </a:solidFill>
          <a:ln w="21590">
            <a:solidFill>
              <a:srgbClr val="1C2255"/>
            </a:solidFill>
            <a:prstDash val="solid"/>
          </a:ln>
        </p:spPr>
        <p:txBody>
          <a:bodyPr/>
          <a:lstStyle/>
          <a:p>
            <a:endParaRPr lang="en-PK"/>
          </a:p>
        </p:txBody>
      </p:sp>
      <p:sp>
        <p:nvSpPr>
          <p:cNvPr id="26" name="Shape 24"/>
          <p:cNvSpPr/>
          <p:nvPr/>
        </p:nvSpPr>
        <p:spPr>
          <a:xfrm>
            <a:off x="872246" y="3070811"/>
            <a:ext cx="184014" cy="0"/>
          </a:xfrm>
          <a:prstGeom prst="line">
            <a:avLst/>
          </a:prstGeom>
          <a:solidFill>
            <a:srgbClr val="FFFFFF">
              <a:alpha val="0"/>
            </a:srgbClr>
          </a:solidFill>
          <a:ln w="21590">
            <a:solidFill>
              <a:srgbClr val="1C2255"/>
            </a:solidFill>
            <a:prstDash val="solid"/>
          </a:ln>
        </p:spPr>
        <p:txBody>
          <a:bodyPr/>
          <a:lstStyle/>
          <a:p>
            <a:endParaRPr lang="en-PK"/>
          </a:p>
        </p:txBody>
      </p:sp>
      <p:sp>
        <p:nvSpPr>
          <p:cNvPr id="27" name="Shape 25"/>
          <p:cNvSpPr/>
          <p:nvPr/>
        </p:nvSpPr>
        <p:spPr>
          <a:xfrm>
            <a:off x="872246" y="3142372"/>
            <a:ext cx="122676" cy="0"/>
          </a:xfrm>
          <a:prstGeom prst="line">
            <a:avLst/>
          </a:prstGeom>
          <a:solidFill>
            <a:srgbClr val="FFFFFF">
              <a:alpha val="0"/>
            </a:srgbClr>
          </a:solidFill>
          <a:ln w="21590">
            <a:solidFill>
              <a:srgbClr val="1C2255"/>
            </a:solidFill>
            <a:prstDash val="solid"/>
          </a:ln>
        </p:spPr>
        <p:txBody>
          <a:bodyPr/>
          <a:lstStyle/>
          <a:p>
            <a:endParaRPr lang="en-PK"/>
          </a:p>
        </p:txBody>
      </p:sp>
      <p:sp>
        <p:nvSpPr>
          <p:cNvPr id="28" name="Shape 26"/>
          <p:cNvSpPr/>
          <p:nvPr/>
        </p:nvSpPr>
        <p:spPr>
          <a:xfrm>
            <a:off x="989811" y="3101480"/>
            <a:ext cx="230017" cy="214683"/>
          </a:xfrm>
          <a:prstGeom prst="rect">
            <a:avLst/>
          </a:prstGeom>
          <a:solidFill>
            <a:srgbClr val="E9F0FB"/>
          </a:solidFill>
          <a:ln w="12700">
            <a:solidFill>
              <a:srgbClr val="E9F0FB">
                <a:alpha val="0"/>
              </a:srgbClr>
            </a:solidFill>
            <a:prstDash val="solid"/>
          </a:ln>
        </p:spPr>
        <p:txBody>
          <a:bodyPr/>
          <a:lstStyle/>
          <a:p>
            <a:endParaRPr lang="en-PK"/>
          </a:p>
        </p:txBody>
      </p:sp>
      <p:sp>
        <p:nvSpPr>
          <p:cNvPr id="29" name="Shape 27"/>
          <p:cNvSpPr/>
          <p:nvPr/>
        </p:nvSpPr>
        <p:spPr>
          <a:xfrm flipV="1">
            <a:off x="1102263" y="3132149"/>
            <a:ext cx="0" cy="148233"/>
          </a:xfrm>
          <a:prstGeom prst="line">
            <a:avLst/>
          </a:prstGeom>
          <a:solidFill>
            <a:srgbClr val="FFFFFF">
              <a:alpha val="0"/>
            </a:srgbClr>
          </a:solidFill>
          <a:ln w="25400">
            <a:solidFill>
              <a:srgbClr val="1C2255"/>
            </a:solidFill>
            <a:prstDash val="solid"/>
          </a:ln>
        </p:spPr>
        <p:txBody>
          <a:bodyPr/>
          <a:lstStyle/>
          <a:p>
            <a:endParaRPr lang="en-PK"/>
          </a:p>
        </p:txBody>
      </p:sp>
      <p:sp>
        <p:nvSpPr>
          <p:cNvPr id="30" name="Shape 28"/>
          <p:cNvSpPr/>
          <p:nvPr/>
        </p:nvSpPr>
        <p:spPr>
          <a:xfrm flipV="1">
            <a:off x="1030703" y="3132149"/>
            <a:ext cx="71561" cy="71561"/>
          </a:xfrm>
          <a:prstGeom prst="line">
            <a:avLst/>
          </a:prstGeom>
          <a:solidFill>
            <a:srgbClr val="FFFFFF">
              <a:alpha val="0"/>
            </a:srgbClr>
          </a:solidFill>
          <a:ln w="25400">
            <a:solidFill>
              <a:srgbClr val="1C2255"/>
            </a:solidFill>
            <a:prstDash val="solid"/>
          </a:ln>
        </p:spPr>
        <p:txBody>
          <a:bodyPr/>
          <a:lstStyle/>
          <a:p>
            <a:endParaRPr lang="en-PK"/>
          </a:p>
        </p:txBody>
      </p:sp>
      <p:sp>
        <p:nvSpPr>
          <p:cNvPr id="31" name="Shape 29"/>
          <p:cNvSpPr/>
          <p:nvPr/>
        </p:nvSpPr>
        <p:spPr>
          <a:xfrm>
            <a:off x="1102263" y="3132149"/>
            <a:ext cx="71561" cy="71561"/>
          </a:xfrm>
          <a:prstGeom prst="line">
            <a:avLst/>
          </a:prstGeom>
          <a:solidFill>
            <a:srgbClr val="FFFFFF">
              <a:alpha val="0"/>
            </a:srgbClr>
          </a:solidFill>
          <a:ln w="25400">
            <a:solidFill>
              <a:srgbClr val="1C2255"/>
            </a:solidFill>
            <a:prstDash val="solid"/>
          </a:ln>
        </p:spPr>
        <p:txBody>
          <a:bodyPr/>
          <a:lstStyle/>
          <a:p>
            <a:endParaRPr lang="en-PK"/>
          </a:p>
        </p:txBody>
      </p:sp>
      <p:sp>
        <p:nvSpPr>
          <p:cNvPr id="32" name="Text 30"/>
          <p:cNvSpPr/>
          <p:nvPr/>
        </p:nvSpPr>
        <p:spPr>
          <a:xfrm>
            <a:off x="1536192" y="2679192"/>
            <a:ext cx="1435608" cy="640080"/>
          </a:xfrm>
          <a:prstGeom prst="rect">
            <a:avLst/>
          </a:prstGeom>
          <a:noFill/>
          <a:ln/>
        </p:spPr>
        <p:txBody>
          <a:bodyPr wrap="square" lIns="0" tIns="0" rIns="0" bIns="0" rtlCol="0" anchor="t">
            <a:normAutofit fontScale="92500" lnSpcReduction="20000"/>
          </a:bodyPr>
          <a:lstStyle/>
          <a:p>
            <a:pPr marL="0" indent="0">
              <a:buNone/>
            </a:pPr>
            <a:r>
              <a:rPr lang="en-US" sz="1700" b="1" dirty="0">
                <a:solidFill>
                  <a:srgbClr val="1C2255"/>
                </a:solidFill>
                <a:latin typeface="Arial" pitchFamily="34" charset="0"/>
                <a:ea typeface="Arial" pitchFamily="34" charset="-122"/>
                <a:cs typeface="Arial" pitchFamily="34" charset="-120"/>
              </a:rPr>
              <a:t>A clear submission path</a:t>
            </a:r>
            <a:endParaRPr lang="en-US" sz="1700" dirty="0"/>
          </a:p>
        </p:txBody>
      </p:sp>
      <p:sp>
        <p:nvSpPr>
          <p:cNvPr id="33" name="Shape 31"/>
          <p:cNvSpPr/>
          <p:nvPr/>
        </p:nvSpPr>
        <p:spPr>
          <a:xfrm>
            <a:off x="612648" y="3675888"/>
            <a:ext cx="50292" cy="50292"/>
          </a:xfrm>
          <a:prstGeom prst="ellipse">
            <a:avLst/>
          </a:prstGeom>
          <a:solidFill>
            <a:srgbClr val="364BAD"/>
          </a:solidFill>
          <a:ln w="12700">
            <a:solidFill>
              <a:srgbClr val="364BAD">
                <a:alpha val="0"/>
              </a:srgbClr>
            </a:solidFill>
            <a:prstDash val="solid"/>
          </a:ln>
        </p:spPr>
        <p:txBody>
          <a:bodyPr/>
          <a:lstStyle/>
          <a:p>
            <a:endParaRPr lang="en-PK"/>
          </a:p>
        </p:txBody>
      </p:sp>
      <p:sp>
        <p:nvSpPr>
          <p:cNvPr id="34" name="Text 32"/>
          <p:cNvSpPr/>
          <p:nvPr/>
        </p:nvSpPr>
        <p:spPr>
          <a:xfrm>
            <a:off x="758952" y="3639312"/>
            <a:ext cx="2185416" cy="237744"/>
          </a:xfrm>
          <a:prstGeom prst="rect">
            <a:avLst/>
          </a:prstGeom>
          <a:noFill/>
          <a:ln/>
        </p:spPr>
        <p:txBody>
          <a:bodyPr wrap="square" lIns="0" tIns="0" rIns="0" bIns="0" rtlCol="0" anchor="t">
            <a:noAutofit/>
          </a:bodyPr>
          <a:lstStyle/>
          <a:p>
            <a:pPr marL="0" indent="0">
              <a:buNone/>
            </a:pPr>
            <a:r>
              <a:rPr lang="en-US" sz="1200" dirty="0">
                <a:solidFill>
                  <a:srgbClr val="1C2255"/>
                </a:solidFill>
                <a:latin typeface="Arial" pitchFamily="34" charset="0"/>
                <a:ea typeface="Arial" pitchFamily="34" charset="-122"/>
                <a:cs typeface="Arial" pitchFamily="34" charset="-120"/>
              </a:rPr>
              <a:t>Checklist and document status</a:t>
            </a:r>
            <a:endParaRPr lang="en-US" sz="1200" dirty="0"/>
          </a:p>
        </p:txBody>
      </p:sp>
      <p:sp>
        <p:nvSpPr>
          <p:cNvPr id="35" name="Shape 33"/>
          <p:cNvSpPr/>
          <p:nvPr/>
        </p:nvSpPr>
        <p:spPr>
          <a:xfrm>
            <a:off x="612648" y="3995928"/>
            <a:ext cx="50292" cy="50292"/>
          </a:xfrm>
          <a:prstGeom prst="ellipse">
            <a:avLst/>
          </a:prstGeom>
          <a:solidFill>
            <a:srgbClr val="364BAD"/>
          </a:solidFill>
          <a:ln w="12700">
            <a:solidFill>
              <a:srgbClr val="364BAD">
                <a:alpha val="0"/>
              </a:srgbClr>
            </a:solidFill>
            <a:prstDash val="solid"/>
          </a:ln>
        </p:spPr>
        <p:txBody>
          <a:bodyPr/>
          <a:lstStyle/>
          <a:p>
            <a:endParaRPr lang="en-PK"/>
          </a:p>
        </p:txBody>
      </p:sp>
      <p:sp>
        <p:nvSpPr>
          <p:cNvPr id="36" name="Text 34"/>
          <p:cNvSpPr/>
          <p:nvPr/>
        </p:nvSpPr>
        <p:spPr>
          <a:xfrm>
            <a:off x="758952" y="3959352"/>
            <a:ext cx="2185416" cy="237744"/>
          </a:xfrm>
          <a:prstGeom prst="rect">
            <a:avLst/>
          </a:prstGeom>
          <a:noFill/>
          <a:ln/>
        </p:spPr>
        <p:txBody>
          <a:bodyPr wrap="square" lIns="0" tIns="0" rIns="0" bIns="0" rtlCol="0" anchor="t">
            <a:normAutofit/>
          </a:bodyPr>
          <a:lstStyle/>
          <a:p>
            <a:pPr marL="0" indent="0">
              <a:buNone/>
            </a:pPr>
            <a:r>
              <a:rPr lang="en-US" sz="1290" dirty="0">
                <a:solidFill>
                  <a:srgbClr val="1C2255"/>
                </a:solidFill>
                <a:latin typeface="Arial" pitchFamily="34" charset="0"/>
                <a:ea typeface="Arial" pitchFamily="34" charset="-122"/>
                <a:cs typeface="Arial" pitchFamily="34" charset="-120"/>
              </a:rPr>
              <a:t>Multi-file upload</a:t>
            </a:r>
            <a:endParaRPr lang="en-US" sz="1290" dirty="0"/>
          </a:p>
        </p:txBody>
      </p:sp>
      <p:sp>
        <p:nvSpPr>
          <p:cNvPr id="37" name="Shape 35"/>
          <p:cNvSpPr/>
          <p:nvPr/>
        </p:nvSpPr>
        <p:spPr>
          <a:xfrm>
            <a:off x="612648" y="4315968"/>
            <a:ext cx="50292" cy="50292"/>
          </a:xfrm>
          <a:prstGeom prst="ellipse">
            <a:avLst/>
          </a:prstGeom>
          <a:solidFill>
            <a:srgbClr val="364BAD"/>
          </a:solidFill>
          <a:ln w="12700">
            <a:solidFill>
              <a:srgbClr val="364BAD">
                <a:alpha val="0"/>
              </a:srgbClr>
            </a:solidFill>
            <a:prstDash val="solid"/>
          </a:ln>
        </p:spPr>
        <p:txBody>
          <a:bodyPr/>
          <a:lstStyle/>
          <a:p>
            <a:endParaRPr lang="en-PK"/>
          </a:p>
        </p:txBody>
      </p:sp>
      <p:sp>
        <p:nvSpPr>
          <p:cNvPr id="38" name="Text 36"/>
          <p:cNvSpPr/>
          <p:nvPr/>
        </p:nvSpPr>
        <p:spPr>
          <a:xfrm>
            <a:off x="758952" y="4279392"/>
            <a:ext cx="2185416" cy="237744"/>
          </a:xfrm>
          <a:prstGeom prst="rect">
            <a:avLst/>
          </a:prstGeom>
          <a:noFill/>
          <a:ln/>
        </p:spPr>
        <p:txBody>
          <a:bodyPr wrap="square" lIns="0" tIns="0" rIns="0" bIns="0" rtlCol="0" anchor="t">
            <a:normAutofit/>
          </a:bodyPr>
          <a:lstStyle/>
          <a:p>
            <a:pPr marL="0" indent="0">
              <a:buNone/>
            </a:pPr>
            <a:r>
              <a:rPr lang="en-US" sz="1290" dirty="0">
                <a:solidFill>
                  <a:srgbClr val="1C2255"/>
                </a:solidFill>
                <a:latin typeface="Arial" pitchFamily="34" charset="0"/>
                <a:ea typeface="Arial" pitchFamily="34" charset="-122"/>
                <a:cs typeface="Arial" pitchFamily="34" charset="-120"/>
              </a:rPr>
              <a:t>Corrections and resubmission</a:t>
            </a:r>
            <a:endParaRPr lang="en-US" sz="1290" dirty="0"/>
          </a:p>
        </p:txBody>
      </p:sp>
      <p:sp>
        <p:nvSpPr>
          <p:cNvPr id="39" name="Shape 37"/>
          <p:cNvSpPr/>
          <p:nvPr/>
        </p:nvSpPr>
        <p:spPr>
          <a:xfrm>
            <a:off x="9015984" y="2011680"/>
            <a:ext cx="2779776" cy="2871216"/>
          </a:xfrm>
          <a:prstGeom prst="roundRect">
            <a:avLst>
              <a:gd name="adj" fmla="val 2632"/>
            </a:avLst>
          </a:prstGeom>
          <a:solidFill>
            <a:srgbClr val="EAF5FC"/>
          </a:solidFill>
          <a:ln w="12700">
            <a:solidFill>
              <a:srgbClr val="EAF5FC">
                <a:alpha val="0"/>
              </a:srgbClr>
            </a:solidFill>
            <a:prstDash val="solid"/>
          </a:ln>
        </p:spPr>
        <p:txBody>
          <a:bodyPr/>
          <a:lstStyle/>
          <a:p>
            <a:endParaRPr lang="en-PK"/>
          </a:p>
        </p:txBody>
      </p:sp>
      <p:sp>
        <p:nvSpPr>
          <p:cNvPr id="40" name="Shape 38"/>
          <p:cNvSpPr/>
          <p:nvPr/>
        </p:nvSpPr>
        <p:spPr>
          <a:xfrm>
            <a:off x="9015984" y="2011680"/>
            <a:ext cx="2779776" cy="402336"/>
          </a:xfrm>
          <a:prstGeom prst="rect">
            <a:avLst/>
          </a:prstGeom>
          <a:solidFill>
            <a:srgbClr val="364BAD"/>
          </a:solidFill>
          <a:ln w="12700">
            <a:solidFill>
              <a:srgbClr val="364BAD">
                <a:alpha val="0"/>
              </a:srgbClr>
            </a:solidFill>
            <a:prstDash val="solid"/>
          </a:ln>
        </p:spPr>
        <p:txBody>
          <a:bodyPr/>
          <a:lstStyle/>
          <a:p>
            <a:endParaRPr lang="en-PK"/>
          </a:p>
        </p:txBody>
      </p:sp>
      <p:sp>
        <p:nvSpPr>
          <p:cNvPr id="41" name="Text 39"/>
          <p:cNvSpPr/>
          <p:nvPr/>
        </p:nvSpPr>
        <p:spPr>
          <a:xfrm>
            <a:off x="9180576" y="2112264"/>
            <a:ext cx="2450592" cy="219456"/>
          </a:xfrm>
          <a:prstGeom prst="rect">
            <a:avLst/>
          </a:prstGeom>
          <a:noFill/>
          <a:ln/>
        </p:spPr>
        <p:txBody>
          <a:bodyPr wrap="square" lIns="0" tIns="0" rIns="0" bIns="0" rtlCol="0" anchor="t">
            <a:normAutofit/>
          </a:bodyPr>
          <a:lstStyle/>
          <a:p>
            <a:pPr marL="0" indent="0">
              <a:buNone/>
            </a:pPr>
            <a:r>
              <a:rPr lang="en-US" sz="1250" b="1" dirty="0">
                <a:solidFill>
                  <a:srgbClr val="FFFFFF"/>
                </a:solidFill>
                <a:latin typeface="Arial" pitchFamily="34" charset="0"/>
                <a:ea typeface="Arial" pitchFamily="34" charset="-122"/>
                <a:cs typeface="Arial" pitchFamily="34" charset="-120"/>
              </a:rPr>
              <a:t>5  ADMIN PORTAL</a:t>
            </a:r>
            <a:endParaRPr lang="en-US" sz="1250" dirty="0"/>
          </a:p>
        </p:txBody>
      </p:sp>
      <p:sp>
        <p:nvSpPr>
          <p:cNvPr id="42" name="Shape 40"/>
          <p:cNvSpPr/>
          <p:nvPr/>
        </p:nvSpPr>
        <p:spPr>
          <a:xfrm>
            <a:off x="9198864" y="2679192"/>
            <a:ext cx="786384" cy="786384"/>
          </a:xfrm>
          <a:prstGeom prst="ellipse">
            <a:avLst/>
          </a:prstGeom>
          <a:solidFill>
            <a:srgbClr val="DCEEF8"/>
          </a:solidFill>
          <a:ln w="12700">
            <a:solidFill>
              <a:srgbClr val="DCEEF8">
                <a:alpha val="0"/>
              </a:srgbClr>
            </a:solidFill>
            <a:prstDash val="solid"/>
          </a:ln>
        </p:spPr>
        <p:txBody>
          <a:bodyPr/>
          <a:lstStyle/>
          <a:p>
            <a:endParaRPr lang="en-PK"/>
          </a:p>
        </p:txBody>
      </p:sp>
      <p:sp>
        <p:nvSpPr>
          <p:cNvPr id="43" name="Shape 41"/>
          <p:cNvSpPr/>
          <p:nvPr/>
        </p:nvSpPr>
        <p:spPr>
          <a:xfrm>
            <a:off x="9347884" y="2845905"/>
            <a:ext cx="480481" cy="342470"/>
          </a:xfrm>
          <a:prstGeom prst="roundRect">
            <a:avLst>
              <a:gd name="adj" fmla="val 21360"/>
            </a:avLst>
          </a:prstGeom>
          <a:solidFill>
            <a:srgbClr val="FFFFFF"/>
          </a:solidFill>
          <a:ln w="8255">
            <a:solidFill>
              <a:srgbClr val="364BAD"/>
            </a:solidFill>
            <a:prstDash val="solid"/>
          </a:ln>
        </p:spPr>
        <p:txBody>
          <a:bodyPr/>
          <a:lstStyle/>
          <a:p>
            <a:endParaRPr lang="en-PK"/>
          </a:p>
        </p:txBody>
      </p:sp>
      <p:sp>
        <p:nvSpPr>
          <p:cNvPr id="44" name="Shape 42"/>
          <p:cNvSpPr/>
          <p:nvPr/>
        </p:nvSpPr>
        <p:spPr>
          <a:xfrm>
            <a:off x="9526786" y="3208822"/>
            <a:ext cx="0" cy="56226"/>
          </a:xfrm>
          <a:prstGeom prst="line">
            <a:avLst/>
          </a:prstGeom>
          <a:solidFill>
            <a:srgbClr val="FFFFFF">
              <a:alpha val="0"/>
            </a:srgbClr>
          </a:solidFill>
          <a:ln w="21590">
            <a:solidFill>
              <a:srgbClr val="364BAD"/>
            </a:solidFill>
            <a:prstDash val="solid"/>
          </a:ln>
        </p:spPr>
        <p:txBody>
          <a:bodyPr/>
          <a:lstStyle/>
          <a:p>
            <a:endParaRPr lang="en-PK"/>
          </a:p>
        </p:txBody>
      </p:sp>
      <p:sp>
        <p:nvSpPr>
          <p:cNvPr id="45" name="Shape 43"/>
          <p:cNvSpPr/>
          <p:nvPr/>
        </p:nvSpPr>
        <p:spPr>
          <a:xfrm>
            <a:off x="9649462" y="3208822"/>
            <a:ext cx="0" cy="56226"/>
          </a:xfrm>
          <a:prstGeom prst="line">
            <a:avLst/>
          </a:prstGeom>
          <a:solidFill>
            <a:srgbClr val="FFFFFF">
              <a:alpha val="0"/>
            </a:srgbClr>
          </a:solidFill>
          <a:ln w="21590">
            <a:solidFill>
              <a:srgbClr val="364BAD"/>
            </a:solidFill>
            <a:prstDash val="solid"/>
          </a:ln>
        </p:spPr>
        <p:txBody>
          <a:bodyPr/>
          <a:lstStyle/>
          <a:p>
            <a:endParaRPr lang="en-PK"/>
          </a:p>
        </p:txBody>
      </p:sp>
      <p:sp>
        <p:nvSpPr>
          <p:cNvPr id="46" name="Shape 44"/>
          <p:cNvSpPr/>
          <p:nvPr/>
        </p:nvSpPr>
        <p:spPr>
          <a:xfrm>
            <a:off x="9445002" y="3275271"/>
            <a:ext cx="286244" cy="0"/>
          </a:xfrm>
          <a:prstGeom prst="line">
            <a:avLst/>
          </a:prstGeom>
          <a:solidFill>
            <a:srgbClr val="FFFFFF">
              <a:alpha val="0"/>
            </a:srgbClr>
          </a:solidFill>
          <a:ln w="21590">
            <a:solidFill>
              <a:srgbClr val="364BAD"/>
            </a:solidFill>
            <a:prstDash val="solid"/>
          </a:ln>
        </p:spPr>
        <p:txBody>
          <a:bodyPr/>
          <a:lstStyle/>
          <a:p>
            <a:endParaRPr lang="en-PK"/>
          </a:p>
        </p:txBody>
      </p:sp>
      <p:sp>
        <p:nvSpPr>
          <p:cNvPr id="47" name="Shape 45"/>
          <p:cNvSpPr/>
          <p:nvPr/>
        </p:nvSpPr>
        <p:spPr>
          <a:xfrm>
            <a:off x="9404110" y="2912355"/>
            <a:ext cx="92007" cy="71561"/>
          </a:xfrm>
          <a:prstGeom prst="rect">
            <a:avLst/>
          </a:prstGeom>
          <a:solidFill>
            <a:srgbClr val="364BAD"/>
          </a:solidFill>
          <a:ln w="8255">
            <a:solidFill>
              <a:srgbClr val="364BAD"/>
            </a:solidFill>
            <a:prstDash val="solid"/>
          </a:ln>
        </p:spPr>
        <p:txBody>
          <a:bodyPr/>
          <a:lstStyle/>
          <a:p>
            <a:endParaRPr lang="en-PK"/>
          </a:p>
        </p:txBody>
      </p:sp>
      <p:sp>
        <p:nvSpPr>
          <p:cNvPr id="48" name="Shape 46"/>
          <p:cNvSpPr/>
          <p:nvPr/>
        </p:nvSpPr>
        <p:spPr>
          <a:xfrm>
            <a:off x="9531898" y="2912355"/>
            <a:ext cx="92007" cy="71561"/>
          </a:xfrm>
          <a:prstGeom prst="rect">
            <a:avLst/>
          </a:prstGeom>
          <a:solidFill>
            <a:srgbClr val="364BAD"/>
          </a:solidFill>
          <a:ln w="8255">
            <a:solidFill>
              <a:srgbClr val="364BAD"/>
            </a:solidFill>
            <a:prstDash val="solid"/>
          </a:ln>
        </p:spPr>
        <p:txBody>
          <a:bodyPr/>
          <a:lstStyle/>
          <a:p>
            <a:endParaRPr lang="en-PK"/>
          </a:p>
        </p:txBody>
      </p:sp>
      <p:sp>
        <p:nvSpPr>
          <p:cNvPr id="49" name="Shape 47"/>
          <p:cNvSpPr/>
          <p:nvPr/>
        </p:nvSpPr>
        <p:spPr>
          <a:xfrm>
            <a:off x="9659685" y="2912355"/>
            <a:ext cx="92007" cy="71561"/>
          </a:xfrm>
          <a:prstGeom prst="rect">
            <a:avLst/>
          </a:prstGeom>
          <a:solidFill>
            <a:srgbClr val="364BAD"/>
          </a:solidFill>
          <a:ln w="8255">
            <a:solidFill>
              <a:srgbClr val="364BAD"/>
            </a:solidFill>
            <a:prstDash val="solid"/>
          </a:ln>
        </p:spPr>
        <p:txBody>
          <a:bodyPr/>
          <a:lstStyle/>
          <a:p>
            <a:endParaRPr lang="en-PK"/>
          </a:p>
        </p:txBody>
      </p:sp>
      <p:sp>
        <p:nvSpPr>
          <p:cNvPr id="50" name="Shape 48"/>
          <p:cNvSpPr/>
          <p:nvPr/>
        </p:nvSpPr>
        <p:spPr>
          <a:xfrm>
            <a:off x="9404110" y="3040142"/>
            <a:ext cx="347582" cy="0"/>
          </a:xfrm>
          <a:prstGeom prst="line">
            <a:avLst/>
          </a:prstGeom>
          <a:solidFill>
            <a:srgbClr val="FFFFFF">
              <a:alpha val="0"/>
            </a:srgbClr>
          </a:solidFill>
          <a:ln w="21590">
            <a:solidFill>
              <a:srgbClr val="364BAD"/>
            </a:solidFill>
            <a:prstDash val="solid"/>
          </a:ln>
        </p:spPr>
        <p:txBody>
          <a:bodyPr/>
          <a:lstStyle/>
          <a:p>
            <a:endParaRPr lang="en-PK"/>
          </a:p>
        </p:txBody>
      </p:sp>
      <p:sp>
        <p:nvSpPr>
          <p:cNvPr id="51" name="Shape 49"/>
          <p:cNvSpPr/>
          <p:nvPr/>
        </p:nvSpPr>
        <p:spPr>
          <a:xfrm>
            <a:off x="9404110" y="3106592"/>
            <a:ext cx="260686" cy="0"/>
          </a:xfrm>
          <a:prstGeom prst="line">
            <a:avLst/>
          </a:prstGeom>
          <a:solidFill>
            <a:srgbClr val="FFFFFF">
              <a:alpha val="0"/>
            </a:srgbClr>
          </a:solidFill>
          <a:ln w="21590">
            <a:solidFill>
              <a:srgbClr val="364BAD"/>
            </a:solidFill>
            <a:prstDash val="solid"/>
          </a:ln>
        </p:spPr>
        <p:txBody>
          <a:bodyPr/>
          <a:lstStyle/>
          <a:p>
            <a:endParaRPr lang="en-PK"/>
          </a:p>
        </p:txBody>
      </p:sp>
      <p:sp>
        <p:nvSpPr>
          <p:cNvPr id="52" name="Text 50"/>
          <p:cNvSpPr/>
          <p:nvPr/>
        </p:nvSpPr>
        <p:spPr>
          <a:xfrm>
            <a:off x="10140696" y="2679192"/>
            <a:ext cx="1453896" cy="640080"/>
          </a:xfrm>
          <a:prstGeom prst="rect">
            <a:avLst/>
          </a:prstGeom>
          <a:noFill/>
          <a:ln/>
        </p:spPr>
        <p:txBody>
          <a:bodyPr wrap="square" lIns="0" tIns="0" rIns="0" bIns="0" rtlCol="0" anchor="t">
            <a:normAutofit/>
          </a:bodyPr>
          <a:lstStyle/>
          <a:p>
            <a:pPr marL="0" indent="0">
              <a:buNone/>
            </a:pPr>
            <a:r>
              <a:rPr lang="en-US" sz="1700" b="1" dirty="0">
                <a:solidFill>
                  <a:srgbClr val="1C2255"/>
                </a:solidFill>
                <a:latin typeface="Arial" pitchFamily="34" charset="0"/>
                <a:ea typeface="Arial" pitchFamily="34" charset="-122"/>
                <a:cs typeface="Arial" pitchFamily="34" charset="-120"/>
              </a:rPr>
              <a:t>One review environment</a:t>
            </a:r>
            <a:endParaRPr lang="en-US" sz="1700" dirty="0"/>
          </a:p>
        </p:txBody>
      </p:sp>
      <p:sp>
        <p:nvSpPr>
          <p:cNvPr id="53" name="Shape 51"/>
          <p:cNvSpPr/>
          <p:nvPr/>
        </p:nvSpPr>
        <p:spPr>
          <a:xfrm>
            <a:off x="9235440" y="3675888"/>
            <a:ext cx="50292" cy="50292"/>
          </a:xfrm>
          <a:prstGeom prst="ellipse">
            <a:avLst/>
          </a:prstGeom>
          <a:solidFill>
            <a:srgbClr val="364BAD"/>
          </a:solidFill>
          <a:ln w="12700">
            <a:solidFill>
              <a:srgbClr val="364BAD">
                <a:alpha val="0"/>
              </a:srgbClr>
            </a:solidFill>
            <a:prstDash val="solid"/>
          </a:ln>
        </p:spPr>
        <p:txBody>
          <a:bodyPr/>
          <a:lstStyle/>
          <a:p>
            <a:endParaRPr lang="en-PK"/>
          </a:p>
        </p:txBody>
      </p:sp>
      <p:sp>
        <p:nvSpPr>
          <p:cNvPr id="54" name="Text 52"/>
          <p:cNvSpPr/>
          <p:nvPr/>
        </p:nvSpPr>
        <p:spPr>
          <a:xfrm>
            <a:off x="9381744" y="3639312"/>
            <a:ext cx="2221992" cy="237744"/>
          </a:xfrm>
          <a:prstGeom prst="rect">
            <a:avLst/>
          </a:prstGeom>
          <a:noFill/>
          <a:ln/>
        </p:spPr>
        <p:txBody>
          <a:bodyPr wrap="square" lIns="0" tIns="0" rIns="0" bIns="0" rtlCol="0" anchor="t">
            <a:normAutofit/>
          </a:bodyPr>
          <a:lstStyle/>
          <a:p>
            <a:pPr marL="0" indent="0">
              <a:buNone/>
            </a:pPr>
            <a:r>
              <a:rPr lang="en-US" sz="1280" dirty="0">
                <a:solidFill>
                  <a:srgbClr val="1C2255"/>
                </a:solidFill>
                <a:latin typeface="Arial" pitchFamily="34" charset="0"/>
                <a:ea typeface="Arial" pitchFamily="34" charset="-122"/>
                <a:cs typeface="Arial" pitchFamily="34" charset="-120"/>
              </a:rPr>
              <a:t>Queue, files and findings</a:t>
            </a:r>
            <a:endParaRPr lang="en-US" sz="1280" dirty="0"/>
          </a:p>
        </p:txBody>
      </p:sp>
      <p:sp>
        <p:nvSpPr>
          <p:cNvPr id="55" name="Shape 53"/>
          <p:cNvSpPr/>
          <p:nvPr/>
        </p:nvSpPr>
        <p:spPr>
          <a:xfrm>
            <a:off x="9235440" y="3995928"/>
            <a:ext cx="50292" cy="50292"/>
          </a:xfrm>
          <a:prstGeom prst="ellipse">
            <a:avLst/>
          </a:prstGeom>
          <a:solidFill>
            <a:srgbClr val="364BAD"/>
          </a:solidFill>
          <a:ln w="12700">
            <a:solidFill>
              <a:srgbClr val="364BAD">
                <a:alpha val="0"/>
              </a:srgbClr>
            </a:solidFill>
            <a:prstDash val="solid"/>
          </a:ln>
        </p:spPr>
        <p:txBody>
          <a:bodyPr/>
          <a:lstStyle/>
          <a:p>
            <a:endParaRPr lang="en-PK"/>
          </a:p>
        </p:txBody>
      </p:sp>
      <p:sp>
        <p:nvSpPr>
          <p:cNvPr id="56" name="Text 54"/>
          <p:cNvSpPr/>
          <p:nvPr/>
        </p:nvSpPr>
        <p:spPr>
          <a:xfrm>
            <a:off x="9381744" y="3959352"/>
            <a:ext cx="2221992" cy="237744"/>
          </a:xfrm>
          <a:prstGeom prst="rect">
            <a:avLst/>
          </a:prstGeom>
          <a:noFill/>
          <a:ln/>
        </p:spPr>
        <p:txBody>
          <a:bodyPr wrap="square" lIns="0" tIns="0" rIns="0" bIns="0" rtlCol="0" anchor="t">
            <a:normAutofit/>
          </a:bodyPr>
          <a:lstStyle/>
          <a:p>
            <a:pPr marL="0" indent="0">
              <a:buNone/>
            </a:pPr>
            <a:r>
              <a:rPr lang="en-US" sz="1280" dirty="0">
                <a:solidFill>
                  <a:srgbClr val="1C2255"/>
                </a:solidFill>
                <a:latin typeface="Arial" pitchFamily="34" charset="0"/>
                <a:ea typeface="Arial" pitchFamily="34" charset="-122"/>
                <a:cs typeface="Arial" pitchFamily="34" charset="-120"/>
              </a:rPr>
              <a:t>Approve or request correction</a:t>
            </a:r>
            <a:endParaRPr lang="en-US" sz="1280" dirty="0"/>
          </a:p>
        </p:txBody>
      </p:sp>
      <p:sp>
        <p:nvSpPr>
          <p:cNvPr id="57" name="Shape 55"/>
          <p:cNvSpPr/>
          <p:nvPr/>
        </p:nvSpPr>
        <p:spPr>
          <a:xfrm>
            <a:off x="9235440" y="4315968"/>
            <a:ext cx="50292" cy="50292"/>
          </a:xfrm>
          <a:prstGeom prst="ellipse">
            <a:avLst/>
          </a:prstGeom>
          <a:solidFill>
            <a:srgbClr val="364BAD"/>
          </a:solidFill>
          <a:ln w="12700">
            <a:solidFill>
              <a:srgbClr val="364BAD">
                <a:alpha val="0"/>
              </a:srgbClr>
            </a:solidFill>
            <a:prstDash val="solid"/>
          </a:ln>
        </p:spPr>
        <p:txBody>
          <a:bodyPr/>
          <a:lstStyle/>
          <a:p>
            <a:endParaRPr lang="en-PK"/>
          </a:p>
        </p:txBody>
      </p:sp>
      <p:sp>
        <p:nvSpPr>
          <p:cNvPr id="58" name="Text 56"/>
          <p:cNvSpPr/>
          <p:nvPr/>
        </p:nvSpPr>
        <p:spPr>
          <a:xfrm>
            <a:off x="9381744" y="4279392"/>
            <a:ext cx="2221992" cy="237744"/>
          </a:xfrm>
          <a:prstGeom prst="rect">
            <a:avLst/>
          </a:prstGeom>
          <a:noFill/>
          <a:ln/>
        </p:spPr>
        <p:txBody>
          <a:bodyPr wrap="square" lIns="0" tIns="0" rIns="0" bIns="0" rtlCol="0" anchor="t">
            <a:normAutofit/>
          </a:bodyPr>
          <a:lstStyle/>
          <a:p>
            <a:pPr marL="0" indent="0">
              <a:buNone/>
            </a:pPr>
            <a:r>
              <a:rPr lang="en-US" sz="1280" dirty="0">
                <a:solidFill>
                  <a:srgbClr val="1C2255"/>
                </a:solidFill>
                <a:latin typeface="Arial" pitchFamily="34" charset="0"/>
                <a:ea typeface="Arial" pitchFamily="34" charset="-122"/>
                <a:cs typeface="Arial" pitchFamily="34" charset="-120"/>
              </a:rPr>
              <a:t>History and in-portal alerts</a:t>
            </a:r>
            <a:endParaRPr lang="en-US" sz="1280" dirty="0"/>
          </a:p>
        </p:txBody>
      </p:sp>
      <p:sp>
        <p:nvSpPr>
          <p:cNvPr id="59" name="Shape 57"/>
          <p:cNvSpPr/>
          <p:nvPr/>
        </p:nvSpPr>
        <p:spPr>
          <a:xfrm>
            <a:off x="3602736" y="2011680"/>
            <a:ext cx="4983480" cy="832104"/>
          </a:xfrm>
          <a:prstGeom prst="roundRect">
            <a:avLst>
              <a:gd name="adj" fmla="val 8791"/>
            </a:avLst>
          </a:prstGeom>
          <a:solidFill>
            <a:srgbClr val="E9F0FB"/>
          </a:solidFill>
          <a:ln w="12700">
            <a:solidFill>
              <a:srgbClr val="E9F0FB">
                <a:alpha val="0"/>
              </a:srgbClr>
            </a:solidFill>
            <a:prstDash val="solid"/>
          </a:ln>
        </p:spPr>
        <p:txBody>
          <a:bodyPr/>
          <a:lstStyle/>
          <a:p>
            <a:endParaRPr lang="en-PK"/>
          </a:p>
        </p:txBody>
      </p:sp>
      <p:sp>
        <p:nvSpPr>
          <p:cNvPr id="60" name="Shape 58"/>
          <p:cNvSpPr/>
          <p:nvPr/>
        </p:nvSpPr>
        <p:spPr>
          <a:xfrm>
            <a:off x="3794577" y="2189714"/>
            <a:ext cx="430134" cy="412212"/>
          </a:xfrm>
          <a:prstGeom prst="hexagon">
            <a:avLst/>
          </a:prstGeom>
          <a:solidFill>
            <a:srgbClr val="FFFFFF"/>
          </a:solidFill>
          <a:ln w="22860">
            <a:solidFill>
              <a:srgbClr val="364BAD"/>
            </a:solidFill>
            <a:prstDash val="solid"/>
          </a:ln>
        </p:spPr>
        <p:txBody>
          <a:bodyPr/>
          <a:lstStyle/>
          <a:p>
            <a:endParaRPr lang="en-PK"/>
          </a:p>
        </p:txBody>
      </p:sp>
      <p:sp>
        <p:nvSpPr>
          <p:cNvPr id="61" name="Shape 59"/>
          <p:cNvSpPr/>
          <p:nvPr/>
        </p:nvSpPr>
        <p:spPr>
          <a:xfrm>
            <a:off x="3915552" y="2306208"/>
            <a:ext cx="188184" cy="188184"/>
          </a:xfrm>
          <a:prstGeom prst="ellipse">
            <a:avLst/>
          </a:prstGeom>
          <a:solidFill>
            <a:srgbClr val="FFFFFF"/>
          </a:solidFill>
          <a:ln w="21590">
            <a:solidFill>
              <a:srgbClr val="364BAD"/>
            </a:solidFill>
            <a:prstDash val="solid"/>
          </a:ln>
        </p:spPr>
        <p:txBody>
          <a:bodyPr/>
          <a:lstStyle/>
          <a:p>
            <a:endParaRPr lang="en-PK"/>
          </a:p>
        </p:txBody>
      </p:sp>
      <p:sp>
        <p:nvSpPr>
          <p:cNvPr id="62" name="Shape 60"/>
          <p:cNvSpPr/>
          <p:nvPr/>
        </p:nvSpPr>
        <p:spPr>
          <a:xfrm>
            <a:off x="3964838" y="2400300"/>
            <a:ext cx="40325" cy="49286"/>
          </a:xfrm>
          <a:prstGeom prst="line">
            <a:avLst/>
          </a:prstGeom>
          <a:solidFill>
            <a:srgbClr val="FFFFFF">
              <a:alpha val="0"/>
            </a:srgbClr>
          </a:solidFill>
          <a:ln w="22860">
            <a:solidFill>
              <a:srgbClr val="364BAD"/>
            </a:solidFill>
            <a:prstDash val="solid"/>
          </a:ln>
        </p:spPr>
        <p:txBody>
          <a:bodyPr/>
          <a:lstStyle/>
          <a:p>
            <a:endParaRPr lang="en-PK"/>
          </a:p>
        </p:txBody>
      </p:sp>
      <p:sp>
        <p:nvSpPr>
          <p:cNvPr id="63" name="Shape 61"/>
          <p:cNvSpPr/>
          <p:nvPr/>
        </p:nvSpPr>
        <p:spPr>
          <a:xfrm flipV="1">
            <a:off x="4005163" y="2355494"/>
            <a:ext cx="76170" cy="94092"/>
          </a:xfrm>
          <a:prstGeom prst="line">
            <a:avLst/>
          </a:prstGeom>
          <a:solidFill>
            <a:srgbClr val="FFFFFF">
              <a:alpha val="0"/>
            </a:srgbClr>
          </a:solidFill>
          <a:ln w="22860">
            <a:solidFill>
              <a:srgbClr val="364BAD"/>
            </a:solidFill>
            <a:prstDash val="solid"/>
          </a:ln>
        </p:spPr>
        <p:txBody>
          <a:bodyPr/>
          <a:lstStyle/>
          <a:p>
            <a:endParaRPr lang="en-PK"/>
          </a:p>
        </p:txBody>
      </p:sp>
      <p:sp>
        <p:nvSpPr>
          <p:cNvPr id="64" name="Text 62"/>
          <p:cNvSpPr/>
          <p:nvPr/>
        </p:nvSpPr>
        <p:spPr>
          <a:xfrm>
            <a:off x="4425696" y="2157984"/>
            <a:ext cx="3968496" cy="246888"/>
          </a:xfrm>
          <a:prstGeom prst="rect">
            <a:avLst/>
          </a:prstGeom>
          <a:noFill/>
          <a:ln/>
        </p:spPr>
        <p:txBody>
          <a:bodyPr wrap="square" lIns="0" tIns="0" rIns="0" bIns="0" rtlCol="0" anchor="t">
            <a:normAutofit/>
          </a:bodyPr>
          <a:lstStyle/>
          <a:p>
            <a:pPr marL="0" indent="0">
              <a:buNone/>
            </a:pPr>
            <a:r>
              <a:rPr lang="en-US" sz="1350" b="1" dirty="0">
                <a:solidFill>
                  <a:srgbClr val="1C2255"/>
                </a:solidFill>
                <a:latin typeface="Arial" pitchFamily="34" charset="0"/>
                <a:ea typeface="Arial" pitchFamily="34" charset="-122"/>
                <a:cs typeface="Arial" pitchFamily="34" charset="-120"/>
              </a:rPr>
              <a:t>2  BACKEND APPLICATION</a:t>
            </a:r>
            <a:endParaRPr lang="en-US" sz="1350" dirty="0"/>
          </a:p>
        </p:txBody>
      </p:sp>
      <p:sp>
        <p:nvSpPr>
          <p:cNvPr id="65" name="Text 63"/>
          <p:cNvSpPr/>
          <p:nvPr/>
        </p:nvSpPr>
        <p:spPr>
          <a:xfrm>
            <a:off x="4425696" y="2505456"/>
            <a:ext cx="3922776" cy="219456"/>
          </a:xfrm>
          <a:prstGeom prst="rect">
            <a:avLst/>
          </a:prstGeom>
          <a:noFill/>
          <a:ln/>
        </p:spPr>
        <p:txBody>
          <a:bodyPr wrap="square" lIns="0" tIns="0" rIns="0" bIns="0" rtlCol="0" anchor="t">
            <a:normAutofit/>
          </a:bodyPr>
          <a:lstStyle/>
          <a:p>
            <a:pPr marL="0" indent="0">
              <a:buNone/>
            </a:pPr>
            <a:r>
              <a:rPr lang="en-US" sz="1150" dirty="0">
                <a:solidFill>
                  <a:srgbClr val="687B96"/>
                </a:solidFill>
                <a:latin typeface="Arial" pitchFamily="34" charset="0"/>
                <a:ea typeface="Arial" pitchFamily="34" charset="-122"/>
                <a:cs typeface="Arial" pitchFamily="34" charset="-120"/>
              </a:rPr>
              <a:t>Access, workflow rules, status and notification triggers</a:t>
            </a:r>
            <a:endParaRPr lang="en-US" sz="1150" dirty="0"/>
          </a:p>
        </p:txBody>
      </p:sp>
      <p:sp>
        <p:nvSpPr>
          <p:cNvPr id="66" name="Shape 64"/>
          <p:cNvSpPr/>
          <p:nvPr/>
        </p:nvSpPr>
        <p:spPr>
          <a:xfrm>
            <a:off x="3273552" y="2423160"/>
            <a:ext cx="219456" cy="256032"/>
          </a:xfrm>
          <a:prstGeom prst="chevron">
            <a:avLst/>
          </a:prstGeom>
          <a:solidFill>
            <a:srgbClr val="364BAD"/>
          </a:solidFill>
          <a:ln w="12700">
            <a:solidFill>
              <a:srgbClr val="333333">
                <a:alpha val="0"/>
              </a:srgbClr>
            </a:solidFill>
            <a:prstDash val="solid"/>
          </a:ln>
        </p:spPr>
        <p:txBody>
          <a:bodyPr/>
          <a:lstStyle/>
          <a:p>
            <a:endParaRPr lang="en-PK"/>
          </a:p>
        </p:txBody>
      </p:sp>
      <p:sp>
        <p:nvSpPr>
          <p:cNvPr id="67" name="Shape 65"/>
          <p:cNvSpPr/>
          <p:nvPr/>
        </p:nvSpPr>
        <p:spPr>
          <a:xfrm>
            <a:off x="8695944" y="2423160"/>
            <a:ext cx="219456" cy="256032"/>
          </a:xfrm>
          <a:prstGeom prst="chevron">
            <a:avLst/>
          </a:prstGeom>
          <a:solidFill>
            <a:srgbClr val="364BAD"/>
          </a:solidFill>
          <a:ln w="12700">
            <a:solidFill>
              <a:srgbClr val="333333">
                <a:alpha val="0"/>
              </a:srgbClr>
            </a:solidFill>
            <a:prstDash val="solid"/>
          </a:ln>
        </p:spPr>
        <p:txBody>
          <a:bodyPr/>
          <a:lstStyle/>
          <a:p>
            <a:endParaRPr lang="en-PK"/>
          </a:p>
        </p:txBody>
      </p:sp>
      <p:sp>
        <p:nvSpPr>
          <p:cNvPr id="68" name="Shape 66"/>
          <p:cNvSpPr/>
          <p:nvPr/>
        </p:nvSpPr>
        <p:spPr>
          <a:xfrm>
            <a:off x="6108192" y="2852928"/>
            <a:ext cx="0" cy="118872"/>
          </a:xfrm>
          <a:prstGeom prst="line">
            <a:avLst/>
          </a:prstGeom>
          <a:solidFill>
            <a:srgbClr val="FFFFFF">
              <a:alpha val="0"/>
            </a:srgbClr>
          </a:solidFill>
          <a:ln w="15240">
            <a:solidFill>
              <a:srgbClr val="364BAD"/>
            </a:solidFill>
            <a:prstDash val="solid"/>
          </a:ln>
        </p:spPr>
        <p:txBody>
          <a:bodyPr/>
          <a:lstStyle/>
          <a:p>
            <a:endParaRPr lang="en-PK"/>
          </a:p>
        </p:txBody>
      </p:sp>
      <p:sp>
        <p:nvSpPr>
          <p:cNvPr id="69" name="Shape 67"/>
          <p:cNvSpPr/>
          <p:nvPr/>
        </p:nvSpPr>
        <p:spPr>
          <a:xfrm>
            <a:off x="5084064" y="2971800"/>
            <a:ext cx="2596896" cy="0"/>
          </a:xfrm>
          <a:prstGeom prst="line">
            <a:avLst/>
          </a:prstGeom>
          <a:solidFill>
            <a:srgbClr val="FFFFFF">
              <a:alpha val="0"/>
            </a:srgbClr>
          </a:solidFill>
          <a:ln w="15240">
            <a:solidFill>
              <a:srgbClr val="364BAD"/>
            </a:solidFill>
            <a:prstDash val="solid"/>
          </a:ln>
        </p:spPr>
        <p:txBody>
          <a:bodyPr/>
          <a:lstStyle/>
          <a:p>
            <a:endParaRPr lang="en-PK"/>
          </a:p>
        </p:txBody>
      </p:sp>
      <p:sp>
        <p:nvSpPr>
          <p:cNvPr id="70" name="Shape 68"/>
          <p:cNvSpPr/>
          <p:nvPr/>
        </p:nvSpPr>
        <p:spPr>
          <a:xfrm>
            <a:off x="5084064" y="2971800"/>
            <a:ext cx="0" cy="109728"/>
          </a:xfrm>
          <a:prstGeom prst="line">
            <a:avLst/>
          </a:prstGeom>
          <a:solidFill>
            <a:srgbClr val="FFFFFF">
              <a:alpha val="0"/>
            </a:srgbClr>
          </a:solidFill>
          <a:ln w="15240">
            <a:solidFill>
              <a:srgbClr val="364BAD"/>
            </a:solidFill>
            <a:prstDash val="solid"/>
            <a:tailEnd type="triangle"/>
          </a:ln>
        </p:spPr>
        <p:txBody>
          <a:bodyPr/>
          <a:lstStyle/>
          <a:p>
            <a:endParaRPr lang="en-PK"/>
          </a:p>
        </p:txBody>
      </p:sp>
      <p:sp>
        <p:nvSpPr>
          <p:cNvPr id="71" name="Shape 69"/>
          <p:cNvSpPr/>
          <p:nvPr/>
        </p:nvSpPr>
        <p:spPr>
          <a:xfrm>
            <a:off x="7680960" y="2971800"/>
            <a:ext cx="0" cy="109728"/>
          </a:xfrm>
          <a:prstGeom prst="line">
            <a:avLst/>
          </a:prstGeom>
          <a:solidFill>
            <a:srgbClr val="FFFFFF">
              <a:alpha val="0"/>
            </a:srgbClr>
          </a:solidFill>
          <a:ln w="15240">
            <a:solidFill>
              <a:srgbClr val="364BAD"/>
            </a:solidFill>
            <a:prstDash val="solid"/>
            <a:tailEnd type="triangle"/>
          </a:ln>
        </p:spPr>
        <p:txBody>
          <a:bodyPr/>
          <a:lstStyle/>
          <a:p>
            <a:endParaRPr lang="en-PK"/>
          </a:p>
        </p:txBody>
      </p:sp>
      <p:sp>
        <p:nvSpPr>
          <p:cNvPr id="72" name="Shape 70"/>
          <p:cNvSpPr/>
          <p:nvPr/>
        </p:nvSpPr>
        <p:spPr>
          <a:xfrm>
            <a:off x="3602736" y="3108960"/>
            <a:ext cx="2971800" cy="1773936"/>
          </a:xfrm>
          <a:prstGeom prst="roundRect">
            <a:avLst>
              <a:gd name="adj" fmla="val 4124"/>
            </a:avLst>
          </a:prstGeom>
          <a:solidFill>
            <a:srgbClr val="F2F5FA"/>
          </a:solidFill>
          <a:ln w="8255">
            <a:solidFill>
              <a:srgbClr val="CED6E6"/>
            </a:solidFill>
            <a:prstDash val="solid"/>
          </a:ln>
        </p:spPr>
        <p:txBody>
          <a:bodyPr/>
          <a:lstStyle/>
          <a:p>
            <a:endParaRPr lang="en-PK"/>
          </a:p>
        </p:txBody>
      </p:sp>
      <p:sp>
        <p:nvSpPr>
          <p:cNvPr id="73" name="Text 71"/>
          <p:cNvSpPr/>
          <p:nvPr/>
        </p:nvSpPr>
        <p:spPr>
          <a:xfrm>
            <a:off x="3749040" y="3282696"/>
            <a:ext cx="2688336" cy="228600"/>
          </a:xfrm>
          <a:prstGeom prst="rect">
            <a:avLst/>
          </a:prstGeom>
          <a:noFill/>
          <a:ln/>
        </p:spPr>
        <p:txBody>
          <a:bodyPr wrap="square" lIns="0" tIns="0" rIns="0" bIns="0" rtlCol="0" anchor="t">
            <a:normAutofit/>
          </a:bodyPr>
          <a:lstStyle/>
          <a:p>
            <a:pPr marL="0" indent="0">
              <a:buNone/>
            </a:pPr>
            <a:r>
              <a:rPr lang="en-US" sz="1260" b="1" dirty="0">
                <a:solidFill>
                  <a:srgbClr val="1C2255"/>
                </a:solidFill>
                <a:latin typeface="Arial" pitchFamily="34" charset="0"/>
                <a:ea typeface="Arial" pitchFamily="34" charset="-122"/>
                <a:cs typeface="Arial" pitchFamily="34" charset="-120"/>
              </a:rPr>
              <a:t>4  VERIFICATION ENGINE</a:t>
            </a:r>
            <a:endParaRPr lang="en-US" sz="1260" dirty="0"/>
          </a:p>
        </p:txBody>
      </p:sp>
      <p:sp>
        <p:nvSpPr>
          <p:cNvPr id="74" name="Text 72"/>
          <p:cNvSpPr/>
          <p:nvPr/>
        </p:nvSpPr>
        <p:spPr>
          <a:xfrm>
            <a:off x="3749040" y="3675888"/>
            <a:ext cx="1271016" cy="210312"/>
          </a:xfrm>
          <a:prstGeom prst="rect">
            <a:avLst/>
          </a:prstGeom>
          <a:noFill/>
          <a:ln/>
        </p:spPr>
        <p:txBody>
          <a:bodyPr wrap="square" lIns="0" tIns="0" rIns="0" bIns="0" rtlCol="0" anchor="t">
            <a:normAutofit/>
          </a:bodyPr>
          <a:lstStyle/>
          <a:p>
            <a:pPr marL="0" indent="0">
              <a:buNone/>
            </a:pPr>
            <a:r>
              <a:rPr lang="en-US" sz="1150" b="1" dirty="0">
                <a:solidFill>
                  <a:srgbClr val="364BAD"/>
                </a:solidFill>
                <a:latin typeface="Arial" pitchFamily="34" charset="0"/>
                <a:ea typeface="Arial" pitchFamily="34" charset="-122"/>
                <a:cs typeface="Arial" pitchFamily="34" charset="-120"/>
              </a:rPr>
              <a:t>File</a:t>
            </a:r>
            <a:endParaRPr lang="en-US" sz="1150" dirty="0"/>
          </a:p>
        </p:txBody>
      </p:sp>
      <p:sp>
        <p:nvSpPr>
          <p:cNvPr id="75" name="Text 73"/>
          <p:cNvSpPr/>
          <p:nvPr/>
        </p:nvSpPr>
        <p:spPr>
          <a:xfrm>
            <a:off x="3749040" y="3904488"/>
            <a:ext cx="1271016" cy="237744"/>
          </a:xfrm>
          <a:prstGeom prst="rect">
            <a:avLst/>
          </a:prstGeom>
          <a:noFill/>
          <a:ln/>
        </p:spPr>
        <p:txBody>
          <a:bodyPr wrap="square" lIns="0" tIns="0" rIns="0" bIns="0" rtlCol="0" anchor="t">
            <a:normAutofit/>
          </a:bodyPr>
          <a:lstStyle/>
          <a:p>
            <a:pPr marL="0" indent="0">
              <a:buNone/>
            </a:pPr>
            <a:r>
              <a:rPr lang="en-US" sz="1030" dirty="0">
                <a:solidFill>
                  <a:srgbClr val="687B96"/>
                </a:solidFill>
                <a:latin typeface="Arial" pitchFamily="34" charset="0"/>
                <a:ea typeface="Arial" pitchFamily="34" charset="-122"/>
                <a:cs typeface="Arial" pitchFamily="34" charset="-120"/>
              </a:rPr>
              <a:t>Format / readability</a:t>
            </a:r>
            <a:endParaRPr lang="en-US" sz="1030" dirty="0"/>
          </a:p>
        </p:txBody>
      </p:sp>
      <p:sp>
        <p:nvSpPr>
          <p:cNvPr id="76" name="Text 74"/>
          <p:cNvSpPr/>
          <p:nvPr/>
        </p:nvSpPr>
        <p:spPr>
          <a:xfrm>
            <a:off x="5111496" y="3675888"/>
            <a:ext cx="1271016" cy="210312"/>
          </a:xfrm>
          <a:prstGeom prst="rect">
            <a:avLst/>
          </a:prstGeom>
          <a:noFill/>
          <a:ln/>
        </p:spPr>
        <p:txBody>
          <a:bodyPr wrap="square" lIns="0" tIns="0" rIns="0" bIns="0" rtlCol="0" anchor="t">
            <a:normAutofit/>
          </a:bodyPr>
          <a:lstStyle/>
          <a:p>
            <a:pPr marL="0" indent="0">
              <a:buNone/>
            </a:pPr>
            <a:r>
              <a:rPr lang="en-US" sz="1150" b="1" dirty="0">
                <a:solidFill>
                  <a:srgbClr val="364BAD"/>
                </a:solidFill>
                <a:latin typeface="Arial" pitchFamily="34" charset="0"/>
                <a:ea typeface="Arial" pitchFamily="34" charset="-122"/>
                <a:cs typeface="Arial" pitchFamily="34" charset="-120"/>
              </a:rPr>
              <a:t>Document</a:t>
            </a:r>
            <a:endParaRPr lang="en-US" sz="1150" dirty="0"/>
          </a:p>
        </p:txBody>
      </p:sp>
      <p:sp>
        <p:nvSpPr>
          <p:cNvPr id="77" name="Text 75"/>
          <p:cNvSpPr/>
          <p:nvPr/>
        </p:nvSpPr>
        <p:spPr>
          <a:xfrm>
            <a:off x="5111496" y="3904488"/>
            <a:ext cx="1271016" cy="237744"/>
          </a:xfrm>
          <a:prstGeom prst="rect">
            <a:avLst/>
          </a:prstGeom>
          <a:noFill/>
          <a:ln/>
        </p:spPr>
        <p:txBody>
          <a:bodyPr wrap="square" lIns="0" tIns="0" rIns="0" bIns="0" rtlCol="0" anchor="t">
            <a:normAutofit/>
          </a:bodyPr>
          <a:lstStyle/>
          <a:p>
            <a:pPr marL="0" indent="0">
              <a:buNone/>
            </a:pPr>
            <a:r>
              <a:rPr lang="en-US" sz="1030" dirty="0">
                <a:solidFill>
                  <a:srgbClr val="687B96"/>
                </a:solidFill>
                <a:latin typeface="Arial" pitchFamily="34" charset="0"/>
                <a:ea typeface="Arial" pitchFamily="34" charset="-122"/>
                <a:cs typeface="Arial" pitchFamily="34" charset="-120"/>
              </a:rPr>
              <a:t>Type / fields / pages</a:t>
            </a:r>
            <a:endParaRPr lang="en-US" sz="1030" dirty="0"/>
          </a:p>
        </p:txBody>
      </p:sp>
      <p:sp>
        <p:nvSpPr>
          <p:cNvPr id="78" name="Text 76"/>
          <p:cNvSpPr/>
          <p:nvPr/>
        </p:nvSpPr>
        <p:spPr>
          <a:xfrm>
            <a:off x="3749040" y="4215384"/>
            <a:ext cx="1271016" cy="210312"/>
          </a:xfrm>
          <a:prstGeom prst="rect">
            <a:avLst/>
          </a:prstGeom>
          <a:noFill/>
          <a:ln/>
        </p:spPr>
        <p:txBody>
          <a:bodyPr wrap="square" lIns="0" tIns="0" rIns="0" bIns="0" rtlCol="0" anchor="t">
            <a:normAutofit/>
          </a:bodyPr>
          <a:lstStyle/>
          <a:p>
            <a:pPr marL="0" indent="0">
              <a:buNone/>
            </a:pPr>
            <a:r>
              <a:rPr lang="en-US" sz="1150" b="1" dirty="0">
                <a:solidFill>
                  <a:srgbClr val="364BAD"/>
                </a:solidFill>
                <a:latin typeface="Arial" pitchFamily="34" charset="0"/>
                <a:ea typeface="Arial" pitchFamily="34" charset="-122"/>
                <a:cs typeface="Arial" pitchFamily="34" charset="-120"/>
              </a:rPr>
              <a:t>Submission</a:t>
            </a:r>
            <a:endParaRPr lang="en-US" sz="1150" dirty="0"/>
          </a:p>
        </p:txBody>
      </p:sp>
      <p:sp>
        <p:nvSpPr>
          <p:cNvPr id="79" name="Text 77"/>
          <p:cNvSpPr/>
          <p:nvPr/>
        </p:nvSpPr>
        <p:spPr>
          <a:xfrm>
            <a:off x="3749040" y="4443984"/>
            <a:ext cx="1271016" cy="237744"/>
          </a:xfrm>
          <a:prstGeom prst="rect">
            <a:avLst/>
          </a:prstGeom>
          <a:noFill/>
          <a:ln/>
        </p:spPr>
        <p:txBody>
          <a:bodyPr wrap="square" lIns="0" tIns="0" rIns="0" bIns="0" rtlCol="0" anchor="t">
            <a:normAutofit/>
          </a:bodyPr>
          <a:lstStyle/>
          <a:p>
            <a:pPr marL="0" indent="0">
              <a:buNone/>
            </a:pPr>
            <a:r>
              <a:rPr lang="en-US" sz="1030" dirty="0">
                <a:solidFill>
                  <a:srgbClr val="687B96"/>
                </a:solidFill>
                <a:latin typeface="Arial" pitchFamily="34" charset="0"/>
                <a:ea typeface="Arial" pitchFamily="34" charset="-122"/>
                <a:cs typeface="Arial" pitchFamily="34" charset="-120"/>
              </a:rPr>
              <a:t>Required list</a:t>
            </a:r>
            <a:endParaRPr lang="en-US" sz="1030" dirty="0"/>
          </a:p>
        </p:txBody>
      </p:sp>
      <p:sp>
        <p:nvSpPr>
          <p:cNvPr id="80" name="Text 78"/>
          <p:cNvSpPr/>
          <p:nvPr/>
        </p:nvSpPr>
        <p:spPr>
          <a:xfrm>
            <a:off x="5111496" y="4215384"/>
            <a:ext cx="1271016" cy="210312"/>
          </a:xfrm>
          <a:prstGeom prst="rect">
            <a:avLst/>
          </a:prstGeom>
          <a:noFill/>
          <a:ln/>
        </p:spPr>
        <p:txBody>
          <a:bodyPr wrap="square" lIns="0" tIns="0" rIns="0" bIns="0" rtlCol="0" anchor="t">
            <a:normAutofit/>
          </a:bodyPr>
          <a:lstStyle/>
          <a:p>
            <a:pPr marL="0" indent="0">
              <a:buNone/>
            </a:pPr>
            <a:r>
              <a:rPr lang="en-US" sz="1150" b="1" dirty="0">
                <a:solidFill>
                  <a:srgbClr val="364BAD"/>
                </a:solidFill>
                <a:latin typeface="Arial" pitchFamily="34" charset="0"/>
                <a:ea typeface="Arial" pitchFamily="34" charset="-122"/>
                <a:cs typeface="Arial" pitchFamily="34" charset="-120"/>
              </a:rPr>
              <a:t>Consistency</a:t>
            </a:r>
            <a:endParaRPr lang="en-US" sz="1150" dirty="0"/>
          </a:p>
        </p:txBody>
      </p:sp>
      <p:sp>
        <p:nvSpPr>
          <p:cNvPr id="81" name="Text 79"/>
          <p:cNvSpPr/>
          <p:nvPr/>
        </p:nvSpPr>
        <p:spPr>
          <a:xfrm>
            <a:off x="5111496" y="4443984"/>
            <a:ext cx="1271016" cy="237744"/>
          </a:xfrm>
          <a:prstGeom prst="rect">
            <a:avLst/>
          </a:prstGeom>
          <a:noFill/>
          <a:ln/>
        </p:spPr>
        <p:txBody>
          <a:bodyPr wrap="square" lIns="0" tIns="0" rIns="0" bIns="0" rtlCol="0" anchor="t">
            <a:normAutofit/>
          </a:bodyPr>
          <a:lstStyle/>
          <a:p>
            <a:pPr marL="0" indent="0">
              <a:buNone/>
            </a:pPr>
            <a:r>
              <a:rPr lang="en-US" sz="1030" dirty="0">
                <a:solidFill>
                  <a:srgbClr val="687B96"/>
                </a:solidFill>
                <a:latin typeface="Arial" pitchFamily="34" charset="0"/>
                <a:ea typeface="Arial" pitchFamily="34" charset="-122"/>
                <a:cs typeface="Arial" pitchFamily="34" charset="-120"/>
              </a:rPr>
              <a:t>Names / dates / ID</a:t>
            </a:r>
            <a:endParaRPr lang="en-US" sz="1030" dirty="0"/>
          </a:p>
        </p:txBody>
      </p:sp>
      <p:sp>
        <p:nvSpPr>
          <p:cNvPr id="82" name="Shape 80"/>
          <p:cNvSpPr/>
          <p:nvPr/>
        </p:nvSpPr>
        <p:spPr>
          <a:xfrm>
            <a:off x="6757416" y="3108960"/>
            <a:ext cx="1828800" cy="1773936"/>
          </a:xfrm>
          <a:prstGeom prst="roundRect">
            <a:avLst>
              <a:gd name="adj" fmla="val 4124"/>
            </a:avLst>
          </a:prstGeom>
          <a:solidFill>
            <a:srgbClr val="E9F0FB"/>
          </a:solidFill>
          <a:ln w="8255">
            <a:solidFill>
              <a:srgbClr val="CED6E6"/>
            </a:solidFill>
            <a:prstDash val="solid"/>
          </a:ln>
        </p:spPr>
        <p:txBody>
          <a:bodyPr/>
          <a:lstStyle/>
          <a:p>
            <a:endParaRPr lang="en-PK"/>
          </a:p>
        </p:txBody>
      </p:sp>
      <p:sp>
        <p:nvSpPr>
          <p:cNvPr id="83" name="Shape 81"/>
          <p:cNvSpPr/>
          <p:nvPr/>
        </p:nvSpPr>
        <p:spPr>
          <a:xfrm>
            <a:off x="7409200" y="3304276"/>
            <a:ext cx="378927" cy="435254"/>
          </a:xfrm>
          <a:prstGeom prst="can">
            <a:avLst/>
          </a:prstGeom>
          <a:solidFill>
            <a:srgbClr val="FFFFFF"/>
          </a:solidFill>
          <a:ln w="20320">
            <a:solidFill>
              <a:srgbClr val="364BAD"/>
            </a:solidFill>
            <a:prstDash val="solid"/>
          </a:ln>
        </p:spPr>
        <p:txBody>
          <a:bodyPr/>
          <a:lstStyle/>
          <a:p>
            <a:endParaRPr lang="en-PK"/>
          </a:p>
        </p:txBody>
      </p:sp>
      <p:sp>
        <p:nvSpPr>
          <p:cNvPr id="84" name="Shape 82"/>
          <p:cNvSpPr/>
          <p:nvPr/>
        </p:nvSpPr>
        <p:spPr>
          <a:xfrm>
            <a:off x="7414321" y="3498860"/>
            <a:ext cx="363565" cy="0"/>
          </a:xfrm>
          <a:prstGeom prst="line">
            <a:avLst/>
          </a:prstGeom>
          <a:solidFill>
            <a:srgbClr val="FFFFFF">
              <a:alpha val="0"/>
            </a:srgbClr>
          </a:solidFill>
          <a:ln w="15240">
            <a:solidFill>
              <a:srgbClr val="364BAD"/>
            </a:solidFill>
            <a:prstDash val="solid"/>
          </a:ln>
        </p:spPr>
        <p:txBody>
          <a:bodyPr/>
          <a:lstStyle/>
          <a:p>
            <a:endParaRPr lang="en-PK"/>
          </a:p>
        </p:txBody>
      </p:sp>
      <p:sp>
        <p:nvSpPr>
          <p:cNvPr id="85" name="Shape 83"/>
          <p:cNvSpPr/>
          <p:nvPr/>
        </p:nvSpPr>
        <p:spPr>
          <a:xfrm>
            <a:off x="7414321" y="3616635"/>
            <a:ext cx="363565" cy="0"/>
          </a:xfrm>
          <a:prstGeom prst="line">
            <a:avLst/>
          </a:prstGeom>
          <a:solidFill>
            <a:srgbClr val="FFFFFF">
              <a:alpha val="0"/>
            </a:srgbClr>
          </a:solidFill>
          <a:ln w="15240">
            <a:solidFill>
              <a:srgbClr val="364BAD"/>
            </a:solidFill>
            <a:prstDash val="solid"/>
          </a:ln>
        </p:spPr>
        <p:txBody>
          <a:bodyPr/>
          <a:lstStyle/>
          <a:p>
            <a:endParaRPr lang="en-PK"/>
          </a:p>
        </p:txBody>
      </p:sp>
      <p:sp>
        <p:nvSpPr>
          <p:cNvPr id="86" name="Text 84"/>
          <p:cNvSpPr/>
          <p:nvPr/>
        </p:nvSpPr>
        <p:spPr>
          <a:xfrm>
            <a:off x="6903720" y="3886200"/>
            <a:ext cx="1545336" cy="402336"/>
          </a:xfrm>
          <a:prstGeom prst="rect">
            <a:avLst/>
          </a:prstGeom>
          <a:noFill/>
          <a:ln/>
        </p:spPr>
        <p:txBody>
          <a:bodyPr wrap="square" lIns="0" tIns="0" rIns="0" bIns="0" rtlCol="0" anchor="t">
            <a:normAutofit/>
          </a:bodyPr>
          <a:lstStyle/>
          <a:p>
            <a:pPr marL="0" indent="0" algn="ctr">
              <a:buNone/>
            </a:pPr>
            <a:r>
              <a:rPr lang="en-US" sz="1140" b="1" dirty="0">
                <a:solidFill>
                  <a:srgbClr val="1C2255"/>
                </a:solidFill>
                <a:latin typeface="Arial" pitchFamily="34" charset="0"/>
                <a:ea typeface="Arial" pitchFamily="34" charset="-122"/>
                <a:cs typeface="Arial" pitchFamily="34" charset="-120"/>
              </a:rPr>
              <a:t>DOCUMENT STORAGE</a:t>
            </a:r>
            <a:endParaRPr lang="en-US" sz="1140" dirty="0"/>
          </a:p>
        </p:txBody>
      </p:sp>
      <p:sp>
        <p:nvSpPr>
          <p:cNvPr id="87" name="Text 85"/>
          <p:cNvSpPr/>
          <p:nvPr/>
        </p:nvSpPr>
        <p:spPr>
          <a:xfrm>
            <a:off x="6903720" y="4407408"/>
            <a:ext cx="1545336" cy="347472"/>
          </a:xfrm>
          <a:prstGeom prst="rect">
            <a:avLst/>
          </a:prstGeom>
          <a:noFill/>
          <a:ln/>
        </p:spPr>
        <p:txBody>
          <a:bodyPr wrap="square" lIns="0" tIns="0" rIns="0" bIns="0" rtlCol="0" anchor="t">
            <a:normAutofit fontScale="92500"/>
          </a:bodyPr>
          <a:lstStyle/>
          <a:p>
            <a:pPr algn="ctr"/>
            <a:r>
              <a:rPr lang="en-US" sz="1100" dirty="0"/>
              <a:t>Securely stores submitted documents and revisions</a:t>
            </a:r>
            <a:endParaRPr lang="en-US" sz="1060" dirty="0"/>
          </a:p>
        </p:txBody>
      </p:sp>
      <p:sp>
        <p:nvSpPr>
          <p:cNvPr id="88" name="Shape 86"/>
          <p:cNvSpPr/>
          <p:nvPr/>
        </p:nvSpPr>
        <p:spPr>
          <a:xfrm rot="10800000">
            <a:off x="501823" y="5229636"/>
            <a:ext cx="340523" cy="385328"/>
          </a:xfrm>
          <a:prstGeom prst="pentagon">
            <a:avLst/>
          </a:prstGeom>
          <a:solidFill>
            <a:srgbClr val="FFFFFF"/>
          </a:solidFill>
          <a:ln w="22860">
            <a:solidFill>
              <a:srgbClr val="364BAD"/>
            </a:solidFill>
            <a:prstDash val="solid"/>
          </a:ln>
        </p:spPr>
        <p:txBody>
          <a:bodyPr/>
          <a:lstStyle/>
          <a:p>
            <a:endParaRPr lang="en-PK"/>
          </a:p>
        </p:txBody>
      </p:sp>
      <p:sp>
        <p:nvSpPr>
          <p:cNvPr id="89" name="Shape 87"/>
          <p:cNvSpPr/>
          <p:nvPr/>
        </p:nvSpPr>
        <p:spPr>
          <a:xfrm>
            <a:off x="582473" y="5399898"/>
            <a:ext cx="67208" cy="71689"/>
          </a:xfrm>
          <a:prstGeom prst="line">
            <a:avLst/>
          </a:prstGeom>
          <a:solidFill>
            <a:srgbClr val="FFFFFF">
              <a:alpha val="0"/>
            </a:srgbClr>
          </a:solidFill>
          <a:ln w="25400">
            <a:solidFill>
              <a:srgbClr val="364BAD"/>
            </a:solidFill>
            <a:prstDash val="solid"/>
          </a:ln>
        </p:spPr>
        <p:txBody>
          <a:bodyPr/>
          <a:lstStyle/>
          <a:p>
            <a:endParaRPr lang="en-PK"/>
          </a:p>
        </p:txBody>
      </p:sp>
      <p:sp>
        <p:nvSpPr>
          <p:cNvPr id="90" name="Shape 88"/>
          <p:cNvSpPr/>
          <p:nvPr/>
        </p:nvSpPr>
        <p:spPr>
          <a:xfrm flipV="1">
            <a:off x="649681" y="5341650"/>
            <a:ext cx="120975" cy="129936"/>
          </a:xfrm>
          <a:prstGeom prst="line">
            <a:avLst/>
          </a:prstGeom>
          <a:solidFill>
            <a:srgbClr val="FFFFFF">
              <a:alpha val="0"/>
            </a:srgbClr>
          </a:solidFill>
          <a:ln w="25400">
            <a:solidFill>
              <a:srgbClr val="364BAD"/>
            </a:solidFill>
            <a:prstDash val="solid"/>
          </a:ln>
        </p:spPr>
        <p:txBody>
          <a:bodyPr/>
          <a:lstStyle/>
          <a:p>
            <a:endParaRPr lang="en-PK"/>
          </a:p>
        </p:txBody>
      </p:sp>
      <p:sp>
        <p:nvSpPr>
          <p:cNvPr id="91" name="Text 89"/>
          <p:cNvSpPr/>
          <p:nvPr/>
        </p:nvSpPr>
        <p:spPr>
          <a:xfrm>
            <a:off x="1042416" y="5212080"/>
            <a:ext cx="3026664" cy="484632"/>
          </a:xfrm>
          <a:prstGeom prst="rect">
            <a:avLst/>
          </a:prstGeom>
          <a:noFill/>
          <a:ln/>
        </p:spPr>
        <p:txBody>
          <a:bodyPr wrap="square" lIns="0" tIns="0" rIns="0" bIns="0" rtlCol="0" anchor="t">
            <a:normAutofit/>
          </a:bodyPr>
          <a:lstStyle/>
          <a:p>
            <a:pPr marL="0" indent="0">
              <a:buNone/>
            </a:pPr>
            <a:r>
              <a:rPr lang="en-US" sz="1300" b="1" dirty="0">
                <a:solidFill>
                  <a:srgbClr val="1C2255"/>
                </a:solidFill>
                <a:latin typeface="Arial" pitchFamily="34" charset="0"/>
                <a:ea typeface="Arial" pitchFamily="34" charset="-122"/>
                <a:cs typeface="Arial" pitchFamily="34" charset="-120"/>
              </a:rPr>
              <a:t>Secure access and</a:t>
            </a:r>
            <a:endParaRPr lang="en-US" sz="1300" dirty="0"/>
          </a:p>
          <a:p>
            <a:pPr marL="0" indent="0">
              <a:buNone/>
            </a:pPr>
            <a:r>
              <a:rPr lang="en-US" sz="1300" b="1" dirty="0">
                <a:solidFill>
                  <a:srgbClr val="1C2255"/>
                </a:solidFill>
                <a:latin typeface="Arial" pitchFamily="34" charset="0"/>
                <a:ea typeface="Arial" pitchFamily="34" charset="-122"/>
                <a:cs typeface="Arial" pitchFamily="34" charset="-120"/>
              </a:rPr>
              <a:t>client isolation</a:t>
            </a:r>
            <a:endParaRPr lang="en-US" sz="1300" dirty="0"/>
          </a:p>
        </p:txBody>
      </p:sp>
      <p:sp>
        <p:nvSpPr>
          <p:cNvPr id="92" name="Shape 90"/>
          <p:cNvSpPr/>
          <p:nvPr/>
        </p:nvSpPr>
        <p:spPr>
          <a:xfrm>
            <a:off x="4333342" y="5238598"/>
            <a:ext cx="358445" cy="358445"/>
          </a:xfrm>
          <a:prstGeom prst="ellipse">
            <a:avLst/>
          </a:prstGeom>
          <a:solidFill>
            <a:srgbClr val="FFFFFF"/>
          </a:solidFill>
          <a:ln w="21590">
            <a:solidFill>
              <a:srgbClr val="364BAD"/>
            </a:solidFill>
            <a:prstDash val="solid"/>
          </a:ln>
        </p:spPr>
        <p:txBody>
          <a:bodyPr/>
          <a:lstStyle/>
          <a:p>
            <a:endParaRPr lang="en-PK"/>
          </a:p>
        </p:txBody>
      </p:sp>
      <p:sp>
        <p:nvSpPr>
          <p:cNvPr id="93" name="Shape 91"/>
          <p:cNvSpPr/>
          <p:nvPr/>
        </p:nvSpPr>
        <p:spPr>
          <a:xfrm>
            <a:off x="4508083" y="5305806"/>
            <a:ext cx="0" cy="120975"/>
          </a:xfrm>
          <a:prstGeom prst="line">
            <a:avLst/>
          </a:prstGeom>
          <a:solidFill>
            <a:srgbClr val="FFFFFF">
              <a:alpha val="0"/>
            </a:srgbClr>
          </a:solidFill>
          <a:ln w="21590">
            <a:solidFill>
              <a:srgbClr val="364BAD"/>
            </a:solidFill>
            <a:prstDash val="solid"/>
          </a:ln>
        </p:spPr>
        <p:txBody>
          <a:bodyPr/>
          <a:lstStyle/>
          <a:p>
            <a:endParaRPr lang="en-PK"/>
          </a:p>
        </p:txBody>
      </p:sp>
      <p:sp>
        <p:nvSpPr>
          <p:cNvPr id="94" name="Shape 92"/>
          <p:cNvSpPr/>
          <p:nvPr/>
        </p:nvSpPr>
        <p:spPr>
          <a:xfrm>
            <a:off x="4508083" y="5426781"/>
            <a:ext cx="94092" cy="44806"/>
          </a:xfrm>
          <a:prstGeom prst="line">
            <a:avLst/>
          </a:prstGeom>
          <a:solidFill>
            <a:srgbClr val="FFFFFF">
              <a:alpha val="0"/>
            </a:srgbClr>
          </a:solidFill>
          <a:ln w="21590">
            <a:solidFill>
              <a:srgbClr val="364BAD"/>
            </a:solidFill>
            <a:prstDash val="solid"/>
          </a:ln>
        </p:spPr>
        <p:txBody>
          <a:bodyPr/>
          <a:lstStyle/>
          <a:p>
            <a:endParaRPr lang="en-PK"/>
          </a:p>
        </p:txBody>
      </p:sp>
      <p:sp>
        <p:nvSpPr>
          <p:cNvPr id="95" name="Shape 93"/>
          <p:cNvSpPr/>
          <p:nvPr/>
        </p:nvSpPr>
        <p:spPr>
          <a:xfrm>
            <a:off x="4342303" y="5278923"/>
            <a:ext cx="0" cy="98572"/>
          </a:xfrm>
          <a:prstGeom prst="line">
            <a:avLst/>
          </a:prstGeom>
          <a:solidFill>
            <a:srgbClr val="FFFFFF">
              <a:alpha val="0"/>
            </a:srgbClr>
          </a:solidFill>
          <a:ln w="25400">
            <a:solidFill>
              <a:srgbClr val="364BAD"/>
            </a:solidFill>
            <a:prstDash val="solid"/>
          </a:ln>
        </p:spPr>
        <p:txBody>
          <a:bodyPr/>
          <a:lstStyle/>
          <a:p>
            <a:endParaRPr lang="en-PK"/>
          </a:p>
        </p:txBody>
      </p:sp>
      <p:sp>
        <p:nvSpPr>
          <p:cNvPr id="96" name="Shape 94"/>
          <p:cNvSpPr/>
          <p:nvPr/>
        </p:nvSpPr>
        <p:spPr>
          <a:xfrm flipV="1">
            <a:off x="4342303" y="5364053"/>
            <a:ext cx="103053" cy="13442"/>
          </a:xfrm>
          <a:prstGeom prst="line">
            <a:avLst/>
          </a:prstGeom>
          <a:solidFill>
            <a:srgbClr val="FFFFFF">
              <a:alpha val="0"/>
            </a:srgbClr>
          </a:solidFill>
          <a:ln w="25400">
            <a:solidFill>
              <a:srgbClr val="364BAD"/>
            </a:solidFill>
            <a:prstDash val="solid"/>
          </a:ln>
        </p:spPr>
        <p:txBody>
          <a:bodyPr/>
          <a:lstStyle/>
          <a:p>
            <a:endParaRPr lang="en-PK"/>
          </a:p>
        </p:txBody>
      </p:sp>
      <p:sp>
        <p:nvSpPr>
          <p:cNvPr id="97" name="Text 95"/>
          <p:cNvSpPr/>
          <p:nvPr/>
        </p:nvSpPr>
        <p:spPr>
          <a:xfrm>
            <a:off x="4882896" y="5212080"/>
            <a:ext cx="3026664" cy="484632"/>
          </a:xfrm>
          <a:prstGeom prst="rect">
            <a:avLst/>
          </a:prstGeom>
          <a:noFill/>
          <a:ln/>
        </p:spPr>
        <p:txBody>
          <a:bodyPr wrap="square" lIns="0" tIns="0" rIns="0" bIns="0" rtlCol="0" anchor="t">
            <a:normAutofit/>
          </a:bodyPr>
          <a:lstStyle/>
          <a:p>
            <a:pPr marL="0" indent="0">
              <a:buNone/>
            </a:pPr>
            <a:r>
              <a:rPr lang="en-US" sz="1300" b="1" dirty="0">
                <a:solidFill>
                  <a:srgbClr val="1C2255"/>
                </a:solidFill>
                <a:latin typeface="Arial" pitchFamily="34" charset="0"/>
                <a:ea typeface="Arial" pitchFamily="34" charset="-122"/>
                <a:cs typeface="Arial" pitchFamily="34" charset="-120"/>
              </a:rPr>
              <a:t>Version history and</a:t>
            </a:r>
            <a:endParaRPr lang="en-US" sz="1300" dirty="0"/>
          </a:p>
          <a:p>
            <a:pPr marL="0" indent="0">
              <a:buNone/>
            </a:pPr>
            <a:r>
              <a:rPr lang="en-US" sz="1300" b="1" dirty="0">
                <a:solidFill>
                  <a:srgbClr val="1C2255"/>
                </a:solidFill>
                <a:latin typeface="Arial" pitchFamily="34" charset="0"/>
                <a:ea typeface="Arial" pitchFamily="34" charset="-122"/>
                <a:cs typeface="Arial" pitchFamily="34" charset="-120"/>
              </a:rPr>
              <a:t>recorded decisions</a:t>
            </a:r>
            <a:endParaRPr lang="en-US" sz="1300" dirty="0"/>
          </a:p>
        </p:txBody>
      </p:sp>
      <p:sp>
        <p:nvSpPr>
          <p:cNvPr id="98" name="Shape 96"/>
          <p:cNvSpPr/>
          <p:nvPr/>
        </p:nvSpPr>
        <p:spPr>
          <a:xfrm>
            <a:off x="8137977" y="5274442"/>
            <a:ext cx="430134" cy="291236"/>
          </a:xfrm>
          <a:prstGeom prst="roundRect">
            <a:avLst>
              <a:gd name="adj" fmla="val 25118"/>
            </a:avLst>
          </a:prstGeom>
          <a:solidFill>
            <a:srgbClr val="FFFFFF"/>
          </a:solidFill>
          <a:ln w="8255">
            <a:solidFill>
              <a:srgbClr val="364BAD"/>
            </a:solidFill>
            <a:prstDash val="solid"/>
          </a:ln>
        </p:spPr>
        <p:txBody>
          <a:bodyPr/>
          <a:lstStyle/>
          <a:p>
            <a:endParaRPr lang="en-PK"/>
          </a:p>
        </p:txBody>
      </p:sp>
      <p:sp>
        <p:nvSpPr>
          <p:cNvPr id="99" name="Shape 97"/>
          <p:cNvSpPr/>
          <p:nvPr/>
        </p:nvSpPr>
        <p:spPr>
          <a:xfrm>
            <a:off x="8146938" y="5292364"/>
            <a:ext cx="206106" cy="156820"/>
          </a:xfrm>
          <a:prstGeom prst="line">
            <a:avLst/>
          </a:prstGeom>
          <a:solidFill>
            <a:srgbClr val="FFFFFF">
              <a:alpha val="0"/>
            </a:srgbClr>
          </a:solidFill>
          <a:ln w="21590">
            <a:solidFill>
              <a:srgbClr val="364BAD"/>
            </a:solidFill>
            <a:prstDash val="solid"/>
          </a:ln>
        </p:spPr>
        <p:txBody>
          <a:bodyPr/>
          <a:lstStyle/>
          <a:p>
            <a:endParaRPr lang="en-PK"/>
          </a:p>
        </p:txBody>
      </p:sp>
      <p:sp>
        <p:nvSpPr>
          <p:cNvPr id="100" name="Shape 98"/>
          <p:cNvSpPr/>
          <p:nvPr/>
        </p:nvSpPr>
        <p:spPr>
          <a:xfrm flipV="1">
            <a:off x="8353044" y="5292364"/>
            <a:ext cx="206106" cy="156820"/>
          </a:xfrm>
          <a:prstGeom prst="line">
            <a:avLst/>
          </a:prstGeom>
          <a:solidFill>
            <a:srgbClr val="FFFFFF">
              <a:alpha val="0"/>
            </a:srgbClr>
          </a:solidFill>
          <a:ln w="21590">
            <a:solidFill>
              <a:srgbClr val="364BAD"/>
            </a:solidFill>
            <a:prstDash val="solid"/>
          </a:ln>
        </p:spPr>
        <p:txBody>
          <a:bodyPr/>
          <a:lstStyle/>
          <a:p>
            <a:endParaRPr lang="en-PK"/>
          </a:p>
        </p:txBody>
      </p:sp>
      <p:sp>
        <p:nvSpPr>
          <p:cNvPr id="101" name="Text 99"/>
          <p:cNvSpPr/>
          <p:nvPr/>
        </p:nvSpPr>
        <p:spPr>
          <a:xfrm>
            <a:off x="8723376" y="5212080"/>
            <a:ext cx="3026664" cy="484632"/>
          </a:xfrm>
          <a:prstGeom prst="rect">
            <a:avLst/>
          </a:prstGeom>
          <a:noFill/>
          <a:ln/>
        </p:spPr>
        <p:txBody>
          <a:bodyPr wrap="square" lIns="0" tIns="0" rIns="0" bIns="0" rtlCol="0" anchor="t">
            <a:normAutofit/>
          </a:bodyPr>
          <a:lstStyle/>
          <a:p>
            <a:pPr marL="0" indent="0">
              <a:buNone/>
            </a:pPr>
            <a:r>
              <a:rPr lang="en-US" sz="1300" b="1" dirty="0">
                <a:solidFill>
                  <a:srgbClr val="1C2255"/>
                </a:solidFill>
                <a:latin typeface="Arial" pitchFamily="34" charset="0"/>
                <a:ea typeface="Arial" pitchFamily="34" charset="-122"/>
                <a:cs typeface="Arial" pitchFamily="34" charset="-120"/>
              </a:rPr>
              <a:t>Client email and</a:t>
            </a:r>
            <a:endParaRPr lang="en-US" sz="1300" dirty="0"/>
          </a:p>
          <a:p>
            <a:pPr marL="0" indent="0">
              <a:buNone/>
            </a:pPr>
            <a:r>
              <a:rPr lang="en-US" sz="1300" b="1" dirty="0">
                <a:solidFill>
                  <a:srgbClr val="1C2255"/>
                </a:solidFill>
                <a:latin typeface="Arial" pitchFamily="34" charset="0"/>
                <a:ea typeface="Arial" pitchFamily="34" charset="-122"/>
                <a:cs typeface="Arial" pitchFamily="34" charset="-120"/>
              </a:rPr>
              <a:t>admin notifications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93192" y="210312"/>
            <a:ext cx="4023360" cy="201168"/>
          </a:xfrm>
          <a:prstGeom prst="rect">
            <a:avLst/>
          </a:prstGeom>
          <a:noFill/>
          <a:ln/>
        </p:spPr>
        <p:txBody>
          <a:bodyPr wrap="square" lIns="0" tIns="0" rIns="0" bIns="0" rtlCol="0" anchor="t">
            <a:normAutofit/>
          </a:bodyPr>
          <a:lstStyle/>
          <a:p>
            <a:pPr marL="0" indent="0">
              <a:buNone/>
            </a:pPr>
            <a:r>
              <a:rPr lang="en-US" sz="1080" dirty="0">
                <a:solidFill>
                  <a:srgbClr val="8B95AA"/>
                </a:solidFill>
                <a:latin typeface="Arial" pitchFamily="34" charset="0"/>
                <a:ea typeface="Arial" pitchFamily="34" charset="-122"/>
                <a:cs typeface="Arial" pitchFamily="34" charset="-120"/>
              </a:rPr>
              <a:t>Workflow and practical example</a:t>
            </a:r>
            <a:endParaRPr lang="en-US" sz="1080" dirty="0"/>
          </a:p>
        </p:txBody>
      </p:sp>
      <p:sp>
        <p:nvSpPr>
          <p:cNvPr id="3" name="Shape 1"/>
          <p:cNvSpPr/>
          <p:nvPr/>
        </p:nvSpPr>
        <p:spPr>
          <a:xfrm>
            <a:off x="5010912" y="164592"/>
            <a:ext cx="2176272" cy="0"/>
          </a:xfrm>
          <a:prstGeom prst="line">
            <a:avLst/>
          </a:prstGeom>
          <a:solidFill>
            <a:srgbClr val="FFFFFF">
              <a:alpha val="0"/>
            </a:srgbClr>
          </a:solidFill>
          <a:ln w="11430">
            <a:solidFill>
              <a:srgbClr val="FF6B00"/>
            </a:solidFill>
            <a:prstDash val="solid"/>
          </a:ln>
        </p:spPr>
        <p:txBody>
          <a:bodyPr/>
          <a:lstStyle/>
          <a:p>
            <a:endParaRPr lang="en-PK"/>
          </a:p>
        </p:txBody>
      </p:sp>
      <p:sp>
        <p:nvSpPr>
          <p:cNvPr id="4" name="Shape 2"/>
          <p:cNvSpPr/>
          <p:nvPr/>
        </p:nvSpPr>
        <p:spPr>
          <a:xfrm>
            <a:off x="5010912" y="420624"/>
            <a:ext cx="2176272" cy="0"/>
          </a:xfrm>
          <a:prstGeom prst="line">
            <a:avLst/>
          </a:prstGeom>
          <a:solidFill>
            <a:srgbClr val="FFFFFF">
              <a:alpha val="0"/>
            </a:srgbClr>
          </a:solidFill>
          <a:ln w="11430">
            <a:solidFill>
              <a:srgbClr val="FF6B00"/>
            </a:solidFill>
            <a:prstDash val="solid"/>
          </a:ln>
        </p:spPr>
        <p:txBody>
          <a:bodyPr/>
          <a:lstStyle/>
          <a:p>
            <a:endParaRPr lang="en-PK"/>
          </a:p>
        </p:txBody>
      </p:sp>
      <p:sp>
        <p:nvSpPr>
          <p:cNvPr id="5" name="Text 3"/>
          <p:cNvSpPr/>
          <p:nvPr/>
        </p:nvSpPr>
        <p:spPr>
          <a:xfrm>
            <a:off x="5020056" y="244145"/>
            <a:ext cx="2148840" cy="146304"/>
          </a:xfrm>
          <a:prstGeom prst="rect">
            <a:avLst/>
          </a:prstGeom>
          <a:noFill/>
          <a:ln/>
        </p:spPr>
        <p:txBody>
          <a:bodyPr wrap="square" lIns="0" tIns="0" rIns="0" bIns="0" rtlCol="0" anchor="t">
            <a:normAutofit/>
          </a:bodyPr>
          <a:lstStyle/>
          <a:p>
            <a:pPr marL="0" indent="0" algn="ctr">
              <a:buNone/>
            </a:pPr>
            <a:r>
              <a:rPr lang="en-US" sz="920" b="1" dirty="0">
                <a:solidFill>
                  <a:srgbClr val="FF6B00"/>
                </a:solidFill>
                <a:latin typeface="Arial" pitchFamily="34" charset="0"/>
                <a:ea typeface="Arial" pitchFamily="34" charset="-122"/>
                <a:cs typeface="Arial" pitchFamily="34" charset="-120"/>
              </a:rPr>
              <a:t>F O R   D I S C U S S I O N</a:t>
            </a:r>
            <a:endParaRPr lang="en-US" sz="920" dirty="0"/>
          </a:p>
        </p:txBody>
      </p:sp>
      <p:sp>
        <p:nvSpPr>
          <p:cNvPr id="6" name="Text 4"/>
          <p:cNvSpPr/>
          <p:nvPr/>
        </p:nvSpPr>
        <p:spPr>
          <a:xfrm>
            <a:off x="10314432" y="210312"/>
            <a:ext cx="1481328" cy="201168"/>
          </a:xfrm>
          <a:prstGeom prst="rect">
            <a:avLst/>
          </a:prstGeom>
          <a:noFill/>
          <a:ln/>
        </p:spPr>
        <p:txBody>
          <a:bodyPr wrap="square" lIns="0" tIns="0" rIns="0" bIns="0" rtlCol="0" anchor="t">
            <a:normAutofit/>
          </a:bodyPr>
          <a:lstStyle/>
          <a:p>
            <a:pPr marL="0" indent="0" algn="r">
              <a:buNone/>
            </a:pPr>
            <a:r>
              <a:rPr lang="en-US" sz="1150" b="1" dirty="0">
                <a:solidFill>
                  <a:srgbClr val="1C2255"/>
                </a:solidFill>
                <a:latin typeface="Arial" pitchFamily="34" charset="0"/>
                <a:ea typeface="Arial" pitchFamily="34" charset="-122"/>
                <a:cs typeface="Arial" pitchFamily="34" charset="-120"/>
              </a:rPr>
              <a:t>NEELEY LAW</a:t>
            </a:r>
            <a:endParaRPr lang="en-US" sz="1150" dirty="0"/>
          </a:p>
        </p:txBody>
      </p:sp>
      <p:sp>
        <p:nvSpPr>
          <p:cNvPr id="7" name="Text 5"/>
          <p:cNvSpPr/>
          <p:nvPr/>
        </p:nvSpPr>
        <p:spPr>
          <a:xfrm>
            <a:off x="393192" y="658368"/>
            <a:ext cx="11402568" cy="667512"/>
          </a:xfrm>
          <a:prstGeom prst="rect">
            <a:avLst/>
          </a:prstGeom>
          <a:noFill/>
          <a:ln/>
        </p:spPr>
        <p:txBody>
          <a:bodyPr wrap="square" lIns="0" tIns="0" rIns="0" bIns="0" rtlCol="0" anchor="t">
            <a:normAutofit/>
          </a:bodyPr>
          <a:lstStyle/>
          <a:p>
            <a:pPr marL="0" indent="0">
              <a:buNone/>
            </a:pPr>
            <a:r>
              <a:rPr lang="en-US" sz="2650" b="1" dirty="0">
                <a:solidFill>
                  <a:srgbClr val="1C2255"/>
                </a:solidFill>
                <a:latin typeface="Arial" pitchFamily="34" charset="0"/>
                <a:ea typeface="Arial" pitchFamily="34" charset="-122"/>
                <a:cs typeface="Arial" pitchFamily="34" charset="-120"/>
              </a:rPr>
              <a:t>A correction returns through the same tracked approval workflow</a:t>
            </a:r>
            <a:endParaRPr lang="en-US" sz="2650" dirty="0"/>
          </a:p>
        </p:txBody>
      </p:sp>
      <p:sp>
        <p:nvSpPr>
          <p:cNvPr id="8" name="Text 6"/>
          <p:cNvSpPr/>
          <p:nvPr/>
        </p:nvSpPr>
        <p:spPr>
          <a:xfrm>
            <a:off x="393192" y="1298448"/>
            <a:ext cx="11292840" cy="274320"/>
          </a:xfrm>
          <a:prstGeom prst="rect">
            <a:avLst/>
          </a:prstGeom>
          <a:noFill/>
          <a:ln/>
        </p:spPr>
        <p:txBody>
          <a:bodyPr wrap="square" lIns="0" tIns="0" rIns="0" bIns="0" rtlCol="0" anchor="t">
            <a:normAutofit/>
          </a:bodyPr>
          <a:lstStyle/>
          <a:p>
            <a:pPr marL="0" indent="0">
              <a:buNone/>
            </a:pPr>
            <a:r>
              <a:rPr lang="en-US" sz="1380" dirty="0">
                <a:solidFill>
                  <a:srgbClr val="687B96"/>
                </a:solidFill>
                <a:latin typeface="Arial" pitchFamily="34" charset="0"/>
                <a:ea typeface="Arial" pitchFamily="34" charset="-122"/>
                <a:cs typeface="Arial" pitchFamily="34" charset="-120"/>
              </a:rPr>
              <a:t>The proposal’s four-document example shows the client, system and administrator responsibilities.</a:t>
            </a:r>
            <a:endParaRPr lang="en-US" sz="1380" dirty="0"/>
          </a:p>
        </p:txBody>
      </p:sp>
      <p:sp>
        <p:nvSpPr>
          <p:cNvPr id="9" name="Shape 7"/>
          <p:cNvSpPr/>
          <p:nvPr/>
        </p:nvSpPr>
        <p:spPr>
          <a:xfrm>
            <a:off x="393192" y="1664208"/>
            <a:ext cx="11402568" cy="0"/>
          </a:xfrm>
          <a:prstGeom prst="line">
            <a:avLst/>
          </a:prstGeom>
          <a:solidFill>
            <a:srgbClr val="FFFFFF">
              <a:alpha val="0"/>
            </a:srgbClr>
          </a:solidFill>
          <a:ln w="9525">
            <a:solidFill>
              <a:srgbClr val="CED6E6"/>
            </a:solidFill>
            <a:prstDash val="solid"/>
          </a:ln>
        </p:spPr>
        <p:txBody>
          <a:bodyPr/>
          <a:lstStyle/>
          <a:p>
            <a:endParaRPr lang="en-PK"/>
          </a:p>
        </p:txBody>
      </p:sp>
      <p:sp>
        <p:nvSpPr>
          <p:cNvPr id="11" name="Shape 9"/>
          <p:cNvSpPr/>
          <p:nvPr/>
        </p:nvSpPr>
        <p:spPr>
          <a:xfrm>
            <a:off x="393192" y="6583680"/>
            <a:ext cx="11402568" cy="0"/>
          </a:xfrm>
          <a:prstGeom prst="line">
            <a:avLst/>
          </a:prstGeom>
          <a:solidFill>
            <a:srgbClr val="FFFFFF">
              <a:alpha val="0"/>
            </a:srgbClr>
          </a:solidFill>
          <a:ln w="8255">
            <a:solidFill>
              <a:srgbClr val="CED6E6"/>
            </a:solidFill>
            <a:prstDash val="solid"/>
          </a:ln>
        </p:spPr>
        <p:txBody>
          <a:bodyPr/>
          <a:lstStyle/>
          <a:p>
            <a:endParaRPr lang="en-PK"/>
          </a:p>
        </p:txBody>
      </p:sp>
      <p:sp>
        <p:nvSpPr>
          <p:cNvPr id="12" name="Text 10"/>
          <p:cNvSpPr/>
          <p:nvPr/>
        </p:nvSpPr>
        <p:spPr>
          <a:xfrm>
            <a:off x="393192" y="6647688"/>
            <a:ext cx="3017520" cy="137160"/>
          </a:xfrm>
          <a:prstGeom prst="rect">
            <a:avLst/>
          </a:prstGeom>
          <a:noFill/>
          <a:ln/>
        </p:spPr>
        <p:txBody>
          <a:bodyPr wrap="square" lIns="0" tIns="0" rIns="0" bIns="0" rtlCol="0" anchor="t">
            <a:normAutofit/>
          </a:bodyPr>
          <a:lstStyle/>
          <a:p>
            <a:pPr marL="0" indent="0">
              <a:buNone/>
            </a:pPr>
            <a:r>
              <a:rPr lang="en-US" sz="770" dirty="0">
                <a:solidFill>
                  <a:srgbClr val="8B95AA"/>
                </a:solidFill>
                <a:latin typeface="Arial" pitchFamily="34" charset="0"/>
                <a:ea typeface="Arial" pitchFamily="34" charset="-122"/>
                <a:cs typeface="Arial" pitchFamily="34" charset="-120"/>
              </a:rPr>
              <a:t>Confidential  |  Initial proposal</a:t>
            </a:r>
            <a:endParaRPr lang="en-US" sz="770" dirty="0"/>
          </a:p>
        </p:txBody>
      </p:sp>
      <p:sp>
        <p:nvSpPr>
          <p:cNvPr id="13" name="Text 11"/>
          <p:cNvSpPr/>
          <p:nvPr/>
        </p:nvSpPr>
        <p:spPr>
          <a:xfrm>
            <a:off x="3730752" y="6647688"/>
            <a:ext cx="4937760" cy="137160"/>
          </a:xfrm>
          <a:prstGeom prst="rect">
            <a:avLst/>
          </a:prstGeom>
          <a:noFill/>
          <a:ln/>
        </p:spPr>
        <p:txBody>
          <a:bodyPr wrap="square" lIns="0" tIns="0" rIns="0" bIns="0" rtlCol="0" anchor="t">
            <a:normAutofit/>
          </a:bodyPr>
          <a:lstStyle/>
          <a:p>
            <a:pPr marL="0" indent="0" algn="ctr">
              <a:buNone/>
            </a:pPr>
            <a:r>
              <a:rPr lang="en-US" sz="770" dirty="0">
                <a:solidFill>
                  <a:srgbClr val="8B95AA"/>
                </a:solidFill>
                <a:latin typeface="Arial" pitchFamily="34" charset="0"/>
                <a:ea typeface="Arial" pitchFamily="34" charset="-122"/>
                <a:cs typeface="Arial" pitchFamily="34" charset="-120"/>
              </a:rPr>
              <a:t>[Delivery Partner]  |  Company / presenter placeholder</a:t>
            </a:r>
            <a:endParaRPr lang="en-US" sz="770" dirty="0"/>
          </a:p>
        </p:txBody>
      </p:sp>
      <p:sp>
        <p:nvSpPr>
          <p:cNvPr id="14" name="Text 12"/>
          <p:cNvSpPr/>
          <p:nvPr/>
        </p:nvSpPr>
        <p:spPr>
          <a:xfrm>
            <a:off x="9811512" y="6647688"/>
            <a:ext cx="1417320" cy="137160"/>
          </a:xfrm>
          <a:prstGeom prst="rect">
            <a:avLst/>
          </a:prstGeom>
          <a:noFill/>
          <a:ln/>
        </p:spPr>
        <p:txBody>
          <a:bodyPr wrap="square" lIns="0" tIns="0" rIns="0" bIns="0" rtlCol="0" anchor="t">
            <a:normAutofit/>
          </a:bodyPr>
          <a:lstStyle/>
          <a:p>
            <a:pPr marL="0" indent="0" algn="r">
              <a:buNone/>
            </a:pPr>
            <a:r>
              <a:rPr lang="en-US" sz="770" dirty="0" smtClean="0">
                <a:solidFill>
                  <a:srgbClr val="8B95AA"/>
                </a:solidFill>
                <a:latin typeface="Arial" pitchFamily="34" charset="0"/>
                <a:ea typeface="Arial" pitchFamily="34" charset="-122"/>
                <a:cs typeface="Arial" pitchFamily="34" charset="-120"/>
              </a:rPr>
              <a:t>September </a:t>
            </a:r>
            <a:r>
              <a:rPr lang="en-US" sz="770" dirty="0">
                <a:solidFill>
                  <a:srgbClr val="8B95AA"/>
                </a:solidFill>
                <a:latin typeface="Arial" pitchFamily="34" charset="0"/>
                <a:ea typeface="Arial" pitchFamily="34" charset="-122"/>
                <a:cs typeface="Arial" pitchFamily="34" charset="-120"/>
              </a:rPr>
              <a:t>2026</a:t>
            </a:r>
            <a:endParaRPr lang="en-US" sz="770" dirty="0"/>
          </a:p>
        </p:txBody>
      </p:sp>
      <p:sp>
        <p:nvSpPr>
          <p:cNvPr id="15" name="Shape 13"/>
          <p:cNvSpPr/>
          <p:nvPr/>
        </p:nvSpPr>
        <p:spPr>
          <a:xfrm>
            <a:off x="11430000" y="6629400"/>
            <a:ext cx="0" cy="173736"/>
          </a:xfrm>
          <a:prstGeom prst="line">
            <a:avLst/>
          </a:prstGeom>
          <a:solidFill>
            <a:srgbClr val="FFFFFF">
              <a:alpha val="0"/>
            </a:srgbClr>
          </a:solidFill>
          <a:ln w="8255">
            <a:solidFill>
              <a:srgbClr val="CED6E6"/>
            </a:solidFill>
            <a:prstDash val="solid"/>
          </a:ln>
        </p:spPr>
        <p:txBody>
          <a:bodyPr/>
          <a:lstStyle/>
          <a:p>
            <a:endParaRPr lang="en-PK"/>
          </a:p>
        </p:txBody>
      </p:sp>
      <p:sp>
        <p:nvSpPr>
          <p:cNvPr id="16" name="Text 14"/>
          <p:cNvSpPr/>
          <p:nvPr/>
        </p:nvSpPr>
        <p:spPr>
          <a:xfrm>
            <a:off x="11576304" y="6647688"/>
            <a:ext cx="219456" cy="137160"/>
          </a:xfrm>
          <a:prstGeom prst="rect">
            <a:avLst/>
          </a:prstGeom>
          <a:noFill/>
          <a:ln/>
        </p:spPr>
        <p:txBody>
          <a:bodyPr wrap="square" lIns="0" tIns="0" rIns="0" bIns="0" rtlCol="0" anchor="t">
            <a:normAutofit/>
          </a:bodyPr>
          <a:lstStyle/>
          <a:p>
            <a:pPr marL="0" indent="0" algn="r">
              <a:buNone/>
            </a:pPr>
            <a:r>
              <a:rPr lang="en-US" sz="770" dirty="0">
                <a:solidFill>
                  <a:srgbClr val="8B95AA"/>
                </a:solidFill>
                <a:latin typeface="Arial" pitchFamily="34" charset="0"/>
                <a:ea typeface="Arial" pitchFamily="34" charset="-122"/>
                <a:cs typeface="Arial" pitchFamily="34" charset="-120"/>
              </a:rPr>
              <a:t>3</a:t>
            </a:r>
            <a:endParaRPr lang="en-US" sz="770" dirty="0"/>
          </a:p>
        </p:txBody>
      </p:sp>
      <p:sp>
        <p:nvSpPr>
          <p:cNvPr id="17" name="Shape 15"/>
          <p:cNvSpPr/>
          <p:nvPr/>
        </p:nvSpPr>
        <p:spPr>
          <a:xfrm>
            <a:off x="393192" y="1865376"/>
            <a:ext cx="1773936" cy="566928"/>
          </a:xfrm>
          <a:prstGeom prst="roundRect">
            <a:avLst>
              <a:gd name="adj" fmla="val 12903"/>
            </a:avLst>
          </a:prstGeom>
          <a:solidFill>
            <a:srgbClr val="EAF5FC"/>
          </a:solidFill>
          <a:ln w="12700">
            <a:solidFill>
              <a:srgbClr val="EAF5FC">
                <a:alpha val="0"/>
              </a:srgbClr>
            </a:solidFill>
            <a:prstDash val="solid"/>
          </a:ln>
        </p:spPr>
        <p:txBody>
          <a:bodyPr/>
          <a:lstStyle/>
          <a:p>
            <a:endParaRPr lang="en-PK"/>
          </a:p>
        </p:txBody>
      </p:sp>
      <p:sp>
        <p:nvSpPr>
          <p:cNvPr id="18" name="Text 16"/>
          <p:cNvSpPr/>
          <p:nvPr/>
        </p:nvSpPr>
        <p:spPr>
          <a:xfrm>
            <a:off x="484632" y="2068831"/>
            <a:ext cx="1572768" cy="219456"/>
          </a:xfrm>
          <a:prstGeom prst="rect">
            <a:avLst/>
          </a:prstGeom>
          <a:noFill/>
          <a:ln/>
        </p:spPr>
        <p:txBody>
          <a:bodyPr wrap="square" lIns="0" tIns="0" rIns="0" bIns="0" rtlCol="0" anchor="t">
            <a:normAutofit lnSpcReduction="10000"/>
          </a:bodyPr>
          <a:lstStyle/>
          <a:p>
            <a:pPr marL="0" indent="0" algn="ctr">
              <a:buNone/>
            </a:pPr>
            <a:r>
              <a:rPr lang="en-US" sz="1470" b="1" dirty="0" smtClean="0">
                <a:solidFill>
                  <a:srgbClr val="1C2255"/>
                </a:solidFill>
                <a:latin typeface="Arial" pitchFamily="34" charset="0"/>
                <a:ea typeface="Arial" pitchFamily="34" charset="-122"/>
                <a:cs typeface="Arial" pitchFamily="34" charset="-120"/>
              </a:rPr>
              <a:t>Provide</a:t>
            </a:r>
            <a:endParaRPr lang="en-US" sz="1470" dirty="0"/>
          </a:p>
        </p:txBody>
      </p:sp>
      <p:sp>
        <p:nvSpPr>
          <p:cNvPr id="19" name="Text 17"/>
          <p:cNvSpPr/>
          <p:nvPr/>
        </p:nvSpPr>
        <p:spPr>
          <a:xfrm>
            <a:off x="502920" y="2523744"/>
            <a:ext cx="1554480" cy="146304"/>
          </a:xfrm>
          <a:prstGeom prst="rect">
            <a:avLst/>
          </a:prstGeom>
          <a:noFill/>
          <a:ln/>
        </p:spPr>
        <p:txBody>
          <a:bodyPr wrap="square" lIns="0" tIns="0" rIns="0" bIns="0" rtlCol="0" anchor="t">
            <a:normAutofit/>
          </a:bodyPr>
          <a:lstStyle/>
          <a:p>
            <a:pPr marL="0" indent="0" algn="ctr">
              <a:buNone/>
            </a:pPr>
            <a:r>
              <a:rPr lang="en-US" sz="880" b="1" dirty="0">
                <a:solidFill>
                  <a:srgbClr val="687B96"/>
                </a:solidFill>
                <a:latin typeface="Arial" pitchFamily="34" charset="0"/>
                <a:ea typeface="Arial" pitchFamily="34" charset="-122"/>
                <a:cs typeface="Arial" pitchFamily="34" charset="-120"/>
              </a:rPr>
              <a:t>FIRM</a:t>
            </a:r>
            <a:endParaRPr lang="en-US" sz="880" dirty="0"/>
          </a:p>
        </p:txBody>
      </p:sp>
      <p:sp>
        <p:nvSpPr>
          <p:cNvPr id="20" name="Shape 18"/>
          <p:cNvSpPr/>
          <p:nvPr/>
        </p:nvSpPr>
        <p:spPr>
          <a:xfrm>
            <a:off x="2208276" y="2057400"/>
            <a:ext cx="91440" cy="256032"/>
          </a:xfrm>
          <a:prstGeom prst="chevron">
            <a:avLst/>
          </a:prstGeom>
          <a:solidFill>
            <a:srgbClr val="8B95AA"/>
          </a:solidFill>
          <a:ln w="12700">
            <a:solidFill>
              <a:srgbClr val="333333">
                <a:alpha val="0"/>
              </a:srgbClr>
            </a:solidFill>
            <a:prstDash val="solid"/>
          </a:ln>
        </p:spPr>
        <p:txBody>
          <a:bodyPr/>
          <a:lstStyle/>
          <a:p>
            <a:endParaRPr lang="en-PK"/>
          </a:p>
        </p:txBody>
      </p:sp>
      <p:sp>
        <p:nvSpPr>
          <p:cNvPr id="21" name="Shape 19"/>
          <p:cNvSpPr/>
          <p:nvPr/>
        </p:nvSpPr>
        <p:spPr>
          <a:xfrm>
            <a:off x="2313432" y="1865376"/>
            <a:ext cx="1773936" cy="566928"/>
          </a:xfrm>
          <a:prstGeom prst="roundRect">
            <a:avLst>
              <a:gd name="adj" fmla="val 12903"/>
            </a:avLst>
          </a:prstGeom>
          <a:solidFill>
            <a:srgbClr val="EAF5FC"/>
          </a:solidFill>
          <a:ln w="12700">
            <a:solidFill>
              <a:srgbClr val="EAF5FC">
                <a:alpha val="0"/>
              </a:srgbClr>
            </a:solidFill>
            <a:prstDash val="solid"/>
          </a:ln>
        </p:spPr>
        <p:txBody>
          <a:bodyPr/>
          <a:lstStyle/>
          <a:p>
            <a:endParaRPr lang="en-PK"/>
          </a:p>
        </p:txBody>
      </p:sp>
      <p:sp>
        <p:nvSpPr>
          <p:cNvPr id="22" name="Text 20"/>
          <p:cNvSpPr/>
          <p:nvPr/>
        </p:nvSpPr>
        <p:spPr>
          <a:xfrm>
            <a:off x="2414016" y="2011680"/>
            <a:ext cx="1572768" cy="219456"/>
          </a:xfrm>
          <a:prstGeom prst="rect">
            <a:avLst/>
          </a:prstGeom>
          <a:noFill/>
          <a:ln/>
        </p:spPr>
        <p:txBody>
          <a:bodyPr wrap="square" lIns="0" tIns="0" rIns="0" bIns="0" rtlCol="0" anchor="t">
            <a:normAutofit lnSpcReduction="10000"/>
          </a:bodyPr>
          <a:lstStyle/>
          <a:p>
            <a:pPr marL="0" indent="0" algn="ctr">
              <a:buNone/>
            </a:pPr>
            <a:r>
              <a:rPr lang="en-US" sz="1470" b="1" dirty="0" smtClean="0">
                <a:solidFill>
                  <a:srgbClr val="1C2255"/>
                </a:solidFill>
                <a:latin typeface="Arial" pitchFamily="34" charset="0"/>
                <a:ea typeface="Arial" pitchFamily="34" charset="-122"/>
                <a:cs typeface="Arial" pitchFamily="34" charset="-120"/>
              </a:rPr>
              <a:t>Complete</a:t>
            </a:r>
            <a:endParaRPr lang="en-US" sz="1470" dirty="0"/>
          </a:p>
        </p:txBody>
      </p:sp>
      <p:sp>
        <p:nvSpPr>
          <p:cNvPr id="23" name="Text 21"/>
          <p:cNvSpPr/>
          <p:nvPr/>
        </p:nvSpPr>
        <p:spPr>
          <a:xfrm>
            <a:off x="2423160" y="2523744"/>
            <a:ext cx="1554480" cy="146304"/>
          </a:xfrm>
          <a:prstGeom prst="rect">
            <a:avLst/>
          </a:prstGeom>
          <a:noFill/>
          <a:ln/>
        </p:spPr>
        <p:txBody>
          <a:bodyPr wrap="square" lIns="0" tIns="0" rIns="0" bIns="0" rtlCol="0" anchor="t">
            <a:normAutofit/>
          </a:bodyPr>
          <a:lstStyle/>
          <a:p>
            <a:pPr marL="0" indent="0" algn="ctr">
              <a:buNone/>
            </a:pPr>
            <a:r>
              <a:rPr lang="en-US" sz="880" b="1" dirty="0">
                <a:solidFill>
                  <a:srgbClr val="687B96"/>
                </a:solidFill>
                <a:latin typeface="Arial" pitchFamily="34" charset="0"/>
                <a:ea typeface="Arial" pitchFamily="34" charset="-122"/>
                <a:cs typeface="Arial" pitchFamily="34" charset="-120"/>
              </a:rPr>
              <a:t>CLIENT</a:t>
            </a:r>
            <a:endParaRPr lang="en-US" sz="880" dirty="0"/>
          </a:p>
        </p:txBody>
      </p:sp>
      <p:sp>
        <p:nvSpPr>
          <p:cNvPr id="24" name="Shape 22"/>
          <p:cNvSpPr/>
          <p:nvPr/>
        </p:nvSpPr>
        <p:spPr>
          <a:xfrm>
            <a:off x="4128516" y="2057400"/>
            <a:ext cx="91440" cy="256032"/>
          </a:xfrm>
          <a:prstGeom prst="chevron">
            <a:avLst/>
          </a:prstGeom>
          <a:solidFill>
            <a:srgbClr val="8B95AA"/>
          </a:solidFill>
          <a:ln w="12700">
            <a:solidFill>
              <a:srgbClr val="333333">
                <a:alpha val="0"/>
              </a:srgbClr>
            </a:solidFill>
            <a:prstDash val="solid"/>
          </a:ln>
        </p:spPr>
        <p:txBody>
          <a:bodyPr/>
          <a:lstStyle/>
          <a:p>
            <a:endParaRPr lang="en-PK"/>
          </a:p>
        </p:txBody>
      </p:sp>
      <p:sp>
        <p:nvSpPr>
          <p:cNvPr id="25" name="Shape 23"/>
          <p:cNvSpPr/>
          <p:nvPr/>
        </p:nvSpPr>
        <p:spPr>
          <a:xfrm>
            <a:off x="4233672" y="1865376"/>
            <a:ext cx="1773936" cy="566928"/>
          </a:xfrm>
          <a:prstGeom prst="roundRect">
            <a:avLst>
              <a:gd name="adj" fmla="val 12903"/>
            </a:avLst>
          </a:prstGeom>
          <a:solidFill>
            <a:srgbClr val="E9F0FB"/>
          </a:solidFill>
          <a:ln w="12700">
            <a:solidFill>
              <a:srgbClr val="E9F0FB">
                <a:alpha val="0"/>
              </a:srgbClr>
            </a:solidFill>
            <a:prstDash val="solid"/>
          </a:ln>
        </p:spPr>
        <p:txBody>
          <a:bodyPr/>
          <a:lstStyle/>
          <a:p>
            <a:endParaRPr lang="en-PK"/>
          </a:p>
        </p:txBody>
      </p:sp>
      <p:sp>
        <p:nvSpPr>
          <p:cNvPr id="26" name="Text 24"/>
          <p:cNvSpPr/>
          <p:nvPr/>
        </p:nvSpPr>
        <p:spPr>
          <a:xfrm>
            <a:off x="4334256" y="2011680"/>
            <a:ext cx="1572768" cy="219456"/>
          </a:xfrm>
          <a:prstGeom prst="rect">
            <a:avLst/>
          </a:prstGeom>
          <a:noFill/>
          <a:ln/>
        </p:spPr>
        <p:txBody>
          <a:bodyPr wrap="square" lIns="0" tIns="0" rIns="0" bIns="0" rtlCol="0" anchor="t">
            <a:normAutofit lnSpcReduction="10000"/>
          </a:bodyPr>
          <a:lstStyle/>
          <a:p>
            <a:pPr marL="0" indent="0" algn="ctr">
              <a:buNone/>
            </a:pPr>
            <a:r>
              <a:rPr lang="en-US" sz="1470" b="1" dirty="0" smtClean="0">
                <a:solidFill>
                  <a:srgbClr val="1C2255"/>
                </a:solidFill>
                <a:latin typeface="Arial" pitchFamily="34" charset="0"/>
                <a:ea typeface="Arial" pitchFamily="34" charset="-122"/>
                <a:cs typeface="Arial" pitchFamily="34" charset="-120"/>
              </a:rPr>
              <a:t>Submit</a:t>
            </a:r>
            <a:endParaRPr lang="en-US" sz="1470" dirty="0"/>
          </a:p>
        </p:txBody>
      </p:sp>
      <p:sp>
        <p:nvSpPr>
          <p:cNvPr id="27" name="Text 25"/>
          <p:cNvSpPr/>
          <p:nvPr/>
        </p:nvSpPr>
        <p:spPr>
          <a:xfrm>
            <a:off x="4343400" y="2523744"/>
            <a:ext cx="1554480" cy="146304"/>
          </a:xfrm>
          <a:prstGeom prst="rect">
            <a:avLst/>
          </a:prstGeom>
          <a:noFill/>
          <a:ln/>
        </p:spPr>
        <p:txBody>
          <a:bodyPr wrap="square" lIns="0" tIns="0" rIns="0" bIns="0" rtlCol="0" anchor="t">
            <a:normAutofit/>
          </a:bodyPr>
          <a:lstStyle/>
          <a:p>
            <a:pPr marL="0" indent="0" algn="ctr">
              <a:buNone/>
            </a:pPr>
            <a:r>
              <a:rPr lang="en-US" sz="880" b="1" dirty="0" smtClean="0">
                <a:solidFill>
                  <a:srgbClr val="687B96"/>
                </a:solidFill>
                <a:latin typeface="Arial" pitchFamily="34" charset="0"/>
                <a:ea typeface="Arial" pitchFamily="34" charset="-122"/>
                <a:cs typeface="Arial" pitchFamily="34" charset="-120"/>
              </a:rPr>
              <a:t>CLIENT</a:t>
            </a:r>
            <a:endParaRPr lang="en-US" sz="880" dirty="0"/>
          </a:p>
        </p:txBody>
      </p:sp>
      <p:sp>
        <p:nvSpPr>
          <p:cNvPr id="28" name="Shape 26"/>
          <p:cNvSpPr/>
          <p:nvPr/>
        </p:nvSpPr>
        <p:spPr>
          <a:xfrm>
            <a:off x="6048756" y="2057400"/>
            <a:ext cx="91440" cy="256032"/>
          </a:xfrm>
          <a:prstGeom prst="chevron">
            <a:avLst/>
          </a:prstGeom>
          <a:solidFill>
            <a:srgbClr val="8B95AA"/>
          </a:solidFill>
          <a:ln w="12700">
            <a:solidFill>
              <a:srgbClr val="333333">
                <a:alpha val="0"/>
              </a:srgbClr>
            </a:solidFill>
            <a:prstDash val="solid"/>
          </a:ln>
        </p:spPr>
        <p:txBody>
          <a:bodyPr/>
          <a:lstStyle/>
          <a:p>
            <a:endParaRPr lang="en-PK"/>
          </a:p>
        </p:txBody>
      </p:sp>
      <p:sp>
        <p:nvSpPr>
          <p:cNvPr id="29" name="Shape 27"/>
          <p:cNvSpPr/>
          <p:nvPr/>
        </p:nvSpPr>
        <p:spPr>
          <a:xfrm>
            <a:off x="6153912" y="1865376"/>
            <a:ext cx="1773936" cy="566928"/>
          </a:xfrm>
          <a:prstGeom prst="roundRect">
            <a:avLst>
              <a:gd name="adj" fmla="val 12903"/>
            </a:avLst>
          </a:prstGeom>
          <a:solidFill>
            <a:srgbClr val="E9F0FB"/>
          </a:solidFill>
          <a:ln w="12700">
            <a:solidFill>
              <a:srgbClr val="E9F0FB">
                <a:alpha val="0"/>
              </a:srgbClr>
            </a:solidFill>
            <a:prstDash val="solid"/>
          </a:ln>
        </p:spPr>
        <p:txBody>
          <a:bodyPr/>
          <a:lstStyle/>
          <a:p>
            <a:endParaRPr lang="en-PK"/>
          </a:p>
        </p:txBody>
      </p:sp>
      <p:sp>
        <p:nvSpPr>
          <p:cNvPr id="30" name="Text 28"/>
          <p:cNvSpPr/>
          <p:nvPr/>
        </p:nvSpPr>
        <p:spPr>
          <a:xfrm>
            <a:off x="6254496" y="2011680"/>
            <a:ext cx="1572768" cy="219456"/>
          </a:xfrm>
          <a:prstGeom prst="rect">
            <a:avLst/>
          </a:prstGeom>
          <a:noFill/>
          <a:ln/>
        </p:spPr>
        <p:txBody>
          <a:bodyPr wrap="square" lIns="0" tIns="0" rIns="0" bIns="0" rtlCol="0" anchor="t">
            <a:normAutofit lnSpcReduction="10000"/>
          </a:bodyPr>
          <a:lstStyle/>
          <a:p>
            <a:pPr marL="0" indent="0" algn="ctr">
              <a:buNone/>
            </a:pPr>
            <a:r>
              <a:rPr lang="en-US" sz="1470" b="1" dirty="0">
                <a:solidFill>
                  <a:srgbClr val="1C2255"/>
                </a:solidFill>
                <a:latin typeface="Arial" pitchFamily="34" charset="0"/>
                <a:ea typeface="Arial" pitchFamily="34" charset="-122"/>
                <a:cs typeface="Arial" pitchFamily="34" charset="-120"/>
              </a:rPr>
              <a:t>Verify</a:t>
            </a:r>
            <a:endParaRPr lang="en-US" sz="1470" dirty="0"/>
          </a:p>
        </p:txBody>
      </p:sp>
      <p:sp>
        <p:nvSpPr>
          <p:cNvPr id="31" name="Text 29"/>
          <p:cNvSpPr/>
          <p:nvPr/>
        </p:nvSpPr>
        <p:spPr>
          <a:xfrm>
            <a:off x="6263640" y="2523744"/>
            <a:ext cx="1554480" cy="146304"/>
          </a:xfrm>
          <a:prstGeom prst="rect">
            <a:avLst/>
          </a:prstGeom>
          <a:noFill/>
          <a:ln/>
        </p:spPr>
        <p:txBody>
          <a:bodyPr wrap="square" lIns="0" tIns="0" rIns="0" bIns="0" rtlCol="0" anchor="t">
            <a:normAutofit/>
          </a:bodyPr>
          <a:lstStyle/>
          <a:p>
            <a:pPr marL="0" indent="0" algn="ctr">
              <a:buNone/>
            </a:pPr>
            <a:r>
              <a:rPr lang="en-US" sz="880" b="1" dirty="0">
                <a:solidFill>
                  <a:srgbClr val="687B96"/>
                </a:solidFill>
                <a:latin typeface="Arial" pitchFamily="34" charset="0"/>
                <a:ea typeface="Arial" pitchFamily="34" charset="-122"/>
                <a:cs typeface="Arial" pitchFamily="34" charset="-120"/>
              </a:rPr>
              <a:t>SYSTEM</a:t>
            </a:r>
            <a:endParaRPr lang="en-US" sz="880" dirty="0"/>
          </a:p>
        </p:txBody>
      </p:sp>
      <p:sp>
        <p:nvSpPr>
          <p:cNvPr id="32" name="Shape 30"/>
          <p:cNvSpPr/>
          <p:nvPr/>
        </p:nvSpPr>
        <p:spPr>
          <a:xfrm>
            <a:off x="7968996" y="2057400"/>
            <a:ext cx="91440" cy="256032"/>
          </a:xfrm>
          <a:prstGeom prst="chevron">
            <a:avLst/>
          </a:prstGeom>
          <a:solidFill>
            <a:srgbClr val="8B95AA"/>
          </a:solidFill>
          <a:ln w="12700">
            <a:solidFill>
              <a:srgbClr val="333333">
                <a:alpha val="0"/>
              </a:srgbClr>
            </a:solidFill>
            <a:prstDash val="solid"/>
          </a:ln>
        </p:spPr>
        <p:txBody>
          <a:bodyPr/>
          <a:lstStyle/>
          <a:p>
            <a:endParaRPr lang="en-PK"/>
          </a:p>
        </p:txBody>
      </p:sp>
      <p:sp>
        <p:nvSpPr>
          <p:cNvPr id="33" name="Shape 31"/>
          <p:cNvSpPr/>
          <p:nvPr/>
        </p:nvSpPr>
        <p:spPr>
          <a:xfrm>
            <a:off x="8074152" y="1865376"/>
            <a:ext cx="1773936" cy="566928"/>
          </a:xfrm>
          <a:prstGeom prst="roundRect">
            <a:avLst>
              <a:gd name="adj" fmla="val 12903"/>
            </a:avLst>
          </a:prstGeom>
          <a:solidFill>
            <a:srgbClr val="1C2255"/>
          </a:solidFill>
          <a:ln w="12700">
            <a:solidFill>
              <a:srgbClr val="1C2255">
                <a:alpha val="0"/>
              </a:srgbClr>
            </a:solidFill>
            <a:prstDash val="solid"/>
          </a:ln>
        </p:spPr>
        <p:txBody>
          <a:bodyPr/>
          <a:lstStyle/>
          <a:p>
            <a:endParaRPr lang="en-PK"/>
          </a:p>
        </p:txBody>
      </p:sp>
      <p:sp>
        <p:nvSpPr>
          <p:cNvPr id="34" name="Text 32"/>
          <p:cNvSpPr/>
          <p:nvPr/>
        </p:nvSpPr>
        <p:spPr>
          <a:xfrm>
            <a:off x="8174736" y="2011680"/>
            <a:ext cx="1572768" cy="219456"/>
          </a:xfrm>
          <a:prstGeom prst="rect">
            <a:avLst/>
          </a:prstGeom>
          <a:noFill/>
          <a:ln/>
        </p:spPr>
        <p:txBody>
          <a:bodyPr wrap="square" lIns="0" tIns="0" rIns="0" bIns="0" rtlCol="0" anchor="t">
            <a:normAutofit lnSpcReduction="10000"/>
          </a:bodyPr>
          <a:lstStyle/>
          <a:p>
            <a:pPr marL="0" indent="0" algn="ctr">
              <a:buNone/>
            </a:pPr>
            <a:r>
              <a:rPr lang="en-US" sz="1470" b="1" dirty="0">
                <a:solidFill>
                  <a:srgbClr val="FFFFFF"/>
                </a:solidFill>
                <a:latin typeface="Arial" pitchFamily="34" charset="0"/>
                <a:ea typeface="Arial" pitchFamily="34" charset="-122"/>
                <a:cs typeface="Arial" pitchFamily="34" charset="-120"/>
              </a:rPr>
              <a:t>Review</a:t>
            </a:r>
            <a:endParaRPr lang="en-US" sz="1470" dirty="0"/>
          </a:p>
        </p:txBody>
      </p:sp>
      <p:sp>
        <p:nvSpPr>
          <p:cNvPr id="35" name="Text 33"/>
          <p:cNvSpPr/>
          <p:nvPr/>
        </p:nvSpPr>
        <p:spPr>
          <a:xfrm>
            <a:off x="8183880" y="2523744"/>
            <a:ext cx="1554480" cy="146304"/>
          </a:xfrm>
          <a:prstGeom prst="rect">
            <a:avLst/>
          </a:prstGeom>
          <a:noFill/>
          <a:ln/>
        </p:spPr>
        <p:txBody>
          <a:bodyPr wrap="square" lIns="0" tIns="0" rIns="0" bIns="0" rtlCol="0" anchor="t">
            <a:normAutofit/>
          </a:bodyPr>
          <a:lstStyle/>
          <a:p>
            <a:pPr marL="0" indent="0" algn="ctr">
              <a:buNone/>
            </a:pPr>
            <a:r>
              <a:rPr lang="en-US" sz="880" b="1" dirty="0">
                <a:solidFill>
                  <a:srgbClr val="687B96"/>
                </a:solidFill>
                <a:latin typeface="Arial" pitchFamily="34" charset="0"/>
                <a:ea typeface="Arial" pitchFamily="34" charset="-122"/>
                <a:cs typeface="Arial" pitchFamily="34" charset="-120"/>
              </a:rPr>
              <a:t>ADMIN/SYSTEM</a:t>
            </a:r>
            <a:endParaRPr lang="en-US" sz="880" dirty="0"/>
          </a:p>
        </p:txBody>
      </p:sp>
      <p:sp>
        <p:nvSpPr>
          <p:cNvPr id="36" name="Shape 34"/>
          <p:cNvSpPr/>
          <p:nvPr/>
        </p:nvSpPr>
        <p:spPr>
          <a:xfrm>
            <a:off x="9889236" y="2057400"/>
            <a:ext cx="91440" cy="256032"/>
          </a:xfrm>
          <a:prstGeom prst="chevron">
            <a:avLst/>
          </a:prstGeom>
          <a:solidFill>
            <a:srgbClr val="8B95AA"/>
          </a:solidFill>
          <a:ln w="12700">
            <a:solidFill>
              <a:srgbClr val="333333">
                <a:alpha val="0"/>
              </a:srgbClr>
            </a:solidFill>
            <a:prstDash val="solid"/>
          </a:ln>
        </p:spPr>
        <p:txBody>
          <a:bodyPr/>
          <a:lstStyle/>
          <a:p>
            <a:endParaRPr lang="en-PK"/>
          </a:p>
        </p:txBody>
      </p:sp>
      <p:sp>
        <p:nvSpPr>
          <p:cNvPr id="37" name="Shape 35"/>
          <p:cNvSpPr/>
          <p:nvPr/>
        </p:nvSpPr>
        <p:spPr>
          <a:xfrm>
            <a:off x="9994392" y="1865376"/>
            <a:ext cx="1773936" cy="566928"/>
          </a:xfrm>
          <a:prstGeom prst="roundRect">
            <a:avLst>
              <a:gd name="adj" fmla="val 12903"/>
            </a:avLst>
          </a:prstGeom>
          <a:solidFill>
            <a:srgbClr val="1C2255"/>
          </a:solidFill>
          <a:ln w="12700">
            <a:solidFill>
              <a:srgbClr val="1C2255">
                <a:alpha val="0"/>
              </a:srgbClr>
            </a:solidFill>
            <a:prstDash val="solid"/>
          </a:ln>
        </p:spPr>
        <p:txBody>
          <a:bodyPr/>
          <a:lstStyle/>
          <a:p>
            <a:endParaRPr lang="en-PK"/>
          </a:p>
        </p:txBody>
      </p:sp>
      <p:sp>
        <p:nvSpPr>
          <p:cNvPr id="38" name="Text 36"/>
          <p:cNvSpPr/>
          <p:nvPr/>
        </p:nvSpPr>
        <p:spPr>
          <a:xfrm>
            <a:off x="10094976" y="2011680"/>
            <a:ext cx="1572768" cy="219456"/>
          </a:xfrm>
          <a:prstGeom prst="rect">
            <a:avLst/>
          </a:prstGeom>
          <a:noFill/>
          <a:ln/>
        </p:spPr>
        <p:txBody>
          <a:bodyPr wrap="square" lIns="0" tIns="0" rIns="0" bIns="0" rtlCol="0" anchor="t">
            <a:normAutofit lnSpcReduction="10000"/>
          </a:bodyPr>
          <a:lstStyle/>
          <a:p>
            <a:pPr marL="0" indent="0" algn="ctr">
              <a:buNone/>
            </a:pPr>
            <a:r>
              <a:rPr lang="en-US" sz="1470" b="1" dirty="0">
                <a:solidFill>
                  <a:srgbClr val="FFFFFF"/>
                </a:solidFill>
                <a:latin typeface="Arial" pitchFamily="34" charset="0"/>
                <a:ea typeface="Arial" pitchFamily="34" charset="-122"/>
                <a:cs typeface="Arial" pitchFamily="34" charset="-120"/>
              </a:rPr>
              <a:t>Decision</a:t>
            </a:r>
            <a:endParaRPr lang="en-US" sz="1470" dirty="0"/>
          </a:p>
        </p:txBody>
      </p:sp>
      <p:sp>
        <p:nvSpPr>
          <p:cNvPr id="39" name="Text 37"/>
          <p:cNvSpPr/>
          <p:nvPr/>
        </p:nvSpPr>
        <p:spPr>
          <a:xfrm>
            <a:off x="10104120" y="2523744"/>
            <a:ext cx="1554480" cy="146304"/>
          </a:xfrm>
          <a:prstGeom prst="rect">
            <a:avLst/>
          </a:prstGeom>
          <a:noFill/>
          <a:ln/>
        </p:spPr>
        <p:txBody>
          <a:bodyPr wrap="square" lIns="0" tIns="0" rIns="0" bIns="0" rtlCol="0" anchor="t">
            <a:normAutofit/>
          </a:bodyPr>
          <a:lstStyle/>
          <a:p>
            <a:pPr marL="0" indent="0" algn="ctr">
              <a:buNone/>
            </a:pPr>
            <a:r>
              <a:rPr lang="en-US" sz="880" b="1" dirty="0">
                <a:solidFill>
                  <a:srgbClr val="687B96"/>
                </a:solidFill>
                <a:latin typeface="Arial" pitchFamily="34" charset="0"/>
                <a:ea typeface="Arial" pitchFamily="34" charset="-122"/>
                <a:cs typeface="Arial" pitchFamily="34" charset="-120"/>
              </a:rPr>
              <a:t>ADMIN</a:t>
            </a:r>
            <a:endParaRPr lang="en-US" sz="880" dirty="0"/>
          </a:p>
        </p:txBody>
      </p:sp>
      <p:sp>
        <p:nvSpPr>
          <p:cNvPr id="40" name="Text 38"/>
          <p:cNvSpPr/>
          <p:nvPr/>
        </p:nvSpPr>
        <p:spPr>
          <a:xfrm>
            <a:off x="393192" y="2862072"/>
            <a:ext cx="3767328" cy="228600"/>
          </a:xfrm>
          <a:prstGeom prst="rect">
            <a:avLst/>
          </a:prstGeom>
          <a:noFill/>
          <a:ln/>
        </p:spPr>
        <p:txBody>
          <a:bodyPr wrap="square" lIns="0" tIns="0" rIns="0" bIns="0" rtlCol="0" anchor="t">
            <a:normAutofit/>
          </a:bodyPr>
          <a:lstStyle/>
          <a:p>
            <a:pPr marL="0" indent="0">
              <a:buNone/>
            </a:pPr>
            <a:r>
              <a:rPr lang="en-US" sz="1150" b="1" dirty="0">
                <a:solidFill>
                  <a:srgbClr val="687B96"/>
                </a:solidFill>
                <a:latin typeface="Arial" pitchFamily="34" charset="0"/>
                <a:ea typeface="Arial" pitchFamily="34" charset="-122"/>
                <a:cs typeface="Arial" pitchFamily="34" charset="-120"/>
              </a:rPr>
              <a:t>REQUIRED DOCUMENTS UPLOADED</a:t>
            </a:r>
            <a:endParaRPr lang="en-US" sz="1150" dirty="0"/>
          </a:p>
        </p:txBody>
      </p:sp>
      <p:sp>
        <p:nvSpPr>
          <p:cNvPr id="41" name="Shape 39"/>
          <p:cNvSpPr/>
          <p:nvPr/>
        </p:nvSpPr>
        <p:spPr>
          <a:xfrm>
            <a:off x="393192" y="3273552"/>
            <a:ext cx="1792224" cy="804672"/>
          </a:xfrm>
          <a:prstGeom prst="roundRect">
            <a:avLst>
              <a:gd name="adj" fmla="val 9091"/>
            </a:avLst>
          </a:prstGeom>
          <a:solidFill>
            <a:srgbClr val="F2F5FA"/>
          </a:solidFill>
          <a:ln w="12700">
            <a:solidFill>
              <a:srgbClr val="F2F5FA">
                <a:alpha val="0"/>
              </a:srgbClr>
            </a:solidFill>
            <a:prstDash val="solid"/>
          </a:ln>
        </p:spPr>
        <p:txBody>
          <a:bodyPr/>
          <a:lstStyle/>
          <a:p>
            <a:endParaRPr lang="en-PK"/>
          </a:p>
        </p:txBody>
      </p:sp>
      <p:sp>
        <p:nvSpPr>
          <p:cNvPr id="42" name="Shape 40"/>
          <p:cNvSpPr/>
          <p:nvPr/>
        </p:nvSpPr>
        <p:spPr>
          <a:xfrm>
            <a:off x="552389" y="3450397"/>
            <a:ext cx="213970" cy="306690"/>
          </a:xfrm>
          <a:prstGeom prst="rect">
            <a:avLst/>
          </a:prstGeom>
          <a:solidFill>
            <a:srgbClr val="FFFFFF"/>
          </a:solidFill>
          <a:ln w="8255">
            <a:solidFill>
              <a:srgbClr val="364BAD"/>
            </a:solidFill>
            <a:prstDash val="solid"/>
          </a:ln>
        </p:spPr>
        <p:txBody>
          <a:bodyPr/>
          <a:lstStyle/>
          <a:p>
            <a:endParaRPr lang="en-PK"/>
          </a:p>
        </p:txBody>
      </p:sp>
      <p:sp>
        <p:nvSpPr>
          <p:cNvPr id="43" name="Shape 41"/>
          <p:cNvSpPr/>
          <p:nvPr/>
        </p:nvSpPr>
        <p:spPr>
          <a:xfrm>
            <a:off x="698602" y="3450397"/>
            <a:ext cx="0" cy="71323"/>
          </a:xfrm>
          <a:prstGeom prst="line">
            <a:avLst/>
          </a:prstGeom>
          <a:solidFill>
            <a:srgbClr val="FFFFFF">
              <a:alpha val="0"/>
            </a:srgbClr>
          </a:solidFill>
          <a:ln w="21590">
            <a:solidFill>
              <a:srgbClr val="364BAD"/>
            </a:solidFill>
            <a:prstDash val="solid"/>
          </a:ln>
        </p:spPr>
        <p:txBody>
          <a:bodyPr/>
          <a:lstStyle/>
          <a:p>
            <a:endParaRPr lang="en-PK"/>
          </a:p>
        </p:txBody>
      </p:sp>
      <p:sp>
        <p:nvSpPr>
          <p:cNvPr id="44" name="Shape 42"/>
          <p:cNvSpPr/>
          <p:nvPr/>
        </p:nvSpPr>
        <p:spPr>
          <a:xfrm>
            <a:off x="698602" y="3521720"/>
            <a:ext cx="67757" cy="0"/>
          </a:xfrm>
          <a:prstGeom prst="line">
            <a:avLst/>
          </a:prstGeom>
          <a:solidFill>
            <a:srgbClr val="FFFFFF">
              <a:alpha val="0"/>
            </a:srgbClr>
          </a:solidFill>
          <a:ln w="21590">
            <a:solidFill>
              <a:srgbClr val="364BAD"/>
            </a:solidFill>
            <a:prstDash val="solid"/>
          </a:ln>
        </p:spPr>
        <p:txBody>
          <a:bodyPr/>
          <a:lstStyle/>
          <a:p>
            <a:endParaRPr lang="en-PK"/>
          </a:p>
        </p:txBody>
      </p:sp>
      <p:sp>
        <p:nvSpPr>
          <p:cNvPr id="45" name="Shape 43"/>
          <p:cNvSpPr/>
          <p:nvPr/>
        </p:nvSpPr>
        <p:spPr>
          <a:xfrm>
            <a:off x="698602" y="3450397"/>
            <a:ext cx="67757" cy="71323"/>
          </a:xfrm>
          <a:prstGeom prst="line">
            <a:avLst/>
          </a:prstGeom>
          <a:solidFill>
            <a:srgbClr val="FFFFFF">
              <a:alpha val="0"/>
            </a:srgbClr>
          </a:solidFill>
          <a:ln w="21590">
            <a:solidFill>
              <a:srgbClr val="364BAD"/>
            </a:solidFill>
            <a:prstDash val="solid"/>
          </a:ln>
        </p:spPr>
        <p:txBody>
          <a:bodyPr/>
          <a:lstStyle/>
          <a:p>
            <a:endParaRPr lang="en-PK"/>
          </a:p>
        </p:txBody>
      </p:sp>
      <p:sp>
        <p:nvSpPr>
          <p:cNvPr id="46" name="Shape 44"/>
          <p:cNvSpPr/>
          <p:nvPr/>
        </p:nvSpPr>
        <p:spPr>
          <a:xfrm>
            <a:off x="591617" y="3564514"/>
            <a:ext cx="128382" cy="0"/>
          </a:xfrm>
          <a:prstGeom prst="line">
            <a:avLst/>
          </a:prstGeom>
          <a:solidFill>
            <a:srgbClr val="FFFFFF">
              <a:alpha val="0"/>
            </a:srgbClr>
          </a:solidFill>
          <a:ln w="21590">
            <a:solidFill>
              <a:srgbClr val="364BAD"/>
            </a:solidFill>
            <a:prstDash val="solid"/>
          </a:ln>
        </p:spPr>
        <p:txBody>
          <a:bodyPr/>
          <a:lstStyle/>
          <a:p>
            <a:endParaRPr lang="en-PK"/>
          </a:p>
        </p:txBody>
      </p:sp>
      <p:sp>
        <p:nvSpPr>
          <p:cNvPr id="47" name="Shape 45"/>
          <p:cNvSpPr/>
          <p:nvPr/>
        </p:nvSpPr>
        <p:spPr>
          <a:xfrm>
            <a:off x="591617" y="3614440"/>
            <a:ext cx="128382" cy="0"/>
          </a:xfrm>
          <a:prstGeom prst="line">
            <a:avLst/>
          </a:prstGeom>
          <a:solidFill>
            <a:srgbClr val="FFFFFF">
              <a:alpha val="0"/>
            </a:srgbClr>
          </a:solidFill>
          <a:ln w="21590">
            <a:solidFill>
              <a:srgbClr val="364BAD"/>
            </a:solidFill>
            <a:prstDash val="solid"/>
          </a:ln>
        </p:spPr>
        <p:txBody>
          <a:bodyPr/>
          <a:lstStyle/>
          <a:p>
            <a:endParaRPr lang="en-PK"/>
          </a:p>
        </p:txBody>
      </p:sp>
      <p:sp>
        <p:nvSpPr>
          <p:cNvPr id="48" name="Shape 46"/>
          <p:cNvSpPr/>
          <p:nvPr/>
        </p:nvSpPr>
        <p:spPr>
          <a:xfrm>
            <a:off x="591617" y="3664367"/>
            <a:ext cx="85588" cy="0"/>
          </a:xfrm>
          <a:prstGeom prst="line">
            <a:avLst/>
          </a:prstGeom>
          <a:solidFill>
            <a:srgbClr val="FFFFFF">
              <a:alpha val="0"/>
            </a:srgbClr>
          </a:solidFill>
          <a:ln w="21590">
            <a:solidFill>
              <a:srgbClr val="364BAD"/>
            </a:solidFill>
            <a:prstDash val="solid"/>
          </a:ln>
        </p:spPr>
        <p:txBody>
          <a:bodyPr/>
          <a:lstStyle/>
          <a:p>
            <a:endParaRPr lang="en-PK"/>
          </a:p>
        </p:txBody>
      </p:sp>
      <p:sp>
        <p:nvSpPr>
          <p:cNvPr id="49" name="Text 47"/>
          <p:cNvSpPr/>
          <p:nvPr/>
        </p:nvSpPr>
        <p:spPr>
          <a:xfrm>
            <a:off x="978408" y="3401568"/>
            <a:ext cx="1088136" cy="283464"/>
          </a:xfrm>
          <a:prstGeom prst="rect">
            <a:avLst/>
          </a:prstGeom>
          <a:noFill/>
          <a:ln/>
        </p:spPr>
        <p:txBody>
          <a:bodyPr wrap="square" lIns="0" tIns="0" rIns="0" bIns="0" rtlCol="0" anchor="t">
            <a:normAutofit/>
          </a:bodyPr>
          <a:lstStyle/>
          <a:p>
            <a:pPr marL="0" indent="0">
              <a:buNone/>
            </a:pPr>
            <a:r>
              <a:rPr lang="en-US" sz="1170" b="1" dirty="0">
                <a:solidFill>
                  <a:srgbClr val="1C2255"/>
                </a:solidFill>
                <a:latin typeface="Arial" pitchFamily="34" charset="0"/>
                <a:ea typeface="Arial" pitchFamily="34" charset="-122"/>
                <a:cs typeface="Arial" pitchFamily="34" charset="-120"/>
              </a:rPr>
              <a:t>Identification</a:t>
            </a:r>
            <a:endParaRPr lang="en-US" sz="1170" dirty="0"/>
          </a:p>
        </p:txBody>
      </p:sp>
      <p:sp>
        <p:nvSpPr>
          <p:cNvPr id="50" name="Text 48"/>
          <p:cNvSpPr/>
          <p:nvPr/>
        </p:nvSpPr>
        <p:spPr>
          <a:xfrm>
            <a:off x="978408" y="3758184"/>
            <a:ext cx="1088136" cy="182880"/>
          </a:xfrm>
          <a:prstGeom prst="rect">
            <a:avLst/>
          </a:prstGeom>
          <a:noFill/>
          <a:ln/>
        </p:spPr>
        <p:txBody>
          <a:bodyPr wrap="square" lIns="0" tIns="0" rIns="0" bIns="0" rtlCol="0" anchor="t">
            <a:normAutofit/>
          </a:bodyPr>
          <a:lstStyle/>
          <a:p>
            <a:pPr marL="0" indent="0">
              <a:buNone/>
            </a:pPr>
            <a:r>
              <a:rPr lang="en-US" sz="970" b="1" dirty="0">
                <a:solidFill>
                  <a:srgbClr val="364BAD"/>
                </a:solidFill>
                <a:latin typeface="Arial" pitchFamily="34" charset="0"/>
                <a:ea typeface="Arial" pitchFamily="34" charset="-122"/>
                <a:cs typeface="Arial" pitchFamily="34" charset="-120"/>
              </a:rPr>
              <a:t>Checks passed</a:t>
            </a:r>
            <a:endParaRPr lang="en-US" sz="970" dirty="0"/>
          </a:p>
        </p:txBody>
      </p:sp>
      <p:sp>
        <p:nvSpPr>
          <p:cNvPr id="51" name="Shape 49"/>
          <p:cNvSpPr/>
          <p:nvPr/>
        </p:nvSpPr>
        <p:spPr>
          <a:xfrm>
            <a:off x="2350008" y="3273552"/>
            <a:ext cx="1792224" cy="804672"/>
          </a:xfrm>
          <a:prstGeom prst="roundRect">
            <a:avLst>
              <a:gd name="adj" fmla="val 9091"/>
            </a:avLst>
          </a:prstGeom>
          <a:solidFill>
            <a:srgbClr val="FFF3E8"/>
          </a:solidFill>
          <a:ln w="8255">
            <a:solidFill>
              <a:srgbClr val="FF6B00"/>
            </a:solidFill>
            <a:prstDash val="solid"/>
          </a:ln>
        </p:spPr>
        <p:txBody>
          <a:bodyPr/>
          <a:lstStyle/>
          <a:p>
            <a:endParaRPr lang="en-PK"/>
          </a:p>
        </p:txBody>
      </p:sp>
      <p:sp>
        <p:nvSpPr>
          <p:cNvPr id="52" name="Shape 50"/>
          <p:cNvSpPr/>
          <p:nvPr/>
        </p:nvSpPr>
        <p:spPr>
          <a:xfrm>
            <a:off x="2509205" y="3450397"/>
            <a:ext cx="213970" cy="306690"/>
          </a:xfrm>
          <a:prstGeom prst="rect">
            <a:avLst/>
          </a:prstGeom>
          <a:solidFill>
            <a:srgbClr val="FFFFFF"/>
          </a:solidFill>
          <a:ln w="8255">
            <a:solidFill>
              <a:srgbClr val="FF6B00"/>
            </a:solidFill>
            <a:prstDash val="solid"/>
          </a:ln>
        </p:spPr>
        <p:txBody>
          <a:bodyPr/>
          <a:lstStyle/>
          <a:p>
            <a:endParaRPr lang="en-PK"/>
          </a:p>
        </p:txBody>
      </p:sp>
      <p:sp>
        <p:nvSpPr>
          <p:cNvPr id="53" name="Shape 51"/>
          <p:cNvSpPr/>
          <p:nvPr/>
        </p:nvSpPr>
        <p:spPr>
          <a:xfrm>
            <a:off x="2655418" y="3450397"/>
            <a:ext cx="0" cy="71323"/>
          </a:xfrm>
          <a:prstGeom prst="line">
            <a:avLst/>
          </a:prstGeom>
          <a:solidFill>
            <a:srgbClr val="FFFFFF">
              <a:alpha val="0"/>
            </a:srgbClr>
          </a:solidFill>
          <a:ln w="21590">
            <a:solidFill>
              <a:srgbClr val="FF6B00"/>
            </a:solidFill>
            <a:prstDash val="solid"/>
          </a:ln>
        </p:spPr>
        <p:txBody>
          <a:bodyPr/>
          <a:lstStyle/>
          <a:p>
            <a:endParaRPr lang="en-PK"/>
          </a:p>
        </p:txBody>
      </p:sp>
      <p:sp>
        <p:nvSpPr>
          <p:cNvPr id="54" name="Shape 52"/>
          <p:cNvSpPr/>
          <p:nvPr/>
        </p:nvSpPr>
        <p:spPr>
          <a:xfrm>
            <a:off x="2655418" y="3521720"/>
            <a:ext cx="67757" cy="0"/>
          </a:xfrm>
          <a:prstGeom prst="line">
            <a:avLst/>
          </a:prstGeom>
          <a:solidFill>
            <a:srgbClr val="FFFFFF">
              <a:alpha val="0"/>
            </a:srgbClr>
          </a:solidFill>
          <a:ln w="21590">
            <a:solidFill>
              <a:srgbClr val="FF6B00"/>
            </a:solidFill>
            <a:prstDash val="solid"/>
          </a:ln>
        </p:spPr>
        <p:txBody>
          <a:bodyPr/>
          <a:lstStyle/>
          <a:p>
            <a:endParaRPr lang="en-PK"/>
          </a:p>
        </p:txBody>
      </p:sp>
      <p:sp>
        <p:nvSpPr>
          <p:cNvPr id="55" name="Shape 53"/>
          <p:cNvSpPr/>
          <p:nvPr/>
        </p:nvSpPr>
        <p:spPr>
          <a:xfrm>
            <a:off x="2655418" y="3450397"/>
            <a:ext cx="67757" cy="71323"/>
          </a:xfrm>
          <a:prstGeom prst="line">
            <a:avLst/>
          </a:prstGeom>
          <a:solidFill>
            <a:srgbClr val="FFFFFF">
              <a:alpha val="0"/>
            </a:srgbClr>
          </a:solidFill>
          <a:ln w="21590">
            <a:solidFill>
              <a:srgbClr val="FF6B00"/>
            </a:solidFill>
            <a:prstDash val="solid"/>
          </a:ln>
        </p:spPr>
        <p:txBody>
          <a:bodyPr/>
          <a:lstStyle/>
          <a:p>
            <a:endParaRPr lang="en-PK"/>
          </a:p>
        </p:txBody>
      </p:sp>
      <p:sp>
        <p:nvSpPr>
          <p:cNvPr id="56" name="Shape 54"/>
          <p:cNvSpPr/>
          <p:nvPr/>
        </p:nvSpPr>
        <p:spPr>
          <a:xfrm>
            <a:off x="2548433" y="3564514"/>
            <a:ext cx="128382" cy="0"/>
          </a:xfrm>
          <a:prstGeom prst="line">
            <a:avLst/>
          </a:prstGeom>
          <a:solidFill>
            <a:srgbClr val="FFFFFF">
              <a:alpha val="0"/>
            </a:srgbClr>
          </a:solidFill>
          <a:ln w="21590">
            <a:solidFill>
              <a:srgbClr val="FF6B00"/>
            </a:solidFill>
            <a:prstDash val="solid"/>
          </a:ln>
        </p:spPr>
        <p:txBody>
          <a:bodyPr/>
          <a:lstStyle/>
          <a:p>
            <a:endParaRPr lang="en-PK"/>
          </a:p>
        </p:txBody>
      </p:sp>
      <p:sp>
        <p:nvSpPr>
          <p:cNvPr id="57" name="Shape 55"/>
          <p:cNvSpPr/>
          <p:nvPr/>
        </p:nvSpPr>
        <p:spPr>
          <a:xfrm>
            <a:off x="2548433" y="3614440"/>
            <a:ext cx="128382" cy="0"/>
          </a:xfrm>
          <a:prstGeom prst="line">
            <a:avLst/>
          </a:prstGeom>
          <a:solidFill>
            <a:srgbClr val="FFFFFF">
              <a:alpha val="0"/>
            </a:srgbClr>
          </a:solidFill>
          <a:ln w="21590">
            <a:solidFill>
              <a:srgbClr val="FF6B00"/>
            </a:solidFill>
            <a:prstDash val="solid"/>
          </a:ln>
        </p:spPr>
        <p:txBody>
          <a:bodyPr/>
          <a:lstStyle/>
          <a:p>
            <a:endParaRPr lang="en-PK"/>
          </a:p>
        </p:txBody>
      </p:sp>
      <p:sp>
        <p:nvSpPr>
          <p:cNvPr id="58" name="Shape 56"/>
          <p:cNvSpPr/>
          <p:nvPr/>
        </p:nvSpPr>
        <p:spPr>
          <a:xfrm>
            <a:off x="2548433" y="3664367"/>
            <a:ext cx="85588" cy="0"/>
          </a:xfrm>
          <a:prstGeom prst="line">
            <a:avLst/>
          </a:prstGeom>
          <a:solidFill>
            <a:srgbClr val="FFFFFF">
              <a:alpha val="0"/>
            </a:srgbClr>
          </a:solidFill>
          <a:ln w="21590">
            <a:solidFill>
              <a:srgbClr val="FF6B00"/>
            </a:solidFill>
            <a:prstDash val="solid"/>
          </a:ln>
        </p:spPr>
        <p:txBody>
          <a:bodyPr/>
          <a:lstStyle/>
          <a:p>
            <a:endParaRPr lang="en-PK"/>
          </a:p>
        </p:txBody>
      </p:sp>
      <p:sp>
        <p:nvSpPr>
          <p:cNvPr id="59" name="Text 57"/>
          <p:cNvSpPr/>
          <p:nvPr/>
        </p:nvSpPr>
        <p:spPr>
          <a:xfrm>
            <a:off x="2935224" y="3401568"/>
            <a:ext cx="1088136" cy="283464"/>
          </a:xfrm>
          <a:prstGeom prst="rect">
            <a:avLst/>
          </a:prstGeom>
          <a:noFill/>
          <a:ln/>
        </p:spPr>
        <p:txBody>
          <a:bodyPr wrap="square" lIns="0" tIns="0" rIns="0" bIns="0" rtlCol="0" anchor="t">
            <a:normAutofit fontScale="92500" lnSpcReduction="20000"/>
          </a:bodyPr>
          <a:lstStyle/>
          <a:p>
            <a:pPr marL="0" indent="0">
              <a:buNone/>
            </a:pPr>
            <a:r>
              <a:rPr lang="en-US" sz="1170" b="1" dirty="0">
                <a:solidFill>
                  <a:srgbClr val="1C2255"/>
                </a:solidFill>
                <a:latin typeface="Arial" pitchFamily="34" charset="0"/>
                <a:ea typeface="Arial" pitchFamily="34" charset="-122"/>
                <a:cs typeface="Arial" pitchFamily="34" charset="-120"/>
              </a:rPr>
              <a:t>Proof of Address</a:t>
            </a:r>
            <a:endParaRPr lang="en-US" sz="1170" dirty="0"/>
          </a:p>
        </p:txBody>
      </p:sp>
      <p:sp>
        <p:nvSpPr>
          <p:cNvPr id="60" name="Text 58"/>
          <p:cNvSpPr/>
          <p:nvPr/>
        </p:nvSpPr>
        <p:spPr>
          <a:xfrm>
            <a:off x="2935224" y="3758184"/>
            <a:ext cx="1088136" cy="182880"/>
          </a:xfrm>
          <a:prstGeom prst="rect">
            <a:avLst/>
          </a:prstGeom>
          <a:noFill/>
          <a:ln/>
        </p:spPr>
        <p:txBody>
          <a:bodyPr wrap="square" lIns="0" tIns="0" rIns="0" bIns="0" rtlCol="0" anchor="t">
            <a:normAutofit/>
          </a:bodyPr>
          <a:lstStyle/>
          <a:p>
            <a:pPr marL="0" indent="0">
              <a:buNone/>
            </a:pPr>
            <a:r>
              <a:rPr lang="en-US" sz="970" b="1" dirty="0">
                <a:solidFill>
                  <a:srgbClr val="FF6B00"/>
                </a:solidFill>
                <a:latin typeface="Arial" pitchFamily="34" charset="0"/>
                <a:ea typeface="Arial" pitchFamily="34" charset="-122"/>
                <a:cs typeface="Arial" pitchFamily="34" charset="-120"/>
              </a:rPr>
              <a:t>Readability flag</a:t>
            </a:r>
            <a:endParaRPr lang="en-US" sz="970" dirty="0"/>
          </a:p>
        </p:txBody>
      </p:sp>
      <p:sp>
        <p:nvSpPr>
          <p:cNvPr id="61" name="Shape 59"/>
          <p:cNvSpPr/>
          <p:nvPr/>
        </p:nvSpPr>
        <p:spPr>
          <a:xfrm>
            <a:off x="393192" y="4215384"/>
            <a:ext cx="1792224" cy="804672"/>
          </a:xfrm>
          <a:prstGeom prst="roundRect">
            <a:avLst>
              <a:gd name="adj" fmla="val 9091"/>
            </a:avLst>
          </a:prstGeom>
          <a:solidFill>
            <a:srgbClr val="F2F5FA"/>
          </a:solidFill>
          <a:ln w="12700">
            <a:solidFill>
              <a:srgbClr val="F2F5FA">
                <a:alpha val="0"/>
              </a:srgbClr>
            </a:solidFill>
            <a:prstDash val="solid"/>
          </a:ln>
        </p:spPr>
        <p:txBody>
          <a:bodyPr/>
          <a:lstStyle/>
          <a:p>
            <a:endParaRPr lang="en-PK"/>
          </a:p>
        </p:txBody>
      </p:sp>
      <p:sp>
        <p:nvSpPr>
          <p:cNvPr id="62" name="Shape 60"/>
          <p:cNvSpPr/>
          <p:nvPr/>
        </p:nvSpPr>
        <p:spPr>
          <a:xfrm>
            <a:off x="552389" y="4392229"/>
            <a:ext cx="213970" cy="306690"/>
          </a:xfrm>
          <a:prstGeom prst="rect">
            <a:avLst/>
          </a:prstGeom>
          <a:solidFill>
            <a:srgbClr val="FFFFFF"/>
          </a:solidFill>
          <a:ln w="8255">
            <a:solidFill>
              <a:srgbClr val="364BAD"/>
            </a:solidFill>
            <a:prstDash val="solid"/>
          </a:ln>
        </p:spPr>
        <p:txBody>
          <a:bodyPr/>
          <a:lstStyle/>
          <a:p>
            <a:endParaRPr lang="en-PK"/>
          </a:p>
        </p:txBody>
      </p:sp>
      <p:sp>
        <p:nvSpPr>
          <p:cNvPr id="63" name="Shape 61"/>
          <p:cNvSpPr/>
          <p:nvPr/>
        </p:nvSpPr>
        <p:spPr>
          <a:xfrm>
            <a:off x="698602" y="4392229"/>
            <a:ext cx="0" cy="71323"/>
          </a:xfrm>
          <a:prstGeom prst="line">
            <a:avLst/>
          </a:prstGeom>
          <a:solidFill>
            <a:srgbClr val="FFFFFF">
              <a:alpha val="0"/>
            </a:srgbClr>
          </a:solidFill>
          <a:ln w="21590">
            <a:solidFill>
              <a:srgbClr val="364BAD"/>
            </a:solidFill>
            <a:prstDash val="solid"/>
          </a:ln>
        </p:spPr>
        <p:txBody>
          <a:bodyPr/>
          <a:lstStyle/>
          <a:p>
            <a:endParaRPr lang="en-PK"/>
          </a:p>
        </p:txBody>
      </p:sp>
      <p:sp>
        <p:nvSpPr>
          <p:cNvPr id="64" name="Shape 62"/>
          <p:cNvSpPr/>
          <p:nvPr/>
        </p:nvSpPr>
        <p:spPr>
          <a:xfrm>
            <a:off x="698602" y="4463552"/>
            <a:ext cx="67757" cy="0"/>
          </a:xfrm>
          <a:prstGeom prst="line">
            <a:avLst/>
          </a:prstGeom>
          <a:solidFill>
            <a:srgbClr val="FFFFFF">
              <a:alpha val="0"/>
            </a:srgbClr>
          </a:solidFill>
          <a:ln w="21590">
            <a:solidFill>
              <a:srgbClr val="364BAD"/>
            </a:solidFill>
            <a:prstDash val="solid"/>
          </a:ln>
        </p:spPr>
        <p:txBody>
          <a:bodyPr/>
          <a:lstStyle/>
          <a:p>
            <a:endParaRPr lang="en-PK"/>
          </a:p>
        </p:txBody>
      </p:sp>
      <p:sp>
        <p:nvSpPr>
          <p:cNvPr id="65" name="Shape 63"/>
          <p:cNvSpPr/>
          <p:nvPr/>
        </p:nvSpPr>
        <p:spPr>
          <a:xfrm>
            <a:off x="698602" y="4392229"/>
            <a:ext cx="67757" cy="71323"/>
          </a:xfrm>
          <a:prstGeom prst="line">
            <a:avLst/>
          </a:prstGeom>
          <a:solidFill>
            <a:srgbClr val="FFFFFF">
              <a:alpha val="0"/>
            </a:srgbClr>
          </a:solidFill>
          <a:ln w="21590">
            <a:solidFill>
              <a:srgbClr val="364BAD"/>
            </a:solidFill>
            <a:prstDash val="solid"/>
          </a:ln>
        </p:spPr>
        <p:txBody>
          <a:bodyPr/>
          <a:lstStyle/>
          <a:p>
            <a:endParaRPr lang="en-PK"/>
          </a:p>
        </p:txBody>
      </p:sp>
      <p:sp>
        <p:nvSpPr>
          <p:cNvPr id="66" name="Shape 64"/>
          <p:cNvSpPr/>
          <p:nvPr/>
        </p:nvSpPr>
        <p:spPr>
          <a:xfrm>
            <a:off x="591617" y="4506346"/>
            <a:ext cx="128382" cy="0"/>
          </a:xfrm>
          <a:prstGeom prst="line">
            <a:avLst/>
          </a:prstGeom>
          <a:solidFill>
            <a:srgbClr val="FFFFFF">
              <a:alpha val="0"/>
            </a:srgbClr>
          </a:solidFill>
          <a:ln w="21590">
            <a:solidFill>
              <a:srgbClr val="364BAD"/>
            </a:solidFill>
            <a:prstDash val="solid"/>
          </a:ln>
        </p:spPr>
        <p:txBody>
          <a:bodyPr/>
          <a:lstStyle/>
          <a:p>
            <a:endParaRPr lang="en-PK"/>
          </a:p>
        </p:txBody>
      </p:sp>
      <p:sp>
        <p:nvSpPr>
          <p:cNvPr id="67" name="Shape 65"/>
          <p:cNvSpPr/>
          <p:nvPr/>
        </p:nvSpPr>
        <p:spPr>
          <a:xfrm>
            <a:off x="591617" y="4556272"/>
            <a:ext cx="128382" cy="0"/>
          </a:xfrm>
          <a:prstGeom prst="line">
            <a:avLst/>
          </a:prstGeom>
          <a:solidFill>
            <a:srgbClr val="FFFFFF">
              <a:alpha val="0"/>
            </a:srgbClr>
          </a:solidFill>
          <a:ln w="21590">
            <a:solidFill>
              <a:srgbClr val="364BAD"/>
            </a:solidFill>
            <a:prstDash val="solid"/>
          </a:ln>
        </p:spPr>
        <p:txBody>
          <a:bodyPr/>
          <a:lstStyle/>
          <a:p>
            <a:endParaRPr lang="en-PK"/>
          </a:p>
        </p:txBody>
      </p:sp>
      <p:sp>
        <p:nvSpPr>
          <p:cNvPr id="68" name="Shape 66"/>
          <p:cNvSpPr/>
          <p:nvPr/>
        </p:nvSpPr>
        <p:spPr>
          <a:xfrm>
            <a:off x="591617" y="4606199"/>
            <a:ext cx="85588" cy="0"/>
          </a:xfrm>
          <a:prstGeom prst="line">
            <a:avLst/>
          </a:prstGeom>
          <a:solidFill>
            <a:srgbClr val="FFFFFF">
              <a:alpha val="0"/>
            </a:srgbClr>
          </a:solidFill>
          <a:ln w="21590">
            <a:solidFill>
              <a:srgbClr val="364BAD"/>
            </a:solidFill>
            <a:prstDash val="solid"/>
          </a:ln>
        </p:spPr>
        <p:txBody>
          <a:bodyPr/>
          <a:lstStyle/>
          <a:p>
            <a:endParaRPr lang="en-PK"/>
          </a:p>
        </p:txBody>
      </p:sp>
      <p:sp>
        <p:nvSpPr>
          <p:cNvPr id="69" name="Text 67"/>
          <p:cNvSpPr/>
          <p:nvPr/>
        </p:nvSpPr>
        <p:spPr>
          <a:xfrm>
            <a:off x="978408" y="4343400"/>
            <a:ext cx="1088136" cy="283464"/>
          </a:xfrm>
          <a:prstGeom prst="rect">
            <a:avLst/>
          </a:prstGeom>
          <a:noFill/>
          <a:ln/>
        </p:spPr>
        <p:txBody>
          <a:bodyPr wrap="square" lIns="0" tIns="0" rIns="0" bIns="0" rtlCol="0" anchor="t">
            <a:normAutofit/>
          </a:bodyPr>
          <a:lstStyle/>
          <a:p>
            <a:pPr marL="0" indent="0">
              <a:buNone/>
            </a:pPr>
            <a:r>
              <a:rPr lang="en-US" sz="1170" b="1" dirty="0">
                <a:solidFill>
                  <a:srgbClr val="1C2255"/>
                </a:solidFill>
                <a:latin typeface="Arial" pitchFamily="34" charset="0"/>
                <a:ea typeface="Arial" pitchFamily="34" charset="-122"/>
                <a:cs typeface="Arial" pitchFamily="34" charset="-120"/>
              </a:rPr>
              <a:t>Signed Form</a:t>
            </a:r>
            <a:endParaRPr lang="en-US" sz="1170" dirty="0"/>
          </a:p>
        </p:txBody>
      </p:sp>
      <p:sp>
        <p:nvSpPr>
          <p:cNvPr id="70" name="Text 68"/>
          <p:cNvSpPr/>
          <p:nvPr/>
        </p:nvSpPr>
        <p:spPr>
          <a:xfrm>
            <a:off x="978408" y="4700016"/>
            <a:ext cx="1088136" cy="182880"/>
          </a:xfrm>
          <a:prstGeom prst="rect">
            <a:avLst/>
          </a:prstGeom>
          <a:noFill/>
          <a:ln/>
        </p:spPr>
        <p:txBody>
          <a:bodyPr wrap="square" lIns="0" tIns="0" rIns="0" bIns="0" rtlCol="0" anchor="t">
            <a:normAutofit/>
          </a:bodyPr>
          <a:lstStyle/>
          <a:p>
            <a:pPr marL="0" indent="0">
              <a:buNone/>
            </a:pPr>
            <a:r>
              <a:rPr lang="en-US" sz="970" b="1" dirty="0">
                <a:solidFill>
                  <a:srgbClr val="364BAD"/>
                </a:solidFill>
                <a:latin typeface="Arial" pitchFamily="34" charset="0"/>
                <a:ea typeface="Arial" pitchFamily="34" charset="-122"/>
                <a:cs typeface="Arial" pitchFamily="34" charset="-120"/>
              </a:rPr>
              <a:t>Checks passed</a:t>
            </a:r>
            <a:endParaRPr lang="en-US" sz="970" dirty="0"/>
          </a:p>
        </p:txBody>
      </p:sp>
      <p:sp>
        <p:nvSpPr>
          <p:cNvPr id="71" name="Shape 69"/>
          <p:cNvSpPr/>
          <p:nvPr/>
        </p:nvSpPr>
        <p:spPr>
          <a:xfrm>
            <a:off x="2350008" y="4215384"/>
            <a:ext cx="1792224" cy="804672"/>
          </a:xfrm>
          <a:prstGeom prst="roundRect">
            <a:avLst>
              <a:gd name="adj" fmla="val 9091"/>
            </a:avLst>
          </a:prstGeom>
          <a:solidFill>
            <a:srgbClr val="F2F5FA"/>
          </a:solidFill>
          <a:ln w="12700">
            <a:solidFill>
              <a:srgbClr val="F2F5FA">
                <a:alpha val="0"/>
              </a:srgbClr>
            </a:solidFill>
            <a:prstDash val="solid"/>
          </a:ln>
        </p:spPr>
        <p:txBody>
          <a:bodyPr/>
          <a:lstStyle/>
          <a:p>
            <a:endParaRPr lang="en-PK"/>
          </a:p>
        </p:txBody>
      </p:sp>
      <p:sp>
        <p:nvSpPr>
          <p:cNvPr id="72" name="Shape 70"/>
          <p:cNvSpPr/>
          <p:nvPr/>
        </p:nvSpPr>
        <p:spPr>
          <a:xfrm>
            <a:off x="2509205" y="4392229"/>
            <a:ext cx="213970" cy="306690"/>
          </a:xfrm>
          <a:prstGeom prst="rect">
            <a:avLst/>
          </a:prstGeom>
          <a:solidFill>
            <a:srgbClr val="FFFFFF"/>
          </a:solidFill>
          <a:ln w="8255">
            <a:solidFill>
              <a:srgbClr val="364BAD"/>
            </a:solidFill>
            <a:prstDash val="solid"/>
          </a:ln>
        </p:spPr>
        <p:txBody>
          <a:bodyPr/>
          <a:lstStyle/>
          <a:p>
            <a:endParaRPr lang="en-PK"/>
          </a:p>
        </p:txBody>
      </p:sp>
      <p:sp>
        <p:nvSpPr>
          <p:cNvPr id="73" name="Shape 71"/>
          <p:cNvSpPr/>
          <p:nvPr/>
        </p:nvSpPr>
        <p:spPr>
          <a:xfrm>
            <a:off x="2655418" y="4392229"/>
            <a:ext cx="0" cy="71323"/>
          </a:xfrm>
          <a:prstGeom prst="line">
            <a:avLst/>
          </a:prstGeom>
          <a:solidFill>
            <a:srgbClr val="FFFFFF">
              <a:alpha val="0"/>
            </a:srgbClr>
          </a:solidFill>
          <a:ln w="21590">
            <a:solidFill>
              <a:srgbClr val="364BAD"/>
            </a:solidFill>
            <a:prstDash val="solid"/>
          </a:ln>
        </p:spPr>
        <p:txBody>
          <a:bodyPr/>
          <a:lstStyle/>
          <a:p>
            <a:endParaRPr lang="en-PK"/>
          </a:p>
        </p:txBody>
      </p:sp>
      <p:sp>
        <p:nvSpPr>
          <p:cNvPr id="74" name="Shape 72"/>
          <p:cNvSpPr/>
          <p:nvPr/>
        </p:nvSpPr>
        <p:spPr>
          <a:xfrm>
            <a:off x="2655418" y="4463552"/>
            <a:ext cx="67757" cy="0"/>
          </a:xfrm>
          <a:prstGeom prst="line">
            <a:avLst/>
          </a:prstGeom>
          <a:solidFill>
            <a:srgbClr val="FFFFFF">
              <a:alpha val="0"/>
            </a:srgbClr>
          </a:solidFill>
          <a:ln w="21590">
            <a:solidFill>
              <a:srgbClr val="364BAD"/>
            </a:solidFill>
            <a:prstDash val="solid"/>
          </a:ln>
        </p:spPr>
        <p:txBody>
          <a:bodyPr/>
          <a:lstStyle/>
          <a:p>
            <a:endParaRPr lang="en-PK"/>
          </a:p>
        </p:txBody>
      </p:sp>
      <p:sp>
        <p:nvSpPr>
          <p:cNvPr id="75" name="Shape 73"/>
          <p:cNvSpPr/>
          <p:nvPr/>
        </p:nvSpPr>
        <p:spPr>
          <a:xfrm>
            <a:off x="2655418" y="4392229"/>
            <a:ext cx="67757" cy="71323"/>
          </a:xfrm>
          <a:prstGeom prst="line">
            <a:avLst/>
          </a:prstGeom>
          <a:solidFill>
            <a:srgbClr val="FFFFFF">
              <a:alpha val="0"/>
            </a:srgbClr>
          </a:solidFill>
          <a:ln w="21590">
            <a:solidFill>
              <a:srgbClr val="364BAD"/>
            </a:solidFill>
            <a:prstDash val="solid"/>
          </a:ln>
        </p:spPr>
        <p:txBody>
          <a:bodyPr/>
          <a:lstStyle/>
          <a:p>
            <a:endParaRPr lang="en-PK"/>
          </a:p>
        </p:txBody>
      </p:sp>
      <p:sp>
        <p:nvSpPr>
          <p:cNvPr id="76" name="Shape 74"/>
          <p:cNvSpPr/>
          <p:nvPr/>
        </p:nvSpPr>
        <p:spPr>
          <a:xfrm>
            <a:off x="2548433" y="4506346"/>
            <a:ext cx="128382" cy="0"/>
          </a:xfrm>
          <a:prstGeom prst="line">
            <a:avLst/>
          </a:prstGeom>
          <a:solidFill>
            <a:srgbClr val="FFFFFF">
              <a:alpha val="0"/>
            </a:srgbClr>
          </a:solidFill>
          <a:ln w="21590">
            <a:solidFill>
              <a:srgbClr val="364BAD"/>
            </a:solidFill>
            <a:prstDash val="solid"/>
          </a:ln>
        </p:spPr>
        <p:txBody>
          <a:bodyPr/>
          <a:lstStyle/>
          <a:p>
            <a:endParaRPr lang="en-PK"/>
          </a:p>
        </p:txBody>
      </p:sp>
      <p:sp>
        <p:nvSpPr>
          <p:cNvPr id="77" name="Shape 75"/>
          <p:cNvSpPr/>
          <p:nvPr/>
        </p:nvSpPr>
        <p:spPr>
          <a:xfrm>
            <a:off x="2548433" y="4556272"/>
            <a:ext cx="128382" cy="0"/>
          </a:xfrm>
          <a:prstGeom prst="line">
            <a:avLst/>
          </a:prstGeom>
          <a:solidFill>
            <a:srgbClr val="FFFFFF">
              <a:alpha val="0"/>
            </a:srgbClr>
          </a:solidFill>
          <a:ln w="21590">
            <a:solidFill>
              <a:srgbClr val="364BAD"/>
            </a:solidFill>
            <a:prstDash val="solid"/>
          </a:ln>
        </p:spPr>
        <p:txBody>
          <a:bodyPr/>
          <a:lstStyle/>
          <a:p>
            <a:endParaRPr lang="en-PK"/>
          </a:p>
        </p:txBody>
      </p:sp>
      <p:sp>
        <p:nvSpPr>
          <p:cNvPr id="78" name="Shape 76"/>
          <p:cNvSpPr/>
          <p:nvPr/>
        </p:nvSpPr>
        <p:spPr>
          <a:xfrm>
            <a:off x="2548433" y="4606199"/>
            <a:ext cx="85588" cy="0"/>
          </a:xfrm>
          <a:prstGeom prst="line">
            <a:avLst/>
          </a:prstGeom>
          <a:solidFill>
            <a:srgbClr val="FFFFFF">
              <a:alpha val="0"/>
            </a:srgbClr>
          </a:solidFill>
          <a:ln w="21590">
            <a:solidFill>
              <a:srgbClr val="364BAD"/>
            </a:solidFill>
            <a:prstDash val="solid"/>
          </a:ln>
        </p:spPr>
        <p:txBody>
          <a:bodyPr/>
          <a:lstStyle/>
          <a:p>
            <a:endParaRPr lang="en-PK"/>
          </a:p>
        </p:txBody>
      </p:sp>
      <p:sp>
        <p:nvSpPr>
          <p:cNvPr id="79" name="Text 77"/>
          <p:cNvSpPr/>
          <p:nvPr/>
        </p:nvSpPr>
        <p:spPr>
          <a:xfrm>
            <a:off x="2935224" y="4343400"/>
            <a:ext cx="1088136" cy="283464"/>
          </a:xfrm>
          <a:prstGeom prst="rect">
            <a:avLst/>
          </a:prstGeom>
          <a:noFill/>
          <a:ln/>
        </p:spPr>
        <p:txBody>
          <a:bodyPr wrap="square" lIns="0" tIns="0" rIns="0" bIns="0" rtlCol="0" anchor="t">
            <a:normAutofit fontScale="92500" lnSpcReduction="20000"/>
          </a:bodyPr>
          <a:lstStyle/>
          <a:p>
            <a:pPr marL="0" indent="0">
              <a:buNone/>
            </a:pPr>
            <a:r>
              <a:rPr lang="en-US" sz="1170" b="1" dirty="0">
                <a:solidFill>
                  <a:srgbClr val="1C2255"/>
                </a:solidFill>
                <a:latin typeface="Arial" pitchFamily="34" charset="0"/>
                <a:ea typeface="Arial" pitchFamily="34" charset="-122"/>
                <a:cs typeface="Arial" pitchFamily="34" charset="-120"/>
              </a:rPr>
              <a:t>Supporting Document</a:t>
            </a:r>
            <a:endParaRPr lang="en-US" sz="1170" dirty="0"/>
          </a:p>
        </p:txBody>
      </p:sp>
      <p:sp>
        <p:nvSpPr>
          <p:cNvPr id="80" name="Text 78"/>
          <p:cNvSpPr/>
          <p:nvPr/>
        </p:nvSpPr>
        <p:spPr>
          <a:xfrm>
            <a:off x="2935224" y="4700016"/>
            <a:ext cx="1088136" cy="182880"/>
          </a:xfrm>
          <a:prstGeom prst="rect">
            <a:avLst/>
          </a:prstGeom>
          <a:noFill/>
          <a:ln/>
        </p:spPr>
        <p:txBody>
          <a:bodyPr wrap="square" lIns="0" tIns="0" rIns="0" bIns="0" rtlCol="0" anchor="t">
            <a:normAutofit/>
          </a:bodyPr>
          <a:lstStyle/>
          <a:p>
            <a:pPr marL="0" indent="0">
              <a:buNone/>
            </a:pPr>
            <a:r>
              <a:rPr lang="en-US" sz="970" b="1" dirty="0">
                <a:solidFill>
                  <a:srgbClr val="364BAD"/>
                </a:solidFill>
                <a:latin typeface="Arial" pitchFamily="34" charset="0"/>
                <a:ea typeface="Arial" pitchFamily="34" charset="-122"/>
                <a:cs typeface="Arial" pitchFamily="34" charset="-120"/>
              </a:rPr>
              <a:t>Checks passed</a:t>
            </a:r>
            <a:endParaRPr lang="en-US" sz="970" dirty="0"/>
          </a:p>
        </p:txBody>
      </p:sp>
      <p:sp>
        <p:nvSpPr>
          <p:cNvPr id="81" name="Shape 79"/>
          <p:cNvSpPr/>
          <p:nvPr/>
        </p:nvSpPr>
        <p:spPr>
          <a:xfrm>
            <a:off x="4151376" y="4069080"/>
            <a:ext cx="356616" cy="0"/>
          </a:xfrm>
          <a:prstGeom prst="line">
            <a:avLst/>
          </a:prstGeom>
          <a:solidFill>
            <a:srgbClr val="FFFFFF">
              <a:alpha val="0"/>
            </a:srgbClr>
          </a:solidFill>
          <a:ln w="20320">
            <a:solidFill>
              <a:srgbClr val="364BAD"/>
            </a:solidFill>
            <a:prstDash val="solid"/>
            <a:tailEnd type="triangle"/>
          </a:ln>
        </p:spPr>
        <p:txBody>
          <a:bodyPr/>
          <a:lstStyle/>
          <a:p>
            <a:endParaRPr lang="en-PK"/>
          </a:p>
        </p:txBody>
      </p:sp>
      <p:sp>
        <p:nvSpPr>
          <p:cNvPr id="82" name="Shape 80"/>
          <p:cNvSpPr/>
          <p:nvPr/>
        </p:nvSpPr>
        <p:spPr>
          <a:xfrm>
            <a:off x="4681728" y="2889504"/>
            <a:ext cx="3209544" cy="2414016"/>
          </a:xfrm>
          <a:prstGeom prst="roundRect">
            <a:avLst>
              <a:gd name="adj" fmla="val 3030"/>
            </a:avLst>
          </a:prstGeom>
          <a:solidFill>
            <a:srgbClr val="E9F0FB"/>
          </a:solidFill>
          <a:ln w="12700">
            <a:solidFill>
              <a:srgbClr val="E9F0FB">
                <a:alpha val="0"/>
              </a:srgbClr>
            </a:solidFill>
            <a:prstDash val="solid"/>
          </a:ln>
        </p:spPr>
        <p:txBody>
          <a:bodyPr/>
          <a:lstStyle/>
          <a:p>
            <a:endParaRPr lang="en-PK"/>
          </a:p>
        </p:txBody>
      </p:sp>
      <p:sp>
        <p:nvSpPr>
          <p:cNvPr id="83" name="Shape 81"/>
          <p:cNvSpPr/>
          <p:nvPr/>
        </p:nvSpPr>
        <p:spPr>
          <a:xfrm>
            <a:off x="4681728" y="2889504"/>
            <a:ext cx="3209544" cy="402336"/>
          </a:xfrm>
          <a:prstGeom prst="rect">
            <a:avLst/>
          </a:prstGeom>
          <a:solidFill>
            <a:srgbClr val="364BAD"/>
          </a:solidFill>
          <a:ln w="12700">
            <a:solidFill>
              <a:srgbClr val="364BAD">
                <a:alpha val="0"/>
              </a:srgbClr>
            </a:solidFill>
            <a:prstDash val="solid"/>
          </a:ln>
        </p:spPr>
        <p:txBody>
          <a:bodyPr/>
          <a:lstStyle/>
          <a:p>
            <a:endParaRPr lang="en-PK"/>
          </a:p>
        </p:txBody>
      </p:sp>
      <p:sp>
        <p:nvSpPr>
          <p:cNvPr id="84" name="Text 82"/>
          <p:cNvSpPr/>
          <p:nvPr/>
        </p:nvSpPr>
        <p:spPr>
          <a:xfrm>
            <a:off x="4846320" y="2990088"/>
            <a:ext cx="2880360" cy="219456"/>
          </a:xfrm>
          <a:prstGeom prst="rect">
            <a:avLst/>
          </a:prstGeom>
          <a:noFill/>
          <a:ln/>
        </p:spPr>
        <p:txBody>
          <a:bodyPr wrap="square" lIns="0" tIns="0" rIns="0" bIns="0" rtlCol="0" anchor="t">
            <a:normAutofit/>
          </a:bodyPr>
          <a:lstStyle/>
          <a:p>
            <a:pPr marL="0" indent="0">
              <a:buNone/>
            </a:pPr>
            <a:r>
              <a:rPr lang="en-US" sz="1250" b="1" dirty="0">
                <a:solidFill>
                  <a:srgbClr val="FFFFFF"/>
                </a:solidFill>
                <a:latin typeface="Arial" pitchFamily="34" charset="0"/>
                <a:ea typeface="Arial" pitchFamily="34" charset="-122"/>
                <a:cs typeface="Arial" pitchFamily="34" charset="-120"/>
              </a:rPr>
              <a:t>ADMINISTRATOR REVIEWS</a:t>
            </a:r>
            <a:endParaRPr lang="en-US" sz="1250" dirty="0"/>
          </a:p>
        </p:txBody>
      </p:sp>
      <p:sp>
        <p:nvSpPr>
          <p:cNvPr id="85" name="Shape 83"/>
          <p:cNvSpPr/>
          <p:nvPr/>
        </p:nvSpPr>
        <p:spPr>
          <a:xfrm>
            <a:off x="4873752" y="3538728"/>
            <a:ext cx="576072" cy="576072"/>
          </a:xfrm>
          <a:prstGeom prst="ellipse">
            <a:avLst/>
          </a:prstGeom>
          <a:solidFill>
            <a:srgbClr val="E9F0FB"/>
          </a:solidFill>
          <a:ln w="12700">
            <a:solidFill>
              <a:srgbClr val="E9F0FB">
                <a:alpha val="0"/>
              </a:srgbClr>
            </a:solidFill>
            <a:prstDash val="solid"/>
          </a:ln>
        </p:spPr>
        <p:txBody>
          <a:bodyPr/>
          <a:lstStyle/>
          <a:p>
            <a:endParaRPr lang="en-PK"/>
          </a:p>
        </p:txBody>
      </p:sp>
      <p:sp>
        <p:nvSpPr>
          <p:cNvPr id="86" name="Shape 84"/>
          <p:cNvSpPr/>
          <p:nvPr/>
        </p:nvSpPr>
        <p:spPr>
          <a:xfrm>
            <a:off x="4994151" y="3642133"/>
            <a:ext cx="232157" cy="232157"/>
          </a:xfrm>
          <a:prstGeom prst="ellipse">
            <a:avLst/>
          </a:prstGeom>
          <a:solidFill>
            <a:srgbClr val="FFFFFF"/>
          </a:solidFill>
          <a:ln w="27940">
            <a:solidFill>
              <a:srgbClr val="364BAD"/>
            </a:solidFill>
            <a:prstDash val="solid"/>
          </a:ln>
        </p:spPr>
        <p:txBody>
          <a:bodyPr/>
          <a:lstStyle/>
          <a:p>
            <a:endParaRPr lang="en-PK"/>
          </a:p>
        </p:txBody>
      </p:sp>
      <p:sp>
        <p:nvSpPr>
          <p:cNvPr id="87" name="Shape 85"/>
          <p:cNvSpPr/>
          <p:nvPr/>
        </p:nvSpPr>
        <p:spPr>
          <a:xfrm>
            <a:off x="5188863" y="3844334"/>
            <a:ext cx="131056" cy="138545"/>
          </a:xfrm>
          <a:prstGeom prst="line">
            <a:avLst/>
          </a:prstGeom>
          <a:solidFill>
            <a:srgbClr val="FFFFFF">
              <a:alpha val="0"/>
            </a:srgbClr>
          </a:solidFill>
          <a:ln w="50800">
            <a:solidFill>
              <a:srgbClr val="364BAD"/>
            </a:solidFill>
            <a:prstDash val="solid"/>
          </a:ln>
        </p:spPr>
        <p:txBody>
          <a:bodyPr/>
          <a:lstStyle/>
          <a:p>
            <a:endParaRPr lang="en-PK"/>
          </a:p>
        </p:txBody>
      </p:sp>
      <p:sp>
        <p:nvSpPr>
          <p:cNvPr id="88" name="Text 86"/>
          <p:cNvSpPr/>
          <p:nvPr/>
        </p:nvSpPr>
        <p:spPr>
          <a:xfrm>
            <a:off x="5577840" y="3538728"/>
            <a:ext cx="2075688" cy="566928"/>
          </a:xfrm>
          <a:prstGeom prst="rect">
            <a:avLst/>
          </a:prstGeom>
          <a:noFill/>
          <a:ln/>
        </p:spPr>
        <p:txBody>
          <a:bodyPr wrap="square" lIns="0" tIns="0" rIns="0" bIns="0" rtlCol="0" anchor="t">
            <a:noAutofit/>
          </a:bodyPr>
          <a:lstStyle/>
          <a:p>
            <a:pPr marL="0" indent="0">
              <a:buNone/>
            </a:pPr>
            <a:r>
              <a:rPr lang="en-US" sz="1400" b="1" dirty="0">
                <a:solidFill>
                  <a:srgbClr val="1C2255"/>
                </a:solidFill>
                <a:latin typeface="Arial" pitchFamily="34" charset="0"/>
                <a:ea typeface="Arial" pitchFamily="34" charset="-122"/>
                <a:cs typeface="Arial" pitchFamily="34" charset="-120"/>
              </a:rPr>
              <a:t>3 documents passed</a:t>
            </a:r>
            <a:endParaRPr lang="en-US" sz="1400" dirty="0"/>
          </a:p>
          <a:p>
            <a:pPr marL="0" indent="0">
              <a:buNone/>
            </a:pPr>
            <a:r>
              <a:rPr lang="en-US" sz="1400" b="1" dirty="0">
                <a:solidFill>
                  <a:srgbClr val="1C2255"/>
                </a:solidFill>
                <a:latin typeface="Arial" pitchFamily="34" charset="0"/>
                <a:ea typeface="Arial" pitchFamily="34" charset="-122"/>
                <a:cs typeface="Arial" pitchFamily="34" charset="-120"/>
              </a:rPr>
              <a:t>1 flagged for review</a:t>
            </a:r>
            <a:endParaRPr lang="en-US" sz="1400" dirty="0"/>
          </a:p>
        </p:txBody>
      </p:sp>
      <p:sp>
        <p:nvSpPr>
          <p:cNvPr id="89" name="Text 87"/>
          <p:cNvSpPr/>
          <p:nvPr/>
        </p:nvSpPr>
        <p:spPr>
          <a:xfrm>
            <a:off x="4892040" y="4279392"/>
            <a:ext cx="2761488" cy="475488"/>
          </a:xfrm>
          <a:prstGeom prst="rect">
            <a:avLst/>
          </a:prstGeom>
          <a:noFill/>
          <a:ln/>
        </p:spPr>
        <p:txBody>
          <a:bodyPr wrap="square" lIns="0" tIns="0" rIns="0" bIns="0" rtlCol="0" anchor="t">
            <a:normAutofit/>
          </a:bodyPr>
          <a:lstStyle/>
          <a:p>
            <a:pPr marL="0" indent="0">
              <a:buNone/>
            </a:pPr>
            <a:r>
              <a:rPr lang="en-US" sz="1350" dirty="0">
                <a:solidFill>
                  <a:srgbClr val="1C2255"/>
                </a:solidFill>
                <a:latin typeface="Arial" pitchFamily="34" charset="0"/>
                <a:ea typeface="Arial" pitchFamily="34" charset="-122"/>
                <a:cs typeface="Arial" pitchFamily="34" charset="-120"/>
              </a:rPr>
              <a:t>Confirm the finding and request</a:t>
            </a:r>
            <a:endParaRPr lang="en-US" sz="1350" dirty="0"/>
          </a:p>
          <a:p>
            <a:pPr marL="0" indent="0">
              <a:buNone/>
            </a:pPr>
            <a:r>
              <a:rPr lang="en-US" sz="1350" dirty="0">
                <a:solidFill>
                  <a:srgbClr val="1C2255"/>
                </a:solidFill>
                <a:latin typeface="Arial" pitchFamily="34" charset="0"/>
                <a:ea typeface="Arial" pitchFamily="34" charset="-122"/>
                <a:cs typeface="Arial" pitchFamily="34" charset="-120"/>
              </a:rPr>
              <a:t>a clearer address document.</a:t>
            </a:r>
            <a:endParaRPr lang="en-US" sz="1350" dirty="0"/>
          </a:p>
        </p:txBody>
      </p:sp>
      <p:sp>
        <p:nvSpPr>
          <p:cNvPr id="90" name="Shape 88"/>
          <p:cNvSpPr/>
          <p:nvPr/>
        </p:nvSpPr>
        <p:spPr>
          <a:xfrm>
            <a:off x="4892040" y="4864608"/>
            <a:ext cx="1828800" cy="237744"/>
          </a:xfrm>
          <a:prstGeom prst="roundRect">
            <a:avLst>
              <a:gd name="adj" fmla="val 30769"/>
            </a:avLst>
          </a:prstGeom>
          <a:solidFill>
            <a:srgbClr val="FFFFFF"/>
          </a:solidFill>
          <a:ln w="12700">
            <a:solidFill>
              <a:srgbClr val="FFFFFF">
                <a:alpha val="0"/>
              </a:srgbClr>
            </a:solidFill>
            <a:prstDash val="solid"/>
          </a:ln>
        </p:spPr>
        <p:txBody>
          <a:bodyPr/>
          <a:lstStyle/>
          <a:p>
            <a:endParaRPr lang="en-PK"/>
          </a:p>
        </p:txBody>
      </p:sp>
      <p:sp>
        <p:nvSpPr>
          <p:cNvPr id="91" name="Text 89"/>
          <p:cNvSpPr/>
          <p:nvPr/>
        </p:nvSpPr>
        <p:spPr>
          <a:xfrm>
            <a:off x="4946904" y="4887468"/>
            <a:ext cx="1719072" cy="173736"/>
          </a:xfrm>
          <a:prstGeom prst="rect">
            <a:avLst/>
          </a:prstGeom>
          <a:noFill/>
          <a:ln/>
        </p:spPr>
        <p:txBody>
          <a:bodyPr wrap="square" lIns="0" tIns="0" rIns="0" bIns="0" rtlCol="0" anchor="t">
            <a:normAutofit/>
          </a:bodyPr>
          <a:lstStyle/>
          <a:p>
            <a:pPr marL="0" indent="0" algn="ctr">
              <a:buNone/>
            </a:pPr>
            <a:r>
              <a:rPr lang="en-US" sz="960" b="1" dirty="0">
                <a:solidFill>
                  <a:srgbClr val="364BAD"/>
                </a:solidFill>
                <a:latin typeface="Arial" pitchFamily="34" charset="0"/>
                <a:ea typeface="Arial" pitchFamily="34" charset="-122"/>
                <a:cs typeface="Arial" pitchFamily="34" charset="-120"/>
              </a:rPr>
              <a:t>AWAITING REVIEW</a:t>
            </a:r>
            <a:endParaRPr lang="en-US" sz="960" dirty="0"/>
          </a:p>
        </p:txBody>
      </p:sp>
      <p:sp>
        <p:nvSpPr>
          <p:cNvPr id="92" name="Shape 90"/>
          <p:cNvSpPr/>
          <p:nvPr/>
        </p:nvSpPr>
        <p:spPr>
          <a:xfrm>
            <a:off x="8019288" y="4069080"/>
            <a:ext cx="329184" cy="0"/>
          </a:xfrm>
          <a:prstGeom prst="line">
            <a:avLst/>
          </a:prstGeom>
          <a:solidFill>
            <a:srgbClr val="FFFFFF">
              <a:alpha val="0"/>
            </a:srgbClr>
          </a:solidFill>
          <a:ln w="20320">
            <a:solidFill>
              <a:srgbClr val="FF6B00"/>
            </a:solidFill>
            <a:prstDash val="solid"/>
            <a:tailEnd type="triangle"/>
          </a:ln>
        </p:spPr>
        <p:txBody>
          <a:bodyPr/>
          <a:lstStyle/>
          <a:p>
            <a:endParaRPr lang="en-PK"/>
          </a:p>
        </p:txBody>
      </p:sp>
      <p:sp>
        <p:nvSpPr>
          <p:cNvPr id="93" name="Shape 91"/>
          <p:cNvSpPr/>
          <p:nvPr/>
        </p:nvSpPr>
        <p:spPr>
          <a:xfrm>
            <a:off x="8522208" y="2889504"/>
            <a:ext cx="3273552" cy="2414016"/>
          </a:xfrm>
          <a:prstGeom prst="roundRect">
            <a:avLst>
              <a:gd name="adj" fmla="val 3030"/>
            </a:avLst>
          </a:prstGeom>
          <a:solidFill>
            <a:srgbClr val="FFF3E8"/>
          </a:solidFill>
          <a:ln w="12700">
            <a:solidFill>
              <a:srgbClr val="FFF3E8">
                <a:alpha val="0"/>
              </a:srgbClr>
            </a:solidFill>
            <a:prstDash val="solid"/>
          </a:ln>
        </p:spPr>
        <p:txBody>
          <a:bodyPr/>
          <a:lstStyle/>
          <a:p>
            <a:endParaRPr lang="en-PK"/>
          </a:p>
        </p:txBody>
      </p:sp>
      <p:sp>
        <p:nvSpPr>
          <p:cNvPr id="94" name="Shape 92"/>
          <p:cNvSpPr/>
          <p:nvPr/>
        </p:nvSpPr>
        <p:spPr>
          <a:xfrm>
            <a:off x="8522208" y="2889504"/>
            <a:ext cx="3273552" cy="402336"/>
          </a:xfrm>
          <a:prstGeom prst="rect">
            <a:avLst/>
          </a:prstGeom>
          <a:solidFill>
            <a:srgbClr val="FF6B00"/>
          </a:solidFill>
          <a:ln w="12700">
            <a:solidFill>
              <a:srgbClr val="FF6B00">
                <a:alpha val="0"/>
              </a:srgbClr>
            </a:solidFill>
            <a:prstDash val="solid"/>
          </a:ln>
        </p:spPr>
        <p:txBody>
          <a:bodyPr/>
          <a:lstStyle/>
          <a:p>
            <a:endParaRPr lang="en-PK"/>
          </a:p>
        </p:txBody>
      </p:sp>
      <p:sp>
        <p:nvSpPr>
          <p:cNvPr id="95" name="Text 93"/>
          <p:cNvSpPr/>
          <p:nvPr/>
        </p:nvSpPr>
        <p:spPr>
          <a:xfrm>
            <a:off x="8686800" y="2990088"/>
            <a:ext cx="2944368" cy="219456"/>
          </a:xfrm>
          <a:prstGeom prst="rect">
            <a:avLst/>
          </a:prstGeom>
          <a:noFill/>
          <a:ln/>
        </p:spPr>
        <p:txBody>
          <a:bodyPr wrap="square" lIns="0" tIns="0" rIns="0" bIns="0" rtlCol="0" anchor="t">
            <a:normAutofit/>
          </a:bodyPr>
          <a:lstStyle/>
          <a:p>
            <a:pPr marL="0" indent="0">
              <a:buNone/>
            </a:pPr>
            <a:r>
              <a:rPr lang="en-US" sz="1250" b="1" dirty="0">
                <a:solidFill>
                  <a:srgbClr val="FFFFFF"/>
                </a:solidFill>
                <a:latin typeface="Arial" pitchFamily="34" charset="0"/>
                <a:ea typeface="Arial" pitchFamily="34" charset="-122"/>
                <a:cs typeface="Arial" pitchFamily="34" charset="-120"/>
              </a:rPr>
              <a:t>CLIENT CORRECTS</a:t>
            </a:r>
            <a:endParaRPr lang="en-US" sz="1250" dirty="0"/>
          </a:p>
        </p:txBody>
      </p:sp>
      <p:sp>
        <p:nvSpPr>
          <p:cNvPr id="96" name="Shape 94"/>
          <p:cNvSpPr/>
          <p:nvPr/>
        </p:nvSpPr>
        <p:spPr>
          <a:xfrm>
            <a:off x="8723376" y="3547872"/>
            <a:ext cx="576072" cy="576072"/>
          </a:xfrm>
          <a:prstGeom prst="ellipse">
            <a:avLst/>
          </a:prstGeom>
          <a:solidFill>
            <a:srgbClr val="FFE5D0"/>
          </a:solidFill>
          <a:ln w="12700">
            <a:solidFill>
              <a:srgbClr val="FFE5D0">
                <a:alpha val="0"/>
              </a:srgbClr>
            </a:solidFill>
            <a:prstDash val="solid"/>
          </a:ln>
        </p:spPr>
        <p:txBody>
          <a:bodyPr/>
          <a:lstStyle/>
          <a:p>
            <a:endParaRPr lang="en-PK"/>
          </a:p>
        </p:txBody>
      </p:sp>
      <p:sp>
        <p:nvSpPr>
          <p:cNvPr id="97" name="Shape 95"/>
          <p:cNvSpPr/>
          <p:nvPr/>
        </p:nvSpPr>
        <p:spPr>
          <a:xfrm>
            <a:off x="8828797" y="3707444"/>
            <a:ext cx="359469" cy="243390"/>
          </a:xfrm>
          <a:prstGeom prst="roundRect">
            <a:avLst>
              <a:gd name="adj" fmla="val 30055"/>
            </a:avLst>
          </a:prstGeom>
          <a:solidFill>
            <a:srgbClr val="FFFFFF"/>
          </a:solidFill>
          <a:ln w="8255">
            <a:solidFill>
              <a:srgbClr val="FF6B00"/>
            </a:solidFill>
            <a:prstDash val="solid"/>
          </a:ln>
        </p:spPr>
        <p:txBody>
          <a:bodyPr/>
          <a:lstStyle/>
          <a:p>
            <a:endParaRPr lang="en-PK"/>
          </a:p>
        </p:txBody>
      </p:sp>
      <p:sp>
        <p:nvSpPr>
          <p:cNvPr id="98" name="Shape 96"/>
          <p:cNvSpPr/>
          <p:nvPr/>
        </p:nvSpPr>
        <p:spPr>
          <a:xfrm>
            <a:off x="8836286" y="3722422"/>
            <a:ext cx="172246" cy="131056"/>
          </a:xfrm>
          <a:prstGeom prst="line">
            <a:avLst/>
          </a:prstGeom>
          <a:solidFill>
            <a:srgbClr val="FFFFFF">
              <a:alpha val="0"/>
            </a:srgbClr>
          </a:solidFill>
          <a:ln w="21590">
            <a:solidFill>
              <a:srgbClr val="FF6B00"/>
            </a:solidFill>
            <a:prstDash val="solid"/>
          </a:ln>
        </p:spPr>
        <p:txBody>
          <a:bodyPr/>
          <a:lstStyle/>
          <a:p>
            <a:endParaRPr lang="en-PK"/>
          </a:p>
        </p:txBody>
      </p:sp>
      <p:sp>
        <p:nvSpPr>
          <p:cNvPr id="99" name="Shape 97"/>
          <p:cNvSpPr/>
          <p:nvPr/>
        </p:nvSpPr>
        <p:spPr>
          <a:xfrm flipV="1">
            <a:off x="9008532" y="3722422"/>
            <a:ext cx="172246" cy="131056"/>
          </a:xfrm>
          <a:prstGeom prst="line">
            <a:avLst/>
          </a:prstGeom>
          <a:solidFill>
            <a:srgbClr val="FFFFFF">
              <a:alpha val="0"/>
            </a:srgbClr>
          </a:solidFill>
          <a:ln w="21590">
            <a:solidFill>
              <a:srgbClr val="FF6B00"/>
            </a:solidFill>
            <a:prstDash val="solid"/>
          </a:ln>
        </p:spPr>
        <p:txBody>
          <a:bodyPr/>
          <a:lstStyle/>
          <a:p>
            <a:endParaRPr lang="en-PK"/>
          </a:p>
        </p:txBody>
      </p:sp>
      <p:sp>
        <p:nvSpPr>
          <p:cNvPr id="100" name="Text 98"/>
          <p:cNvSpPr/>
          <p:nvPr/>
        </p:nvSpPr>
        <p:spPr>
          <a:xfrm>
            <a:off x="9427464" y="3547872"/>
            <a:ext cx="2148840" cy="548640"/>
          </a:xfrm>
          <a:prstGeom prst="rect">
            <a:avLst/>
          </a:prstGeom>
          <a:noFill/>
          <a:ln/>
        </p:spPr>
        <p:txBody>
          <a:bodyPr wrap="square" lIns="0" tIns="0" rIns="0" bIns="0" rtlCol="0" anchor="t">
            <a:normAutofit/>
          </a:bodyPr>
          <a:lstStyle/>
          <a:p>
            <a:pPr marL="0" indent="0">
              <a:buNone/>
            </a:pPr>
            <a:r>
              <a:rPr lang="en-US" sz="1400" b="1" dirty="0">
                <a:solidFill>
                  <a:srgbClr val="1C2255"/>
                </a:solidFill>
                <a:latin typeface="Arial" pitchFamily="34" charset="0"/>
                <a:ea typeface="Arial" pitchFamily="34" charset="-122"/>
                <a:cs typeface="Arial" pitchFamily="34" charset="-120"/>
              </a:rPr>
              <a:t>Reason + portal link</a:t>
            </a:r>
            <a:endParaRPr lang="en-US" sz="1400" dirty="0"/>
          </a:p>
          <a:p>
            <a:pPr marL="0" indent="0">
              <a:buNone/>
            </a:pPr>
            <a:r>
              <a:rPr lang="en-US" sz="1400" b="1" dirty="0">
                <a:solidFill>
                  <a:srgbClr val="1C2255"/>
                </a:solidFill>
                <a:latin typeface="Arial" pitchFamily="34" charset="0"/>
                <a:ea typeface="Arial" pitchFamily="34" charset="-122"/>
                <a:cs typeface="Arial" pitchFamily="34" charset="-120"/>
              </a:rPr>
              <a:t>arrive by email</a:t>
            </a:r>
            <a:endParaRPr lang="en-US" sz="1400" dirty="0"/>
          </a:p>
        </p:txBody>
      </p:sp>
      <p:sp>
        <p:nvSpPr>
          <p:cNvPr id="101" name="Text 99"/>
          <p:cNvSpPr/>
          <p:nvPr/>
        </p:nvSpPr>
        <p:spPr>
          <a:xfrm>
            <a:off x="8732520" y="4288536"/>
            <a:ext cx="2788920" cy="457200"/>
          </a:xfrm>
          <a:prstGeom prst="rect">
            <a:avLst/>
          </a:prstGeom>
          <a:noFill/>
          <a:ln/>
        </p:spPr>
        <p:txBody>
          <a:bodyPr wrap="square" lIns="0" tIns="0" rIns="0" bIns="0" rtlCol="0" anchor="t">
            <a:normAutofit/>
          </a:bodyPr>
          <a:lstStyle/>
          <a:p>
            <a:pPr marL="0" indent="0">
              <a:buNone/>
            </a:pPr>
            <a:r>
              <a:rPr lang="en-US" sz="1340" dirty="0">
                <a:solidFill>
                  <a:srgbClr val="1C2255"/>
                </a:solidFill>
                <a:latin typeface="Arial" pitchFamily="34" charset="0"/>
                <a:ea typeface="Arial" pitchFamily="34" charset="-122"/>
                <a:cs typeface="Arial" pitchFamily="34" charset="-120"/>
              </a:rPr>
              <a:t>Upload a clearer copy.</a:t>
            </a:r>
            <a:endParaRPr lang="en-US" sz="1340" dirty="0"/>
          </a:p>
          <a:p>
            <a:pPr marL="0" indent="0">
              <a:buNone/>
            </a:pPr>
            <a:r>
              <a:rPr lang="en-US" sz="1340" dirty="0">
                <a:solidFill>
                  <a:srgbClr val="1C2255"/>
                </a:solidFill>
                <a:latin typeface="Arial" pitchFamily="34" charset="0"/>
                <a:ea typeface="Arial" pitchFamily="34" charset="-122"/>
                <a:cs typeface="Arial" pitchFamily="34" charset="-120"/>
              </a:rPr>
              <a:t>The original remains on record.</a:t>
            </a:r>
            <a:endParaRPr lang="en-US" sz="1340" dirty="0"/>
          </a:p>
        </p:txBody>
      </p:sp>
      <p:sp>
        <p:nvSpPr>
          <p:cNvPr id="102" name="Shape 100"/>
          <p:cNvSpPr/>
          <p:nvPr/>
        </p:nvSpPr>
        <p:spPr>
          <a:xfrm>
            <a:off x="8732520" y="4864608"/>
            <a:ext cx="2048256" cy="237744"/>
          </a:xfrm>
          <a:prstGeom prst="roundRect">
            <a:avLst>
              <a:gd name="adj" fmla="val 30769"/>
            </a:avLst>
          </a:prstGeom>
          <a:solidFill>
            <a:srgbClr val="FFFFFF"/>
          </a:solidFill>
          <a:ln w="12700">
            <a:solidFill>
              <a:srgbClr val="FFFFFF">
                <a:alpha val="0"/>
              </a:srgbClr>
            </a:solidFill>
            <a:prstDash val="solid"/>
          </a:ln>
        </p:spPr>
        <p:txBody>
          <a:bodyPr/>
          <a:lstStyle/>
          <a:p>
            <a:endParaRPr lang="en-PK"/>
          </a:p>
        </p:txBody>
      </p:sp>
      <p:sp>
        <p:nvSpPr>
          <p:cNvPr id="103" name="Text 101"/>
          <p:cNvSpPr/>
          <p:nvPr/>
        </p:nvSpPr>
        <p:spPr>
          <a:xfrm>
            <a:off x="8787384" y="4887468"/>
            <a:ext cx="1938528" cy="173736"/>
          </a:xfrm>
          <a:prstGeom prst="rect">
            <a:avLst/>
          </a:prstGeom>
          <a:noFill/>
          <a:ln/>
        </p:spPr>
        <p:txBody>
          <a:bodyPr wrap="square" lIns="0" tIns="0" rIns="0" bIns="0" rtlCol="0" anchor="t">
            <a:normAutofit/>
          </a:bodyPr>
          <a:lstStyle/>
          <a:p>
            <a:pPr marL="0" indent="0" algn="ctr">
              <a:buNone/>
            </a:pPr>
            <a:r>
              <a:rPr lang="en-US" sz="960" b="1" dirty="0">
                <a:solidFill>
                  <a:srgbClr val="FF6B00"/>
                </a:solidFill>
                <a:latin typeface="Arial" pitchFamily="34" charset="0"/>
                <a:ea typeface="Arial" pitchFamily="34" charset="-122"/>
                <a:cs typeface="Arial" pitchFamily="34" charset="-120"/>
              </a:rPr>
              <a:t>STORED AS VERSION 2</a:t>
            </a:r>
            <a:endParaRPr lang="en-US" sz="960" dirty="0"/>
          </a:p>
        </p:txBody>
      </p:sp>
      <p:sp>
        <p:nvSpPr>
          <p:cNvPr id="104" name="Shape 102"/>
          <p:cNvSpPr/>
          <p:nvPr/>
        </p:nvSpPr>
        <p:spPr>
          <a:xfrm>
            <a:off x="10149840" y="5321808"/>
            <a:ext cx="0" cy="164592"/>
          </a:xfrm>
          <a:prstGeom prst="line">
            <a:avLst/>
          </a:prstGeom>
          <a:solidFill>
            <a:srgbClr val="FFFFFF">
              <a:alpha val="0"/>
            </a:srgbClr>
          </a:solidFill>
          <a:ln w="15875">
            <a:solidFill>
              <a:srgbClr val="FF6B00"/>
            </a:solidFill>
            <a:prstDash val="solid"/>
          </a:ln>
        </p:spPr>
        <p:txBody>
          <a:bodyPr/>
          <a:lstStyle/>
          <a:p>
            <a:endParaRPr lang="en-PK"/>
          </a:p>
        </p:txBody>
      </p:sp>
      <p:sp>
        <p:nvSpPr>
          <p:cNvPr id="105" name="Shape 103"/>
          <p:cNvSpPr/>
          <p:nvPr/>
        </p:nvSpPr>
        <p:spPr>
          <a:xfrm flipH="1">
            <a:off x="6281928" y="5486400"/>
            <a:ext cx="3867912" cy="0"/>
          </a:xfrm>
          <a:prstGeom prst="line">
            <a:avLst/>
          </a:prstGeom>
          <a:solidFill>
            <a:srgbClr val="FFFFFF">
              <a:alpha val="0"/>
            </a:srgbClr>
          </a:solidFill>
          <a:ln w="15875">
            <a:solidFill>
              <a:srgbClr val="FF6B00"/>
            </a:solidFill>
            <a:prstDash val="solid"/>
          </a:ln>
        </p:spPr>
        <p:txBody>
          <a:bodyPr/>
          <a:lstStyle/>
          <a:p>
            <a:endParaRPr lang="en-PK"/>
          </a:p>
        </p:txBody>
      </p:sp>
      <p:sp>
        <p:nvSpPr>
          <p:cNvPr id="106" name="Shape 104"/>
          <p:cNvSpPr/>
          <p:nvPr/>
        </p:nvSpPr>
        <p:spPr>
          <a:xfrm flipV="1">
            <a:off x="6281928" y="5340096"/>
            <a:ext cx="0" cy="146304"/>
          </a:xfrm>
          <a:prstGeom prst="line">
            <a:avLst/>
          </a:prstGeom>
          <a:solidFill>
            <a:srgbClr val="FFFFFF">
              <a:alpha val="0"/>
            </a:srgbClr>
          </a:solidFill>
          <a:ln w="15875">
            <a:solidFill>
              <a:srgbClr val="FF6B00"/>
            </a:solidFill>
            <a:prstDash val="solid"/>
            <a:tailEnd type="triangle"/>
          </a:ln>
        </p:spPr>
        <p:txBody>
          <a:bodyPr/>
          <a:lstStyle/>
          <a:p>
            <a:endParaRPr lang="en-PK"/>
          </a:p>
        </p:txBody>
      </p:sp>
      <p:sp>
        <p:nvSpPr>
          <p:cNvPr id="107" name="Text 105"/>
          <p:cNvSpPr/>
          <p:nvPr/>
        </p:nvSpPr>
        <p:spPr>
          <a:xfrm>
            <a:off x="6345936" y="5541264"/>
            <a:ext cx="5102352" cy="182880"/>
          </a:xfrm>
          <a:prstGeom prst="rect">
            <a:avLst/>
          </a:prstGeom>
          <a:noFill/>
          <a:ln/>
        </p:spPr>
        <p:txBody>
          <a:bodyPr wrap="square" lIns="0" tIns="0" rIns="0" bIns="0" rtlCol="0" anchor="t">
            <a:normAutofit/>
          </a:bodyPr>
          <a:lstStyle/>
          <a:p>
            <a:pPr marL="0" indent="0" algn="r">
              <a:buNone/>
            </a:pPr>
            <a:r>
              <a:rPr lang="en-US" sz="1060" b="1" dirty="0">
                <a:solidFill>
                  <a:srgbClr val="FF6B00"/>
                </a:solidFill>
                <a:latin typeface="Arial" pitchFamily="34" charset="0"/>
                <a:ea typeface="Arial" pitchFamily="34" charset="-122"/>
                <a:cs typeface="Arial" pitchFamily="34" charset="-120"/>
              </a:rPr>
              <a:t>Recheck the new version; return to administrator review</a:t>
            </a:r>
            <a:endParaRPr lang="en-US" sz="1060" dirty="0"/>
          </a:p>
        </p:txBody>
      </p:sp>
      <p:sp>
        <p:nvSpPr>
          <p:cNvPr id="108" name="Shape 106"/>
          <p:cNvSpPr/>
          <p:nvPr/>
        </p:nvSpPr>
        <p:spPr>
          <a:xfrm>
            <a:off x="393192" y="5925312"/>
            <a:ext cx="11402568" cy="320040"/>
          </a:xfrm>
          <a:prstGeom prst="rect">
            <a:avLst/>
          </a:prstGeom>
          <a:solidFill>
            <a:srgbClr val="EAF5FC"/>
          </a:solidFill>
          <a:ln w="12700">
            <a:solidFill>
              <a:srgbClr val="EAF5FC">
                <a:alpha val="0"/>
              </a:srgbClr>
            </a:solidFill>
            <a:prstDash val="solid"/>
          </a:ln>
        </p:spPr>
        <p:txBody>
          <a:bodyPr/>
          <a:lstStyle/>
          <a:p>
            <a:endParaRPr lang="en-PK"/>
          </a:p>
        </p:txBody>
      </p:sp>
      <p:sp>
        <p:nvSpPr>
          <p:cNvPr id="109" name="Shape 107"/>
          <p:cNvSpPr/>
          <p:nvPr/>
        </p:nvSpPr>
        <p:spPr>
          <a:xfrm>
            <a:off x="544068" y="5973318"/>
            <a:ext cx="196596" cy="196596"/>
          </a:xfrm>
          <a:prstGeom prst="ellipse">
            <a:avLst/>
          </a:prstGeom>
          <a:solidFill>
            <a:srgbClr val="FFFFFF"/>
          </a:solidFill>
          <a:ln w="21590">
            <a:solidFill>
              <a:srgbClr val="364BAD"/>
            </a:solidFill>
            <a:prstDash val="solid"/>
          </a:ln>
        </p:spPr>
        <p:txBody>
          <a:bodyPr/>
          <a:lstStyle/>
          <a:p>
            <a:endParaRPr lang="en-PK"/>
          </a:p>
        </p:txBody>
      </p:sp>
      <p:sp>
        <p:nvSpPr>
          <p:cNvPr id="110" name="Shape 108"/>
          <p:cNvSpPr/>
          <p:nvPr/>
        </p:nvSpPr>
        <p:spPr>
          <a:xfrm>
            <a:off x="587502" y="6071616"/>
            <a:ext cx="41148" cy="41148"/>
          </a:xfrm>
          <a:prstGeom prst="line">
            <a:avLst/>
          </a:prstGeom>
          <a:solidFill>
            <a:srgbClr val="FFFFFF">
              <a:alpha val="0"/>
            </a:srgbClr>
          </a:solidFill>
          <a:ln w="27940">
            <a:solidFill>
              <a:srgbClr val="364BAD"/>
            </a:solidFill>
            <a:prstDash val="solid"/>
          </a:ln>
        </p:spPr>
        <p:txBody>
          <a:bodyPr/>
          <a:lstStyle/>
          <a:p>
            <a:endParaRPr lang="en-PK"/>
          </a:p>
        </p:txBody>
      </p:sp>
      <p:sp>
        <p:nvSpPr>
          <p:cNvPr id="111" name="Shape 109"/>
          <p:cNvSpPr/>
          <p:nvPr/>
        </p:nvSpPr>
        <p:spPr>
          <a:xfrm flipV="1">
            <a:off x="628650" y="6032754"/>
            <a:ext cx="77724" cy="80010"/>
          </a:xfrm>
          <a:prstGeom prst="line">
            <a:avLst/>
          </a:prstGeom>
          <a:solidFill>
            <a:srgbClr val="FFFFFF">
              <a:alpha val="0"/>
            </a:srgbClr>
          </a:solidFill>
          <a:ln w="27940">
            <a:solidFill>
              <a:srgbClr val="364BAD"/>
            </a:solidFill>
            <a:prstDash val="solid"/>
          </a:ln>
        </p:spPr>
        <p:txBody>
          <a:bodyPr/>
          <a:lstStyle/>
          <a:p>
            <a:endParaRPr lang="en-PK"/>
          </a:p>
        </p:txBody>
      </p:sp>
      <p:sp>
        <p:nvSpPr>
          <p:cNvPr id="112" name="Text 110"/>
          <p:cNvSpPr/>
          <p:nvPr/>
        </p:nvSpPr>
        <p:spPr>
          <a:xfrm>
            <a:off x="877824" y="5993892"/>
            <a:ext cx="10716768" cy="182880"/>
          </a:xfrm>
          <a:prstGeom prst="rect">
            <a:avLst/>
          </a:prstGeom>
          <a:noFill/>
          <a:ln/>
        </p:spPr>
        <p:txBody>
          <a:bodyPr wrap="square" lIns="0" tIns="0" rIns="0" bIns="0" rtlCol="0" anchor="t">
            <a:normAutofit/>
          </a:bodyPr>
          <a:lstStyle/>
          <a:p>
            <a:pPr marL="0" indent="0">
              <a:buNone/>
            </a:pPr>
            <a:r>
              <a:rPr lang="en-US" sz="1190" b="1" dirty="0">
                <a:solidFill>
                  <a:srgbClr val="1C2255"/>
                </a:solidFill>
                <a:latin typeface="Arial" pitchFamily="34" charset="0"/>
                <a:ea typeface="Arial" pitchFamily="34" charset="-122"/>
                <a:cs typeface="Arial" pitchFamily="34" charset="-120"/>
              </a:rPr>
              <a:t>Staff approval → automatic client confirmation. Every upload, version and decision is recorded.</a:t>
            </a:r>
            <a:endParaRPr lang="en-US" sz="119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93192" y="210312"/>
            <a:ext cx="4023360" cy="201168"/>
          </a:xfrm>
          <a:prstGeom prst="rect">
            <a:avLst/>
          </a:prstGeom>
          <a:noFill/>
          <a:ln/>
        </p:spPr>
        <p:txBody>
          <a:bodyPr wrap="square" lIns="0" tIns="0" rIns="0" bIns="0" rtlCol="0" anchor="t">
            <a:normAutofit/>
          </a:bodyPr>
          <a:lstStyle/>
          <a:p>
            <a:pPr marL="0" indent="0">
              <a:buNone/>
            </a:pPr>
            <a:r>
              <a:rPr lang="en-US" sz="1080" dirty="0">
                <a:solidFill>
                  <a:srgbClr val="8B95AA"/>
                </a:solidFill>
                <a:latin typeface="Arial" pitchFamily="34" charset="0"/>
                <a:ea typeface="Arial" pitchFamily="34" charset="-122"/>
                <a:cs typeface="Arial" pitchFamily="34" charset="-120"/>
              </a:rPr>
              <a:t>Illustrative value and industry context</a:t>
            </a:r>
            <a:endParaRPr lang="en-US" sz="1080" dirty="0"/>
          </a:p>
        </p:txBody>
      </p:sp>
      <p:sp>
        <p:nvSpPr>
          <p:cNvPr id="3" name="Shape 1"/>
          <p:cNvSpPr/>
          <p:nvPr/>
        </p:nvSpPr>
        <p:spPr>
          <a:xfrm>
            <a:off x="5010912" y="164592"/>
            <a:ext cx="2176272" cy="0"/>
          </a:xfrm>
          <a:prstGeom prst="line">
            <a:avLst/>
          </a:prstGeom>
          <a:solidFill>
            <a:srgbClr val="FFFFFF">
              <a:alpha val="0"/>
            </a:srgbClr>
          </a:solidFill>
          <a:ln w="11430">
            <a:solidFill>
              <a:srgbClr val="FF6B00"/>
            </a:solidFill>
            <a:prstDash val="solid"/>
          </a:ln>
        </p:spPr>
        <p:txBody>
          <a:bodyPr/>
          <a:lstStyle/>
          <a:p>
            <a:endParaRPr lang="en-PK"/>
          </a:p>
        </p:txBody>
      </p:sp>
      <p:sp>
        <p:nvSpPr>
          <p:cNvPr id="4" name="Shape 2"/>
          <p:cNvSpPr/>
          <p:nvPr/>
        </p:nvSpPr>
        <p:spPr>
          <a:xfrm>
            <a:off x="5010912" y="420624"/>
            <a:ext cx="2176272" cy="0"/>
          </a:xfrm>
          <a:prstGeom prst="line">
            <a:avLst/>
          </a:prstGeom>
          <a:solidFill>
            <a:srgbClr val="FFFFFF">
              <a:alpha val="0"/>
            </a:srgbClr>
          </a:solidFill>
          <a:ln w="11430">
            <a:solidFill>
              <a:srgbClr val="FF6B00"/>
            </a:solidFill>
            <a:prstDash val="solid"/>
          </a:ln>
        </p:spPr>
        <p:txBody>
          <a:bodyPr/>
          <a:lstStyle/>
          <a:p>
            <a:endParaRPr lang="en-PK"/>
          </a:p>
        </p:txBody>
      </p:sp>
      <p:sp>
        <p:nvSpPr>
          <p:cNvPr id="5" name="Text 3"/>
          <p:cNvSpPr/>
          <p:nvPr/>
        </p:nvSpPr>
        <p:spPr>
          <a:xfrm>
            <a:off x="5020056" y="244145"/>
            <a:ext cx="2148840" cy="146304"/>
          </a:xfrm>
          <a:prstGeom prst="rect">
            <a:avLst/>
          </a:prstGeom>
          <a:noFill/>
          <a:ln/>
        </p:spPr>
        <p:txBody>
          <a:bodyPr wrap="square" lIns="0" tIns="0" rIns="0" bIns="0" rtlCol="0" anchor="t">
            <a:normAutofit/>
          </a:bodyPr>
          <a:lstStyle/>
          <a:p>
            <a:pPr marL="0" indent="0" algn="ctr">
              <a:buNone/>
            </a:pPr>
            <a:r>
              <a:rPr lang="en-US" sz="920" b="1" dirty="0">
                <a:solidFill>
                  <a:srgbClr val="FF6B00"/>
                </a:solidFill>
                <a:latin typeface="Arial" pitchFamily="34" charset="0"/>
                <a:ea typeface="Arial" pitchFamily="34" charset="-122"/>
                <a:cs typeface="Arial" pitchFamily="34" charset="-120"/>
              </a:rPr>
              <a:t>F O R   D I S C U S S I O N</a:t>
            </a:r>
            <a:endParaRPr lang="en-US" sz="920" dirty="0"/>
          </a:p>
        </p:txBody>
      </p:sp>
      <p:sp>
        <p:nvSpPr>
          <p:cNvPr id="6" name="Text 4"/>
          <p:cNvSpPr/>
          <p:nvPr/>
        </p:nvSpPr>
        <p:spPr>
          <a:xfrm>
            <a:off x="10314432" y="210312"/>
            <a:ext cx="1481328" cy="201168"/>
          </a:xfrm>
          <a:prstGeom prst="rect">
            <a:avLst/>
          </a:prstGeom>
          <a:noFill/>
          <a:ln/>
        </p:spPr>
        <p:txBody>
          <a:bodyPr wrap="square" lIns="0" tIns="0" rIns="0" bIns="0" rtlCol="0" anchor="t">
            <a:normAutofit/>
          </a:bodyPr>
          <a:lstStyle/>
          <a:p>
            <a:pPr marL="0" indent="0" algn="r">
              <a:buNone/>
            </a:pPr>
            <a:r>
              <a:rPr lang="en-US" sz="1150" b="1" dirty="0">
                <a:solidFill>
                  <a:srgbClr val="1C2255"/>
                </a:solidFill>
                <a:latin typeface="Arial" pitchFamily="34" charset="0"/>
                <a:ea typeface="Arial" pitchFamily="34" charset="-122"/>
                <a:cs typeface="Arial" pitchFamily="34" charset="-120"/>
              </a:rPr>
              <a:t>NEELEY LAW</a:t>
            </a:r>
            <a:endParaRPr lang="en-US" sz="1150" dirty="0"/>
          </a:p>
        </p:txBody>
      </p:sp>
      <p:sp>
        <p:nvSpPr>
          <p:cNvPr id="7" name="Text 5"/>
          <p:cNvSpPr/>
          <p:nvPr/>
        </p:nvSpPr>
        <p:spPr>
          <a:xfrm>
            <a:off x="393192" y="658368"/>
            <a:ext cx="11402568" cy="667512"/>
          </a:xfrm>
          <a:prstGeom prst="rect">
            <a:avLst/>
          </a:prstGeom>
          <a:noFill/>
          <a:ln/>
        </p:spPr>
        <p:txBody>
          <a:bodyPr wrap="square" lIns="0" tIns="0" rIns="0" bIns="0" rtlCol="0" anchor="t">
            <a:normAutofit/>
          </a:bodyPr>
          <a:lstStyle/>
          <a:p>
            <a:pPr marL="0" indent="0">
              <a:buNone/>
            </a:pPr>
            <a:r>
              <a:rPr lang="en-US" sz="2650" b="1" dirty="0">
                <a:solidFill>
                  <a:srgbClr val="1C2255"/>
                </a:solidFill>
                <a:latin typeface="Arial" pitchFamily="34" charset="0"/>
                <a:ea typeface="Arial" pitchFamily="34" charset="-122"/>
                <a:cs typeface="Arial" pitchFamily="34" charset="-120"/>
              </a:rPr>
              <a:t>Less handling time can create capacity; the baseline will test it</a:t>
            </a:r>
            <a:endParaRPr lang="en-US" sz="2650" dirty="0"/>
          </a:p>
        </p:txBody>
      </p:sp>
      <p:sp>
        <p:nvSpPr>
          <p:cNvPr id="8" name="Text 6"/>
          <p:cNvSpPr/>
          <p:nvPr/>
        </p:nvSpPr>
        <p:spPr>
          <a:xfrm>
            <a:off x="393192" y="1298448"/>
            <a:ext cx="11292840" cy="274320"/>
          </a:xfrm>
          <a:prstGeom prst="rect">
            <a:avLst/>
          </a:prstGeom>
          <a:noFill/>
          <a:ln/>
        </p:spPr>
        <p:txBody>
          <a:bodyPr wrap="square" lIns="0" tIns="0" rIns="0" bIns="0" rtlCol="0" anchor="t">
            <a:normAutofit/>
          </a:bodyPr>
          <a:lstStyle/>
          <a:p>
            <a:pPr marL="0" indent="0">
              <a:buNone/>
            </a:pPr>
            <a:r>
              <a:rPr lang="en-US" sz="1380" dirty="0">
                <a:solidFill>
                  <a:srgbClr val="687B96"/>
                </a:solidFill>
                <a:latin typeface="Arial" pitchFamily="34" charset="0"/>
                <a:ea typeface="Arial" pitchFamily="34" charset="-122"/>
                <a:cs typeface="Arial" pitchFamily="34" charset="-120"/>
              </a:rPr>
              <a:t>The model below is an arithmetic illustration.</a:t>
            </a:r>
            <a:endParaRPr lang="en-US" sz="1380" dirty="0"/>
          </a:p>
        </p:txBody>
      </p:sp>
      <p:sp>
        <p:nvSpPr>
          <p:cNvPr id="9" name="Shape 7"/>
          <p:cNvSpPr/>
          <p:nvPr/>
        </p:nvSpPr>
        <p:spPr>
          <a:xfrm>
            <a:off x="393192" y="1664208"/>
            <a:ext cx="11402568" cy="0"/>
          </a:xfrm>
          <a:prstGeom prst="line">
            <a:avLst/>
          </a:prstGeom>
          <a:solidFill>
            <a:srgbClr val="FFFFFF">
              <a:alpha val="0"/>
            </a:srgbClr>
          </a:solidFill>
          <a:ln w="9525">
            <a:solidFill>
              <a:srgbClr val="CED6E6"/>
            </a:solidFill>
            <a:prstDash val="solid"/>
          </a:ln>
        </p:spPr>
        <p:txBody>
          <a:bodyPr/>
          <a:lstStyle/>
          <a:p>
            <a:endParaRPr lang="en-PK"/>
          </a:p>
        </p:txBody>
      </p:sp>
      <p:sp>
        <p:nvSpPr>
          <p:cNvPr id="10" name="Text 8"/>
          <p:cNvSpPr/>
          <p:nvPr/>
        </p:nvSpPr>
        <p:spPr>
          <a:xfrm>
            <a:off x="393192" y="6391656"/>
            <a:ext cx="11320272" cy="173736"/>
          </a:xfrm>
          <a:prstGeom prst="rect">
            <a:avLst/>
          </a:prstGeom>
          <a:noFill/>
          <a:ln/>
        </p:spPr>
        <p:txBody>
          <a:bodyPr wrap="square" lIns="0" tIns="0" rIns="0" bIns="0" rtlCol="0" anchor="t">
            <a:normAutofit fontScale="92500" lnSpcReduction="20000"/>
          </a:bodyPr>
          <a:lstStyle/>
          <a:p>
            <a:pPr marL="0" indent="0">
              <a:buNone/>
            </a:pPr>
            <a:r>
              <a:rPr lang="en-US" sz="760" dirty="0">
                <a:solidFill>
                  <a:srgbClr val="8B95AA"/>
                </a:solidFill>
                <a:latin typeface="Arial" pitchFamily="34" charset="0"/>
                <a:ea typeface="Arial" pitchFamily="34" charset="-122"/>
                <a:cs typeface="Arial" pitchFamily="34" charset="-120"/>
              </a:rPr>
              <a:t>Source: </a:t>
            </a:r>
            <a:r>
              <a:rPr lang="en-US" sz="760" dirty="0" err="1">
                <a:solidFill>
                  <a:srgbClr val="8B95AA"/>
                </a:solidFill>
                <a:latin typeface="Arial" pitchFamily="34" charset="0"/>
                <a:ea typeface="Arial" pitchFamily="34" charset="-122"/>
                <a:cs typeface="Arial" pitchFamily="34" charset="-120"/>
              </a:rPr>
              <a:t>Etere</a:t>
            </a:r>
            <a:r>
              <a:rPr lang="en-US" sz="760" dirty="0">
                <a:solidFill>
                  <a:srgbClr val="8B95AA"/>
                </a:solidFill>
                <a:latin typeface="Arial" pitchFamily="34" charset="0"/>
                <a:ea typeface="Arial" pitchFamily="34" charset="-122"/>
                <a:cs typeface="Arial" pitchFamily="34" charset="-120"/>
              </a:rPr>
              <a:t> Studio, Legal Automation Case Study| </a:t>
            </a:r>
            <a:r>
              <a:rPr lang="en-US" sz="760" dirty="0" err="1">
                <a:solidFill>
                  <a:srgbClr val="8B95AA"/>
                </a:solidFill>
                <a:latin typeface="Arial" pitchFamily="34" charset="0"/>
                <a:ea typeface="Arial" pitchFamily="34" charset="-122"/>
                <a:cs typeface="Arial" pitchFamily="34" charset="-120"/>
              </a:rPr>
              <a:t>Agentzy</a:t>
            </a:r>
            <a:r>
              <a:rPr lang="en-US" sz="760" dirty="0">
                <a:solidFill>
                  <a:srgbClr val="8B95AA"/>
                </a:solidFill>
                <a:latin typeface="Arial" pitchFamily="34" charset="0"/>
                <a:ea typeface="Arial" pitchFamily="34" charset="-122"/>
                <a:cs typeface="Arial" pitchFamily="34" charset="-120"/>
              </a:rPr>
              <a:t>, Insurance Defense Intake Case Study| </a:t>
            </a:r>
            <a:r>
              <a:rPr lang="en-US" sz="760" dirty="0" err="1">
                <a:solidFill>
                  <a:srgbClr val="8B95AA"/>
                </a:solidFill>
                <a:latin typeface="Arial" pitchFamily="34" charset="0"/>
                <a:ea typeface="Arial" pitchFamily="34" charset="-122"/>
                <a:cs typeface="Arial" pitchFamily="34" charset="-120"/>
              </a:rPr>
              <a:t>Kuhnic</a:t>
            </a:r>
            <a:r>
              <a:rPr lang="en-US" sz="760" dirty="0">
                <a:solidFill>
                  <a:srgbClr val="8B95AA"/>
                </a:solidFill>
                <a:latin typeface="Arial" pitchFamily="34" charset="0"/>
                <a:ea typeface="Arial" pitchFamily="34" charset="-122"/>
                <a:cs typeface="Arial" pitchFamily="34" charset="-120"/>
              </a:rPr>
              <a:t>, Yaniv &amp; Associates Case Study| US Tech Automations, Law Firm Client Onboarding Automation Case Study| Grove AI, Automated Document Processing — Legal Firm Case Study.</a:t>
            </a:r>
            <a:endParaRPr lang="en-US" sz="760" dirty="0"/>
          </a:p>
        </p:txBody>
      </p:sp>
      <p:sp>
        <p:nvSpPr>
          <p:cNvPr id="11" name="Shape 9"/>
          <p:cNvSpPr/>
          <p:nvPr/>
        </p:nvSpPr>
        <p:spPr>
          <a:xfrm>
            <a:off x="393192" y="6583680"/>
            <a:ext cx="11402568" cy="0"/>
          </a:xfrm>
          <a:prstGeom prst="line">
            <a:avLst/>
          </a:prstGeom>
          <a:solidFill>
            <a:srgbClr val="FFFFFF">
              <a:alpha val="0"/>
            </a:srgbClr>
          </a:solidFill>
          <a:ln w="8255">
            <a:solidFill>
              <a:srgbClr val="CED6E6"/>
            </a:solidFill>
            <a:prstDash val="solid"/>
          </a:ln>
        </p:spPr>
        <p:txBody>
          <a:bodyPr/>
          <a:lstStyle/>
          <a:p>
            <a:endParaRPr lang="en-PK"/>
          </a:p>
        </p:txBody>
      </p:sp>
      <p:sp>
        <p:nvSpPr>
          <p:cNvPr id="12" name="Text 10"/>
          <p:cNvSpPr/>
          <p:nvPr/>
        </p:nvSpPr>
        <p:spPr>
          <a:xfrm>
            <a:off x="393192" y="6647688"/>
            <a:ext cx="3017520" cy="137160"/>
          </a:xfrm>
          <a:prstGeom prst="rect">
            <a:avLst/>
          </a:prstGeom>
          <a:noFill/>
          <a:ln/>
        </p:spPr>
        <p:txBody>
          <a:bodyPr wrap="square" lIns="0" tIns="0" rIns="0" bIns="0" rtlCol="0" anchor="t">
            <a:normAutofit/>
          </a:bodyPr>
          <a:lstStyle/>
          <a:p>
            <a:pPr marL="0" indent="0">
              <a:buNone/>
            </a:pPr>
            <a:r>
              <a:rPr lang="en-US" sz="770" dirty="0">
                <a:solidFill>
                  <a:srgbClr val="8B95AA"/>
                </a:solidFill>
                <a:latin typeface="Arial" pitchFamily="34" charset="0"/>
                <a:ea typeface="Arial" pitchFamily="34" charset="-122"/>
                <a:cs typeface="Arial" pitchFamily="34" charset="-120"/>
              </a:rPr>
              <a:t>Confidential  |  Initial proposal</a:t>
            </a:r>
            <a:endParaRPr lang="en-US" sz="770" dirty="0"/>
          </a:p>
        </p:txBody>
      </p:sp>
      <p:sp>
        <p:nvSpPr>
          <p:cNvPr id="13" name="Text 11"/>
          <p:cNvSpPr/>
          <p:nvPr/>
        </p:nvSpPr>
        <p:spPr>
          <a:xfrm>
            <a:off x="3730752" y="6647688"/>
            <a:ext cx="4937760" cy="137160"/>
          </a:xfrm>
          <a:prstGeom prst="rect">
            <a:avLst/>
          </a:prstGeom>
          <a:noFill/>
          <a:ln/>
        </p:spPr>
        <p:txBody>
          <a:bodyPr wrap="square" lIns="0" tIns="0" rIns="0" bIns="0" rtlCol="0" anchor="t">
            <a:normAutofit/>
          </a:bodyPr>
          <a:lstStyle/>
          <a:p>
            <a:pPr marL="0" indent="0" algn="ctr">
              <a:buNone/>
            </a:pPr>
            <a:r>
              <a:rPr lang="en-US" sz="770" dirty="0">
                <a:solidFill>
                  <a:srgbClr val="8B95AA"/>
                </a:solidFill>
                <a:latin typeface="Arial" pitchFamily="34" charset="0"/>
                <a:ea typeface="Arial" pitchFamily="34" charset="-122"/>
                <a:cs typeface="Arial" pitchFamily="34" charset="-120"/>
              </a:rPr>
              <a:t>[Delivery Partner]  |  Company / presenter placeholder</a:t>
            </a:r>
            <a:endParaRPr lang="en-US" sz="770" dirty="0"/>
          </a:p>
        </p:txBody>
      </p:sp>
      <p:sp>
        <p:nvSpPr>
          <p:cNvPr id="14" name="Text 12"/>
          <p:cNvSpPr/>
          <p:nvPr/>
        </p:nvSpPr>
        <p:spPr>
          <a:xfrm>
            <a:off x="9811512" y="6647688"/>
            <a:ext cx="1417320" cy="137160"/>
          </a:xfrm>
          <a:prstGeom prst="rect">
            <a:avLst/>
          </a:prstGeom>
          <a:noFill/>
          <a:ln/>
        </p:spPr>
        <p:txBody>
          <a:bodyPr wrap="square" lIns="0" tIns="0" rIns="0" bIns="0" rtlCol="0" anchor="t">
            <a:normAutofit/>
          </a:bodyPr>
          <a:lstStyle/>
          <a:p>
            <a:pPr marL="0" indent="0" algn="r">
              <a:buNone/>
            </a:pPr>
            <a:r>
              <a:rPr lang="en-US" sz="770" dirty="0" smtClean="0">
                <a:solidFill>
                  <a:srgbClr val="8B95AA"/>
                </a:solidFill>
                <a:latin typeface="Arial" pitchFamily="34" charset="0"/>
                <a:ea typeface="Arial" pitchFamily="34" charset="-122"/>
                <a:cs typeface="Arial" pitchFamily="34" charset="-120"/>
              </a:rPr>
              <a:t> </a:t>
            </a:r>
            <a:r>
              <a:rPr lang="en-US" sz="770" dirty="0">
                <a:solidFill>
                  <a:srgbClr val="8B95AA"/>
                </a:solidFill>
                <a:latin typeface="Arial" pitchFamily="34" charset="0"/>
                <a:ea typeface="Arial" pitchFamily="34" charset="-122"/>
                <a:cs typeface="Arial" pitchFamily="34" charset="-120"/>
              </a:rPr>
              <a:t>September 2026</a:t>
            </a:r>
            <a:endParaRPr lang="en-US" sz="770" dirty="0"/>
          </a:p>
        </p:txBody>
      </p:sp>
      <p:sp>
        <p:nvSpPr>
          <p:cNvPr id="15" name="Shape 13"/>
          <p:cNvSpPr/>
          <p:nvPr/>
        </p:nvSpPr>
        <p:spPr>
          <a:xfrm>
            <a:off x="11430000" y="6629400"/>
            <a:ext cx="0" cy="173736"/>
          </a:xfrm>
          <a:prstGeom prst="line">
            <a:avLst/>
          </a:prstGeom>
          <a:solidFill>
            <a:srgbClr val="FFFFFF">
              <a:alpha val="0"/>
            </a:srgbClr>
          </a:solidFill>
          <a:ln w="8255">
            <a:solidFill>
              <a:srgbClr val="CED6E6"/>
            </a:solidFill>
            <a:prstDash val="solid"/>
          </a:ln>
        </p:spPr>
        <p:txBody>
          <a:bodyPr/>
          <a:lstStyle/>
          <a:p>
            <a:endParaRPr lang="en-PK"/>
          </a:p>
        </p:txBody>
      </p:sp>
      <p:sp>
        <p:nvSpPr>
          <p:cNvPr id="16" name="Text 14"/>
          <p:cNvSpPr/>
          <p:nvPr/>
        </p:nvSpPr>
        <p:spPr>
          <a:xfrm>
            <a:off x="11576304" y="6647688"/>
            <a:ext cx="219456" cy="137160"/>
          </a:xfrm>
          <a:prstGeom prst="rect">
            <a:avLst/>
          </a:prstGeom>
          <a:noFill/>
          <a:ln/>
        </p:spPr>
        <p:txBody>
          <a:bodyPr wrap="square" lIns="0" tIns="0" rIns="0" bIns="0" rtlCol="0" anchor="t">
            <a:normAutofit/>
          </a:bodyPr>
          <a:lstStyle/>
          <a:p>
            <a:pPr marL="0" indent="0" algn="r">
              <a:buNone/>
            </a:pPr>
            <a:r>
              <a:rPr lang="en-US" sz="770" dirty="0">
                <a:solidFill>
                  <a:srgbClr val="8B95AA"/>
                </a:solidFill>
                <a:latin typeface="Arial" pitchFamily="34" charset="0"/>
                <a:ea typeface="Arial" pitchFamily="34" charset="-122"/>
                <a:cs typeface="Arial" pitchFamily="34" charset="-120"/>
              </a:rPr>
              <a:t>4</a:t>
            </a:r>
            <a:endParaRPr lang="en-US" sz="770" dirty="0"/>
          </a:p>
        </p:txBody>
      </p:sp>
      <p:sp>
        <p:nvSpPr>
          <p:cNvPr id="17" name="Text 15"/>
          <p:cNvSpPr/>
          <p:nvPr/>
        </p:nvSpPr>
        <p:spPr>
          <a:xfrm>
            <a:off x="393192" y="1874520"/>
            <a:ext cx="5349240" cy="256032"/>
          </a:xfrm>
          <a:prstGeom prst="rect">
            <a:avLst/>
          </a:prstGeom>
          <a:noFill/>
          <a:ln/>
        </p:spPr>
        <p:txBody>
          <a:bodyPr wrap="square" lIns="0" tIns="0" rIns="0" bIns="0" rtlCol="0" anchor="t">
            <a:normAutofit/>
          </a:bodyPr>
          <a:lstStyle/>
          <a:p>
            <a:pPr marL="0" indent="0">
              <a:buNone/>
            </a:pPr>
            <a:r>
              <a:rPr lang="en-US" sz="1210" b="1" dirty="0">
                <a:solidFill>
                  <a:srgbClr val="1C2255"/>
                </a:solidFill>
                <a:latin typeface="Arial" pitchFamily="34" charset="0"/>
                <a:ea typeface="Arial" pitchFamily="34" charset="-122"/>
                <a:cs typeface="Arial" pitchFamily="34" charset="-120"/>
              </a:rPr>
              <a:t>ILLUSTRATIVE NEELEY LAW MODEL</a:t>
            </a:r>
            <a:endParaRPr lang="en-US" sz="1210" dirty="0"/>
          </a:p>
        </p:txBody>
      </p:sp>
      <p:sp>
        <p:nvSpPr>
          <p:cNvPr id="18" name="Text 16"/>
          <p:cNvSpPr/>
          <p:nvPr/>
        </p:nvSpPr>
        <p:spPr>
          <a:xfrm>
            <a:off x="6254496" y="1874520"/>
            <a:ext cx="5532120" cy="256032"/>
          </a:xfrm>
          <a:prstGeom prst="rect">
            <a:avLst/>
          </a:prstGeom>
          <a:noFill/>
          <a:ln/>
        </p:spPr>
        <p:txBody>
          <a:bodyPr wrap="square" lIns="0" tIns="0" rIns="0" bIns="0" rtlCol="0" anchor="t">
            <a:normAutofit/>
          </a:bodyPr>
          <a:lstStyle/>
          <a:p>
            <a:pPr marL="0" indent="0">
              <a:buNone/>
            </a:pPr>
            <a:r>
              <a:rPr lang="en-US" sz="1130" b="1" dirty="0">
                <a:solidFill>
                  <a:srgbClr val="1C2255"/>
                </a:solidFill>
                <a:latin typeface="Arial" pitchFamily="34" charset="0"/>
                <a:ea typeface="Arial" pitchFamily="34" charset="-122"/>
                <a:cs typeface="Arial" pitchFamily="34" charset="-120"/>
              </a:rPr>
              <a:t>FIVE BENCHMARKS REPORTED IN THE PROPOSAL</a:t>
            </a:r>
            <a:endParaRPr lang="en-US" sz="1130" dirty="0"/>
          </a:p>
        </p:txBody>
      </p:sp>
      <p:sp>
        <p:nvSpPr>
          <p:cNvPr id="19" name="Shape 17"/>
          <p:cNvSpPr/>
          <p:nvPr/>
        </p:nvSpPr>
        <p:spPr>
          <a:xfrm>
            <a:off x="5925312" y="1874520"/>
            <a:ext cx="0" cy="4270248"/>
          </a:xfrm>
          <a:prstGeom prst="line">
            <a:avLst/>
          </a:prstGeom>
          <a:solidFill>
            <a:srgbClr val="FFFFFF">
              <a:alpha val="0"/>
            </a:srgbClr>
          </a:solidFill>
          <a:ln w="10160">
            <a:solidFill>
              <a:srgbClr val="CED6E6"/>
            </a:solidFill>
            <a:prstDash val="solid"/>
          </a:ln>
        </p:spPr>
        <p:txBody>
          <a:bodyPr/>
          <a:lstStyle/>
          <a:p>
            <a:endParaRPr lang="en-PK"/>
          </a:p>
        </p:txBody>
      </p:sp>
      <p:sp>
        <p:nvSpPr>
          <p:cNvPr id="20" name="Shape 18"/>
          <p:cNvSpPr/>
          <p:nvPr/>
        </p:nvSpPr>
        <p:spPr>
          <a:xfrm>
            <a:off x="393192" y="2258568"/>
            <a:ext cx="2624328" cy="237744"/>
          </a:xfrm>
          <a:prstGeom prst="roundRect">
            <a:avLst>
              <a:gd name="adj" fmla="val 30769"/>
            </a:avLst>
          </a:prstGeom>
          <a:solidFill>
            <a:srgbClr val="E9F0FB"/>
          </a:solidFill>
          <a:ln w="12700">
            <a:solidFill>
              <a:srgbClr val="E9F0FB">
                <a:alpha val="0"/>
              </a:srgbClr>
            </a:solidFill>
            <a:prstDash val="solid"/>
          </a:ln>
        </p:spPr>
        <p:txBody>
          <a:bodyPr/>
          <a:lstStyle/>
          <a:p>
            <a:endParaRPr lang="en-PK"/>
          </a:p>
        </p:txBody>
      </p:sp>
      <p:sp>
        <p:nvSpPr>
          <p:cNvPr id="21" name="Text 19"/>
          <p:cNvSpPr/>
          <p:nvPr/>
        </p:nvSpPr>
        <p:spPr>
          <a:xfrm>
            <a:off x="448056" y="2281428"/>
            <a:ext cx="2514600" cy="173736"/>
          </a:xfrm>
          <a:prstGeom prst="rect">
            <a:avLst/>
          </a:prstGeom>
          <a:noFill/>
          <a:ln/>
        </p:spPr>
        <p:txBody>
          <a:bodyPr wrap="square" lIns="0" tIns="0" rIns="0" bIns="0" rtlCol="0" anchor="t">
            <a:normAutofit/>
          </a:bodyPr>
          <a:lstStyle/>
          <a:p>
            <a:pPr marL="0" indent="0" algn="ctr">
              <a:buNone/>
            </a:pPr>
            <a:r>
              <a:rPr lang="en-US" sz="1100" b="1" dirty="0">
                <a:solidFill>
                  <a:srgbClr val="364BAD"/>
                </a:solidFill>
                <a:latin typeface="Arial" pitchFamily="34" charset="0"/>
                <a:ea typeface="Arial" pitchFamily="34" charset="-122"/>
                <a:cs typeface="Arial" pitchFamily="34" charset="-120"/>
              </a:rPr>
              <a:t>1,000 documents / month</a:t>
            </a:r>
            <a:endParaRPr lang="en-US" sz="1100" dirty="0"/>
          </a:p>
        </p:txBody>
      </p:sp>
      <p:sp>
        <p:nvSpPr>
          <p:cNvPr id="22" name="Text 20"/>
          <p:cNvSpPr/>
          <p:nvPr/>
        </p:nvSpPr>
        <p:spPr>
          <a:xfrm>
            <a:off x="393192" y="2706624"/>
            <a:ext cx="5212080" cy="256032"/>
          </a:xfrm>
          <a:prstGeom prst="rect">
            <a:avLst/>
          </a:prstGeom>
          <a:noFill/>
          <a:ln/>
        </p:spPr>
        <p:txBody>
          <a:bodyPr wrap="square" lIns="0" tIns="0" rIns="0" bIns="0" rtlCol="0" anchor="t">
            <a:normAutofit/>
          </a:bodyPr>
          <a:lstStyle/>
          <a:p>
            <a:pPr marL="0" indent="0">
              <a:buNone/>
            </a:pPr>
            <a:r>
              <a:rPr lang="en-US" sz="1300" b="1" dirty="0">
                <a:solidFill>
                  <a:srgbClr val="1C2255"/>
                </a:solidFill>
                <a:latin typeface="Arial" pitchFamily="34" charset="0"/>
                <a:ea typeface="Arial" pitchFamily="34" charset="-122"/>
                <a:cs typeface="Arial" pitchFamily="34" charset="-120"/>
              </a:rPr>
              <a:t>Assumed staff time: 10 → 2 minutes per document</a:t>
            </a:r>
            <a:endParaRPr lang="en-US" sz="1300" dirty="0"/>
          </a:p>
        </p:txBody>
      </p:sp>
      <p:sp>
        <p:nvSpPr>
          <p:cNvPr id="23" name="Text 21"/>
          <p:cNvSpPr/>
          <p:nvPr/>
        </p:nvSpPr>
        <p:spPr>
          <a:xfrm>
            <a:off x="393192" y="3063240"/>
            <a:ext cx="5285232" cy="201168"/>
          </a:xfrm>
          <a:prstGeom prst="rect">
            <a:avLst/>
          </a:prstGeom>
          <a:noFill/>
          <a:ln/>
        </p:spPr>
        <p:txBody>
          <a:bodyPr wrap="square" lIns="0" tIns="0" rIns="0" bIns="0" rtlCol="0" anchor="t">
            <a:normAutofit/>
          </a:bodyPr>
          <a:lstStyle/>
          <a:p>
            <a:pPr marL="0" indent="0">
              <a:buNone/>
            </a:pPr>
            <a:r>
              <a:rPr lang="en-US" sz="1060" dirty="0">
                <a:solidFill>
                  <a:srgbClr val="687B96"/>
                </a:solidFill>
                <a:latin typeface="Arial" pitchFamily="34" charset="0"/>
                <a:ea typeface="Arial" pitchFamily="34" charset="-122"/>
                <a:cs typeface="Arial" pitchFamily="34" charset="-120"/>
              </a:rPr>
              <a:t>Staff hours per month (rounded in the source)</a:t>
            </a:r>
            <a:endParaRPr lang="en-US" sz="1060" dirty="0"/>
          </a:p>
        </p:txBody>
      </p:sp>
      <p:graphicFrame>
        <p:nvGraphicFramePr>
          <p:cNvPr id="24" name="Chart 0" descr="Illustrative staff hours per month: manual scenario 167 hours, automated scenario 33 hours. Rounded figures from the source proposal; assumes 1000 documents per month and 10 versus 2 minutes per document."/>
          <p:cNvGraphicFramePr/>
          <p:nvPr/>
        </p:nvGraphicFramePr>
        <p:xfrm>
          <a:off x="429768" y="3310128"/>
          <a:ext cx="5148072" cy="1463040"/>
        </p:xfrm>
        <a:graphic>
          <a:graphicData uri="http://schemas.openxmlformats.org/drawingml/2006/chart">
            <c:chart xmlns:c="http://schemas.openxmlformats.org/drawingml/2006/chart" xmlns:r="http://schemas.openxmlformats.org/officeDocument/2006/relationships" r:id="rId3"/>
          </a:graphicData>
        </a:graphic>
      </p:graphicFrame>
      <p:sp>
        <p:nvSpPr>
          <p:cNvPr id="25" name="Shape 22"/>
          <p:cNvSpPr/>
          <p:nvPr/>
        </p:nvSpPr>
        <p:spPr>
          <a:xfrm>
            <a:off x="393192" y="4965192"/>
            <a:ext cx="2487168" cy="768096"/>
          </a:xfrm>
          <a:prstGeom prst="roundRect">
            <a:avLst>
              <a:gd name="adj" fmla="val 9524"/>
            </a:avLst>
          </a:prstGeom>
          <a:solidFill>
            <a:srgbClr val="E9F0FB"/>
          </a:solidFill>
          <a:ln w="12700">
            <a:solidFill>
              <a:srgbClr val="E9F0FB">
                <a:alpha val="0"/>
              </a:srgbClr>
            </a:solidFill>
            <a:prstDash val="solid"/>
          </a:ln>
        </p:spPr>
        <p:txBody>
          <a:bodyPr/>
          <a:lstStyle/>
          <a:p>
            <a:endParaRPr lang="en-PK"/>
          </a:p>
        </p:txBody>
      </p:sp>
      <p:sp>
        <p:nvSpPr>
          <p:cNvPr id="26" name="Text 23"/>
          <p:cNvSpPr/>
          <p:nvPr/>
        </p:nvSpPr>
        <p:spPr>
          <a:xfrm>
            <a:off x="530352" y="5093208"/>
            <a:ext cx="1124712" cy="384048"/>
          </a:xfrm>
          <a:prstGeom prst="rect">
            <a:avLst/>
          </a:prstGeom>
          <a:noFill/>
          <a:ln/>
        </p:spPr>
        <p:txBody>
          <a:bodyPr wrap="square" lIns="0" tIns="0" rIns="0" bIns="0" rtlCol="0" anchor="t">
            <a:normAutofit lnSpcReduction="10000"/>
          </a:bodyPr>
          <a:lstStyle/>
          <a:p>
            <a:pPr marL="0" indent="0">
              <a:buNone/>
            </a:pPr>
            <a:r>
              <a:rPr lang="en-US" sz="2800" b="1" dirty="0">
                <a:solidFill>
                  <a:srgbClr val="1C2255"/>
                </a:solidFill>
                <a:latin typeface="Arial" pitchFamily="34" charset="0"/>
                <a:ea typeface="Arial" pitchFamily="34" charset="-122"/>
                <a:cs typeface="Arial" pitchFamily="34" charset="-120"/>
              </a:rPr>
              <a:t>~134</a:t>
            </a:r>
            <a:endParaRPr lang="en-US" sz="2800" dirty="0"/>
          </a:p>
        </p:txBody>
      </p:sp>
      <p:sp>
        <p:nvSpPr>
          <p:cNvPr id="27" name="Text 24"/>
          <p:cNvSpPr/>
          <p:nvPr/>
        </p:nvSpPr>
        <p:spPr>
          <a:xfrm>
            <a:off x="1709928" y="5120640"/>
            <a:ext cx="996696" cy="429768"/>
          </a:xfrm>
          <a:prstGeom prst="rect">
            <a:avLst/>
          </a:prstGeom>
          <a:noFill/>
          <a:ln/>
        </p:spPr>
        <p:txBody>
          <a:bodyPr wrap="square" lIns="0" tIns="0" rIns="0" bIns="0" rtlCol="0" anchor="t">
            <a:normAutofit/>
          </a:bodyPr>
          <a:lstStyle/>
          <a:p>
            <a:pPr marL="0" indent="0">
              <a:buNone/>
            </a:pPr>
            <a:r>
              <a:rPr lang="en-US" sz="1130" b="1" dirty="0">
                <a:solidFill>
                  <a:srgbClr val="1C2255"/>
                </a:solidFill>
                <a:latin typeface="Arial" pitchFamily="34" charset="0"/>
                <a:ea typeface="Arial" pitchFamily="34" charset="-122"/>
                <a:cs typeface="Arial" pitchFamily="34" charset="-120"/>
              </a:rPr>
              <a:t>hours / month</a:t>
            </a:r>
            <a:endParaRPr lang="en-US" sz="1130" dirty="0"/>
          </a:p>
          <a:p>
            <a:pPr marL="0" indent="0">
              <a:buNone/>
            </a:pPr>
            <a:r>
              <a:rPr lang="en-US" sz="1130" b="1" dirty="0">
                <a:solidFill>
                  <a:srgbClr val="1C2255"/>
                </a:solidFill>
                <a:latin typeface="Arial" pitchFamily="34" charset="0"/>
                <a:ea typeface="Arial" pitchFamily="34" charset="-122"/>
                <a:cs typeface="Arial" pitchFamily="34" charset="-120"/>
              </a:rPr>
              <a:t>reclaimed*</a:t>
            </a:r>
            <a:endParaRPr lang="en-US" sz="1130" dirty="0"/>
          </a:p>
        </p:txBody>
      </p:sp>
      <p:sp>
        <p:nvSpPr>
          <p:cNvPr id="28" name="Shape 25"/>
          <p:cNvSpPr/>
          <p:nvPr/>
        </p:nvSpPr>
        <p:spPr>
          <a:xfrm>
            <a:off x="3054096" y="4965192"/>
            <a:ext cx="2487168" cy="768096"/>
          </a:xfrm>
          <a:prstGeom prst="roundRect">
            <a:avLst>
              <a:gd name="adj" fmla="val 9524"/>
            </a:avLst>
          </a:prstGeom>
          <a:solidFill>
            <a:srgbClr val="EAF5FC"/>
          </a:solidFill>
          <a:ln w="12700">
            <a:solidFill>
              <a:srgbClr val="EAF5FC">
                <a:alpha val="0"/>
              </a:srgbClr>
            </a:solidFill>
            <a:prstDash val="solid"/>
          </a:ln>
        </p:spPr>
        <p:txBody>
          <a:bodyPr/>
          <a:lstStyle/>
          <a:p>
            <a:endParaRPr lang="en-PK"/>
          </a:p>
        </p:txBody>
      </p:sp>
      <p:sp>
        <p:nvSpPr>
          <p:cNvPr id="29" name="Text 26"/>
          <p:cNvSpPr/>
          <p:nvPr/>
        </p:nvSpPr>
        <p:spPr>
          <a:xfrm>
            <a:off x="3191256" y="5093208"/>
            <a:ext cx="1353312" cy="384048"/>
          </a:xfrm>
          <a:prstGeom prst="rect">
            <a:avLst/>
          </a:prstGeom>
          <a:noFill/>
          <a:ln/>
        </p:spPr>
        <p:txBody>
          <a:bodyPr wrap="square" lIns="0" tIns="0" rIns="0" bIns="0" rtlCol="0" anchor="t">
            <a:normAutofit lnSpcReduction="10000"/>
          </a:bodyPr>
          <a:lstStyle/>
          <a:p>
            <a:pPr marL="0" indent="0">
              <a:buNone/>
            </a:pPr>
            <a:r>
              <a:rPr lang="en-US" sz="2700" b="1" dirty="0">
                <a:solidFill>
                  <a:srgbClr val="364BAD"/>
                </a:solidFill>
                <a:latin typeface="Arial" pitchFamily="34" charset="0"/>
                <a:ea typeface="Arial" pitchFamily="34" charset="-122"/>
                <a:cs typeface="Arial" pitchFamily="34" charset="-120"/>
              </a:rPr>
              <a:t>~1,608</a:t>
            </a:r>
            <a:endParaRPr lang="en-US" sz="2700" dirty="0"/>
          </a:p>
        </p:txBody>
      </p:sp>
      <p:sp>
        <p:nvSpPr>
          <p:cNvPr id="30" name="Text 27"/>
          <p:cNvSpPr/>
          <p:nvPr/>
        </p:nvSpPr>
        <p:spPr>
          <a:xfrm>
            <a:off x="4553712" y="5120640"/>
            <a:ext cx="868680" cy="429768"/>
          </a:xfrm>
          <a:prstGeom prst="rect">
            <a:avLst/>
          </a:prstGeom>
          <a:noFill/>
          <a:ln/>
        </p:spPr>
        <p:txBody>
          <a:bodyPr wrap="square" lIns="0" tIns="0" rIns="0" bIns="0" rtlCol="0" anchor="t">
            <a:normAutofit/>
          </a:bodyPr>
          <a:lstStyle/>
          <a:p>
            <a:pPr marL="0" indent="0">
              <a:buNone/>
            </a:pPr>
            <a:r>
              <a:rPr lang="en-US" sz="1080" b="1" dirty="0">
                <a:solidFill>
                  <a:srgbClr val="1C2255"/>
                </a:solidFill>
                <a:latin typeface="Arial" pitchFamily="34" charset="0"/>
                <a:ea typeface="Arial" pitchFamily="34" charset="-122"/>
                <a:cs typeface="Arial" pitchFamily="34" charset="-120"/>
              </a:rPr>
              <a:t>hours / year</a:t>
            </a:r>
            <a:endParaRPr lang="en-US" sz="1080" dirty="0"/>
          </a:p>
          <a:p>
            <a:pPr marL="0" indent="0">
              <a:buNone/>
            </a:pPr>
            <a:r>
              <a:rPr lang="en-US" sz="1080" b="1" dirty="0">
                <a:solidFill>
                  <a:srgbClr val="1C2255"/>
                </a:solidFill>
                <a:latin typeface="Arial" pitchFamily="34" charset="0"/>
                <a:ea typeface="Arial" pitchFamily="34" charset="-122"/>
                <a:cs typeface="Arial" pitchFamily="34" charset="-120"/>
              </a:rPr>
              <a:t>reclaimed*</a:t>
            </a:r>
            <a:endParaRPr lang="en-US" sz="1080" dirty="0"/>
          </a:p>
        </p:txBody>
      </p:sp>
      <p:sp>
        <p:nvSpPr>
          <p:cNvPr id="31" name="Text 28"/>
          <p:cNvSpPr/>
          <p:nvPr/>
        </p:nvSpPr>
        <p:spPr>
          <a:xfrm>
            <a:off x="393192" y="5879592"/>
            <a:ext cx="5239512" cy="365760"/>
          </a:xfrm>
          <a:prstGeom prst="rect">
            <a:avLst/>
          </a:prstGeom>
          <a:noFill/>
          <a:ln/>
        </p:spPr>
        <p:txBody>
          <a:bodyPr wrap="square" lIns="0" tIns="0" rIns="0" bIns="0" rtlCol="0" anchor="t">
            <a:normAutofit/>
          </a:bodyPr>
          <a:lstStyle/>
          <a:p>
            <a:pPr marL="0" indent="0">
              <a:buNone/>
            </a:pPr>
            <a:r>
              <a:rPr lang="en-US" sz="930" dirty="0">
                <a:solidFill>
                  <a:srgbClr val="687B96"/>
                </a:solidFill>
                <a:latin typeface="Arial" pitchFamily="34" charset="0"/>
                <a:ea typeface="Arial" pitchFamily="34" charset="-122"/>
                <a:cs typeface="Arial" pitchFamily="34" charset="-120"/>
              </a:rPr>
              <a:t>Source rounding: 167 − 33 = 134 hours/month; 134 × 12 = 1,608 hours/year. Capacity only; financial return is not quantified.</a:t>
            </a:r>
            <a:endParaRPr lang="en-US" sz="930" dirty="0"/>
          </a:p>
        </p:txBody>
      </p:sp>
      <p:sp>
        <p:nvSpPr>
          <p:cNvPr id="32" name="Shape 29"/>
          <p:cNvSpPr/>
          <p:nvPr/>
        </p:nvSpPr>
        <p:spPr>
          <a:xfrm>
            <a:off x="6254496" y="2276856"/>
            <a:ext cx="5541264" cy="521208"/>
          </a:xfrm>
          <a:prstGeom prst="roundRect">
            <a:avLst>
              <a:gd name="adj" fmla="val 14035"/>
            </a:avLst>
          </a:prstGeom>
          <a:solidFill>
            <a:srgbClr val="F2F5FA"/>
          </a:solidFill>
          <a:ln w="12700">
            <a:solidFill>
              <a:srgbClr val="F2F5FA">
                <a:alpha val="0"/>
              </a:srgbClr>
            </a:solidFill>
            <a:prstDash val="solid"/>
          </a:ln>
        </p:spPr>
        <p:txBody>
          <a:bodyPr/>
          <a:lstStyle/>
          <a:p>
            <a:endParaRPr lang="en-PK"/>
          </a:p>
        </p:txBody>
      </p:sp>
      <p:sp>
        <p:nvSpPr>
          <p:cNvPr id="33" name="Shape 30"/>
          <p:cNvSpPr/>
          <p:nvPr/>
        </p:nvSpPr>
        <p:spPr>
          <a:xfrm>
            <a:off x="6254496" y="2276856"/>
            <a:ext cx="59436" cy="521208"/>
          </a:xfrm>
          <a:prstGeom prst="rect">
            <a:avLst/>
          </a:prstGeom>
          <a:solidFill>
            <a:srgbClr val="1C2255"/>
          </a:solidFill>
          <a:ln w="12700">
            <a:solidFill>
              <a:srgbClr val="1C2255">
                <a:alpha val="0"/>
              </a:srgbClr>
            </a:solidFill>
            <a:prstDash val="solid"/>
          </a:ln>
        </p:spPr>
        <p:txBody>
          <a:bodyPr/>
          <a:lstStyle/>
          <a:p>
            <a:endParaRPr lang="en-PK"/>
          </a:p>
        </p:txBody>
      </p:sp>
      <p:sp>
        <p:nvSpPr>
          <p:cNvPr id="34" name="Text 31"/>
          <p:cNvSpPr/>
          <p:nvPr/>
        </p:nvSpPr>
        <p:spPr>
          <a:xfrm>
            <a:off x="6419088" y="2377440"/>
            <a:ext cx="932688" cy="320040"/>
          </a:xfrm>
          <a:prstGeom prst="rect">
            <a:avLst/>
          </a:prstGeom>
          <a:noFill/>
          <a:ln/>
        </p:spPr>
        <p:txBody>
          <a:bodyPr wrap="square" lIns="0" tIns="0" rIns="0" bIns="0" rtlCol="0" anchor="t">
            <a:normAutofit fontScale="92500" lnSpcReduction="10000"/>
          </a:bodyPr>
          <a:lstStyle/>
          <a:p>
            <a:pPr marL="0" indent="0">
              <a:buNone/>
            </a:pPr>
            <a:r>
              <a:rPr lang="en-US" sz="2400" b="1" dirty="0">
                <a:solidFill>
                  <a:srgbClr val="364BAD"/>
                </a:solidFill>
                <a:latin typeface="Arial" pitchFamily="34" charset="0"/>
                <a:ea typeface="Arial" pitchFamily="34" charset="-122"/>
                <a:cs typeface="Arial" pitchFamily="34" charset="-120"/>
              </a:rPr>
              <a:t>73%</a:t>
            </a:r>
            <a:endParaRPr lang="en-US" sz="2400" dirty="0"/>
          </a:p>
        </p:txBody>
      </p:sp>
      <p:sp>
        <p:nvSpPr>
          <p:cNvPr id="35" name="Text 32"/>
          <p:cNvSpPr/>
          <p:nvPr/>
        </p:nvSpPr>
        <p:spPr>
          <a:xfrm>
            <a:off x="7525512" y="2359152"/>
            <a:ext cx="4050792" cy="201168"/>
          </a:xfrm>
          <a:prstGeom prst="rect">
            <a:avLst/>
          </a:prstGeom>
          <a:noFill/>
          <a:ln/>
        </p:spPr>
        <p:txBody>
          <a:bodyPr wrap="square" lIns="0" tIns="0" rIns="0" bIns="0" rtlCol="0" anchor="t">
            <a:normAutofit/>
          </a:bodyPr>
          <a:lstStyle/>
          <a:p>
            <a:pPr marL="0" indent="0">
              <a:buNone/>
            </a:pPr>
            <a:r>
              <a:rPr lang="en-US" sz="1260" b="1" dirty="0">
                <a:solidFill>
                  <a:srgbClr val="1C2255"/>
                </a:solidFill>
                <a:latin typeface="Arial" pitchFamily="34" charset="0"/>
                <a:ea typeface="Arial" pitchFamily="34" charset="-122"/>
                <a:cs typeface="Arial" pitchFamily="34" charset="-120"/>
              </a:rPr>
              <a:t>Etere Studio case</a:t>
            </a:r>
            <a:endParaRPr lang="en-US" sz="1260" dirty="0"/>
          </a:p>
        </p:txBody>
      </p:sp>
      <p:sp>
        <p:nvSpPr>
          <p:cNvPr id="36" name="Text 33"/>
          <p:cNvSpPr/>
          <p:nvPr/>
        </p:nvSpPr>
        <p:spPr>
          <a:xfrm>
            <a:off x="7525512" y="2596896"/>
            <a:ext cx="4050792" cy="164592"/>
          </a:xfrm>
          <a:prstGeom prst="rect">
            <a:avLst/>
          </a:prstGeom>
          <a:noFill/>
          <a:ln/>
        </p:spPr>
        <p:txBody>
          <a:bodyPr wrap="square" lIns="0" tIns="0" rIns="0" bIns="0" rtlCol="0" anchor="t">
            <a:normAutofit/>
          </a:bodyPr>
          <a:lstStyle/>
          <a:p>
            <a:pPr marL="0" indent="0">
              <a:buNone/>
            </a:pPr>
            <a:r>
              <a:rPr lang="en-US" sz="1040" dirty="0">
                <a:solidFill>
                  <a:srgbClr val="687B96"/>
                </a:solidFill>
                <a:latin typeface="Arial" pitchFamily="34" charset="0"/>
                <a:ea typeface="Arial" pitchFamily="34" charset="-122"/>
                <a:cs typeface="Arial" pitchFamily="34" charset="-120"/>
              </a:rPr>
              <a:t>Document-processing time reduction</a:t>
            </a:r>
            <a:endParaRPr lang="en-US" sz="1040" dirty="0"/>
          </a:p>
        </p:txBody>
      </p:sp>
      <p:sp>
        <p:nvSpPr>
          <p:cNvPr id="37" name="Shape 34"/>
          <p:cNvSpPr/>
          <p:nvPr/>
        </p:nvSpPr>
        <p:spPr>
          <a:xfrm>
            <a:off x="6254496" y="2898648"/>
            <a:ext cx="5541264" cy="521208"/>
          </a:xfrm>
          <a:prstGeom prst="roundRect">
            <a:avLst>
              <a:gd name="adj" fmla="val 14035"/>
            </a:avLst>
          </a:prstGeom>
          <a:solidFill>
            <a:srgbClr val="FFFFFF"/>
          </a:solidFill>
          <a:ln w="12700">
            <a:solidFill>
              <a:srgbClr val="FFFFFF">
                <a:alpha val="0"/>
              </a:srgbClr>
            </a:solidFill>
            <a:prstDash val="solid"/>
          </a:ln>
        </p:spPr>
        <p:txBody>
          <a:bodyPr/>
          <a:lstStyle/>
          <a:p>
            <a:endParaRPr lang="en-PK"/>
          </a:p>
        </p:txBody>
      </p:sp>
      <p:sp>
        <p:nvSpPr>
          <p:cNvPr id="38" name="Shape 35"/>
          <p:cNvSpPr/>
          <p:nvPr/>
        </p:nvSpPr>
        <p:spPr>
          <a:xfrm>
            <a:off x="6254496" y="2898648"/>
            <a:ext cx="59436" cy="521208"/>
          </a:xfrm>
          <a:prstGeom prst="rect">
            <a:avLst/>
          </a:prstGeom>
          <a:solidFill>
            <a:srgbClr val="364BAD"/>
          </a:solidFill>
          <a:ln w="12700">
            <a:solidFill>
              <a:srgbClr val="364BAD">
                <a:alpha val="0"/>
              </a:srgbClr>
            </a:solidFill>
            <a:prstDash val="solid"/>
          </a:ln>
        </p:spPr>
        <p:txBody>
          <a:bodyPr/>
          <a:lstStyle/>
          <a:p>
            <a:endParaRPr lang="en-PK"/>
          </a:p>
        </p:txBody>
      </p:sp>
      <p:sp>
        <p:nvSpPr>
          <p:cNvPr id="39" name="Text 36"/>
          <p:cNvSpPr/>
          <p:nvPr/>
        </p:nvSpPr>
        <p:spPr>
          <a:xfrm>
            <a:off x="6419088" y="2999232"/>
            <a:ext cx="932688" cy="320040"/>
          </a:xfrm>
          <a:prstGeom prst="rect">
            <a:avLst/>
          </a:prstGeom>
          <a:noFill/>
          <a:ln/>
        </p:spPr>
        <p:txBody>
          <a:bodyPr wrap="square" lIns="0" tIns="0" rIns="0" bIns="0" rtlCol="0" anchor="t">
            <a:normAutofit fontScale="92500" lnSpcReduction="10000"/>
          </a:bodyPr>
          <a:lstStyle/>
          <a:p>
            <a:pPr marL="0" indent="0">
              <a:buNone/>
            </a:pPr>
            <a:r>
              <a:rPr lang="en-US" sz="2400" b="1" dirty="0">
                <a:solidFill>
                  <a:srgbClr val="364BAD"/>
                </a:solidFill>
                <a:latin typeface="Arial" pitchFamily="34" charset="0"/>
                <a:ea typeface="Arial" pitchFamily="34" charset="-122"/>
                <a:cs typeface="Arial" pitchFamily="34" charset="-120"/>
              </a:rPr>
              <a:t>96%</a:t>
            </a:r>
            <a:endParaRPr lang="en-US" sz="2400" dirty="0"/>
          </a:p>
        </p:txBody>
      </p:sp>
      <p:sp>
        <p:nvSpPr>
          <p:cNvPr id="40" name="Text 37"/>
          <p:cNvSpPr/>
          <p:nvPr/>
        </p:nvSpPr>
        <p:spPr>
          <a:xfrm>
            <a:off x="7525512" y="2980944"/>
            <a:ext cx="4050792" cy="201168"/>
          </a:xfrm>
          <a:prstGeom prst="rect">
            <a:avLst/>
          </a:prstGeom>
          <a:noFill/>
          <a:ln/>
        </p:spPr>
        <p:txBody>
          <a:bodyPr wrap="square" lIns="0" tIns="0" rIns="0" bIns="0" rtlCol="0" anchor="t">
            <a:normAutofit/>
          </a:bodyPr>
          <a:lstStyle/>
          <a:p>
            <a:pPr marL="0" indent="0">
              <a:buNone/>
            </a:pPr>
            <a:r>
              <a:rPr lang="en-US" sz="1260" b="1" dirty="0">
                <a:solidFill>
                  <a:srgbClr val="1C2255"/>
                </a:solidFill>
                <a:latin typeface="Arial" pitchFamily="34" charset="0"/>
                <a:ea typeface="Arial" pitchFamily="34" charset="-122"/>
                <a:cs typeface="Arial" pitchFamily="34" charset="-120"/>
              </a:rPr>
              <a:t>Agentzy case</a:t>
            </a:r>
            <a:endParaRPr lang="en-US" sz="1260" dirty="0"/>
          </a:p>
        </p:txBody>
      </p:sp>
      <p:sp>
        <p:nvSpPr>
          <p:cNvPr id="41" name="Text 38"/>
          <p:cNvSpPr/>
          <p:nvPr/>
        </p:nvSpPr>
        <p:spPr>
          <a:xfrm>
            <a:off x="7525512" y="3218688"/>
            <a:ext cx="4050792" cy="164592"/>
          </a:xfrm>
          <a:prstGeom prst="rect">
            <a:avLst/>
          </a:prstGeom>
          <a:noFill/>
          <a:ln/>
        </p:spPr>
        <p:txBody>
          <a:bodyPr wrap="square" lIns="0" tIns="0" rIns="0" bIns="0" rtlCol="0" anchor="t">
            <a:normAutofit/>
          </a:bodyPr>
          <a:lstStyle/>
          <a:p>
            <a:pPr marL="0" indent="0">
              <a:buNone/>
            </a:pPr>
            <a:r>
              <a:rPr lang="en-US" sz="1040" dirty="0">
                <a:solidFill>
                  <a:srgbClr val="687B96"/>
                </a:solidFill>
                <a:latin typeface="Arial" pitchFamily="34" charset="0"/>
                <a:ea typeface="Arial" pitchFamily="34" charset="-122"/>
                <a:cs typeface="Arial" pitchFamily="34" charset="-120"/>
              </a:rPr>
              <a:t>Legal-intake processing-time reduction</a:t>
            </a:r>
            <a:endParaRPr lang="en-US" sz="1040" dirty="0"/>
          </a:p>
        </p:txBody>
      </p:sp>
      <p:sp>
        <p:nvSpPr>
          <p:cNvPr id="42" name="Shape 39"/>
          <p:cNvSpPr/>
          <p:nvPr/>
        </p:nvSpPr>
        <p:spPr>
          <a:xfrm>
            <a:off x="6254496" y="3520440"/>
            <a:ext cx="5541264" cy="521208"/>
          </a:xfrm>
          <a:prstGeom prst="roundRect">
            <a:avLst>
              <a:gd name="adj" fmla="val 14035"/>
            </a:avLst>
          </a:prstGeom>
          <a:solidFill>
            <a:srgbClr val="F2F5FA"/>
          </a:solidFill>
          <a:ln w="12700">
            <a:solidFill>
              <a:srgbClr val="F2F5FA">
                <a:alpha val="0"/>
              </a:srgbClr>
            </a:solidFill>
            <a:prstDash val="solid"/>
          </a:ln>
        </p:spPr>
        <p:txBody>
          <a:bodyPr/>
          <a:lstStyle/>
          <a:p>
            <a:endParaRPr lang="en-PK"/>
          </a:p>
        </p:txBody>
      </p:sp>
      <p:sp>
        <p:nvSpPr>
          <p:cNvPr id="43" name="Shape 40"/>
          <p:cNvSpPr/>
          <p:nvPr/>
        </p:nvSpPr>
        <p:spPr>
          <a:xfrm>
            <a:off x="6254496" y="3520440"/>
            <a:ext cx="59436" cy="521208"/>
          </a:xfrm>
          <a:prstGeom prst="rect">
            <a:avLst/>
          </a:prstGeom>
          <a:solidFill>
            <a:srgbClr val="7183D9"/>
          </a:solidFill>
          <a:ln w="12700">
            <a:solidFill>
              <a:srgbClr val="7183D9">
                <a:alpha val="0"/>
              </a:srgbClr>
            </a:solidFill>
            <a:prstDash val="solid"/>
          </a:ln>
        </p:spPr>
        <p:txBody>
          <a:bodyPr/>
          <a:lstStyle/>
          <a:p>
            <a:endParaRPr lang="en-PK"/>
          </a:p>
        </p:txBody>
      </p:sp>
      <p:sp>
        <p:nvSpPr>
          <p:cNvPr id="44" name="Text 41"/>
          <p:cNvSpPr/>
          <p:nvPr/>
        </p:nvSpPr>
        <p:spPr>
          <a:xfrm>
            <a:off x="6419088" y="3621024"/>
            <a:ext cx="932688" cy="320040"/>
          </a:xfrm>
          <a:prstGeom prst="rect">
            <a:avLst/>
          </a:prstGeom>
          <a:noFill/>
          <a:ln/>
        </p:spPr>
        <p:txBody>
          <a:bodyPr wrap="square" lIns="0" tIns="0" rIns="0" bIns="0" rtlCol="0" anchor="t">
            <a:normAutofit fontScale="92500" lnSpcReduction="10000"/>
          </a:bodyPr>
          <a:lstStyle/>
          <a:p>
            <a:pPr marL="0" indent="0">
              <a:buNone/>
            </a:pPr>
            <a:r>
              <a:rPr lang="en-US" sz="2400" b="1" dirty="0">
                <a:solidFill>
                  <a:srgbClr val="364BAD"/>
                </a:solidFill>
                <a:latin typeface="Arial" pitchFamily="34" charset="0"/>
                <a:ea typeface="Arial" pitchFamily="34" charset="-122"/>
                <a:cs typeface="Arial" pitchFamily="34" charset="-120"/>
              </a:rPr>
              <a:t>90%</a:t>
            </a:r>
            <a:endParaRPr lang="en-US" sz="2400" dirty="0"/>
          </a:p>
        </p:txBody>
      </p:sp>
      <p:sp>
        <p:nvSpPr>
          <p:cNvPr id="45" name="Text 42"/>
          <p:cNvSpPr/>
          <p:nvPr/>
        </p:nvSpPr>
        <p:spPr>
          <a:xfrm>
            <a:off x="7525512" y="3602736"/>
            <a:ext cx="4050792" cy="201168"/>
          </a:xfrm>
          <a:prstGeom prst="rect">
            <a:avLst/>
          </a:prstGeom>
          <a:noFill/>
          <a:ln/>
        </p:spPr>
        <p:txBody>
          <a:bodyPr wrap="square" lIns="0" tIns="0" rIns="0" bIns="0" rtlCol="0" anchor="t">
            <a:normAutofit/>
          </a:bodyPr>
          <a:lstStyle/>
          <a:p>
            <a:pPr marL="0" indent="0">
              <a:buNone/>
            </a:pPr>
            <a:r>
              <a:rPr lang="en-US" sz="1260" b="1" dirty="0">
                <a:solidFill>
                  <a:srgbClr val="1C2255"/>
                </a:solidFill>
                <a:latin typeface="Arial" pitchFamily="34" charset="0"/>
                <a:ea typeface="Arial" pitchFamily="34" charset="-122"/>
                <a:cs typeface="Arial" pitchFamily="34" charset="-120"/>
              </a:rPr>
              <a:t>Yaniv &amp; Associates / Kuhnic</a:t>
            </a:r>
            <a:endParaRPr lang="en-US" sz="1260" dirty="0"/>
          </a:p>
        </p:txBody>
      </p:sp>
      <p:sp>
        <p:nvSpPr>
          <p:cNvPr id="46" name="Text 43"/>
          <p:cNvSpPr/>
          <p:nvPr/>
        </p:nvSpPr>
        <p:spPr>
          <a:xfrm>
            <a:off x="7525512" y="3840480"/>
            <a:ext cx="4050792" cy="164592"/>
          </a:xfrm>
          <a:prstGeom prst="rect">
            <a:avLst/>
          </a:prstGeom>
          <a:noFill/>
          <a:ln/>
        </p:spPr>
        <p:txBody>
          <a:bodyPr wrap="square" lIns="0" tIns="0" rIns="0" bIns="0" rtlCol="0" anchor="t">
            <a:normAutofit/>
          </a:bodyPr>
          <a:lstStyle/>
          <a:p>
            <a:pPr marL="0" indent="0">
              <a:buNone/>
            </a:pPr>
            <a:r>
              <a:rPr lang="en-US" sz="1040" dirty="0">
                <a:solidFill>
                  <a:srgbClr val="687B96"/>
                </a:solidFill>
                <a:latin typeface="Arial" pitchFamily="34" charset="0"/>
                <a:ea typeface="Arial" pitchFamily="34" charset="-122"/>
                <a:cs typeface="Arial" pitchFamily="34" charset="-120"/>
              </a:rPr>
              <a:t>Administrative-workload reduction</a:t>
            </a:r>
            <a:endParaRPr lang="en-US" sz="1040" dirty="0"/>
          </a:p>
        </p:txBody>
      </p:sp>
      <p:sp>
        <p:nvSpPr>
          <p:cNvPr id="47" name="Shape 44"/>
          <p:cNvSpPr/>
          <p:nvPr/>
        </p:nvSpPr>
        <p:spPr>
          <a:xfrm>
            <a:off x="6254496" y="4142232"/>
            <a:ext cx="5541264" cy="521208"/>
          </a:xfrm>
          <a:prstGeom prst="roundRect">
            <a:avLst>
              <a:gd name="adj" fmla="val 14035"/>
            </a:avLst>
          </a:prstGeom>
          <a:solidFill>
            <a:srgbClr val="FFFFFF"/>
          </a:solidFill>
          <a:ln w="12700">
            <a:solidFill>
              <a:srgbClr val="FFFFFF">
                <a:alpha val="0"/>
              </a:srgbClr>
            </a:solidFill>
            <a:prstDash val="solid"/>
          </a:ln>
        </p:spPr>
        <p:txBody>
          <a:bodyPr/>
          <a:lstStyle/>
          <a:p>
            <a:endParaRPr lang="en-PK"/>
          </a:p>
        </p:txBody>
      </p:sp>
      <p:sp>
        <p:nvSpPr>
          <p:cNvPr id="48" name="Shape 45"/>
          <p:cNvSpPr/>
          <p:nvPr/>
        </p:nvSpPr>
        <p:spPr>
          <a:xfrm>
            <a:off x="6254496" y="4142232"/>
            <a:ext cx="59436" cy="521208"/>
          </a:xfrm>
          <a:prstGeom prst="rect">
            <a:avLst/>
          </a:prstGeom>
          <a:solidFill>
            <a:srgbClr val="83BAD8"/>
          </a:solidFill>
          <a:ln w="12700">
            <a:solidFill>
              <a:srgbClr val="83BAD8">
                <a:alpha val="0"/>
              </a:srgbClr>
            </a:solidFill>
            <a:prstDash val="solid"/>
          </a:ln>
        </p:spPr>
        <p:txBody>
          <a:bodyPr/>
          <a:lstStyle/>
          <a:p>
            <a:endParaRPr lang="en-PK"/>
          </a:p>
        </p:txBody>
      </p:sp>
      <p:sp>
        <p:nvSpPr>
          <p:cNvPr id="49" name="Text 46"/>
          <p:cNvSpPr/>
          <p:nvPr/>
        </p:nvSpPr>
        <p:spPr>
          <a:xfrm>
            <a:off x="6419088" y="4242816"/>
            <a:ext cx="932688" cy="320040"/>
          </a:xfrm>
          <a:prstGeom prst="rect">
            <a:avLst/>
          </a:prstGeom>
          <a:noFill/>
          <a:ln/>
        </p:spPr>
        <p:txBody>
          <a:bodyPr wrap="square" lIns="0" tIns="0" rIns="0" bIns="0" rtlCol="0" anchor="t">
            <a:normAutofit fontScale="92500" lnSpcReduction="10000"/>
          </a:bodyPr>
          <a:lstStyle/>
          <a:p>
            <a:pPr marL="0" indent="0">
              <a:buNone/>
            </a:pPr>
            <a:r>
              <a:rPr lang="en-US" sz="2400" b="1" dirty="0">
                <a:solidFill>
                  <a:srgbClr val="364BAD"/>
                </a:solidFill>
                <a:latin typeface="Arial" pitchFamily="34" charset="0"/>
                <a:ea typeface="Arial" pitchFamily="34" charset="-122"/>
                <a:cs typeface="Arial" pitchFamily="34" charset="-120"/>
              </a:rPr>
              <a:t>53%</a:t>
            </a:r>
            <a:endParaRPr lang="en-US" sz="2400" dirty="0"/>
          </a:p>
        </p:txBody>
      </p:sp>
      <p:sp>
        <p:nvSpPr>
          <p:cNvPr id="50" name="Text 47"/>
          <p:cNvSpPr/>
          <p:nvPr/>
        </p:nvSpPr>
        <p:spPr>
          <a:xfrm>
            <a:off x="7525512" y="4224528"/>
            <a:ext cx="4050792" cy="201168"/>
          </a:xfrm>
          <a:prstGeom prst="rect">
            <a:avLst/>
          </a:prstGeom>
          <a:noFill/>
          <a:ln/>
        </p:spPr>
        <p:txBody>
          <a:bodyPr wrap="square" lIns="0" tIns="0" rIns="0" bIns="0" rtlCol="0" anchor="t">
            <a:normAutofit/>
          </a:bodyPr>
          <a:lstStyle/>
          <a:p>
            <a:pPr marL="0" indent="0">
              <a:buNone/>
            </a:pPr>
            <a:r>
              <a:rPr lang="en-US" sz="1260" b="1" dirty="0">
                <a:solidFill>
                  <a:srgbClr val="1C2255"/>
                </a:solidFill>
                <a:latin typeface="Arial" pitchFamily="34" charset="0"/>
                <a:ea typeface="Arial" pitchFamily="34" charset="-122"/>
                <a:cs typeface="Arial" pitchFamily="34" charset="-120"/>
              </a:rPr>
              <a:t>US Tech Automations case</a:t>
            </a:r>
            <a:endParaRPr lang="en-US" sz="1260" dirty="0"/>
          </a:p>
        </p:txBody>
      </p:sp>
      <p:sp>
        <p:nvSpPr>
          <p:cNvPr id="51" name="Text 48"/>
          <p:cNvSpPr/>
          <p:nvPr/>
        </p:nvSpPr>
        <p:spPr>
          <a:xfrm>
            <a:off x="7525512" y="4462272"/>
            <a:ext cx="4050792" cy="164592"/>
          </a:xfrm>
          <a:prstGeom prst="rect">
            <a:avLst/>
          </a:prstGeom>
          <a:noFill/>
          <a:ln/>
        </p:spPr>
        <p:txBody>
          <a:bodyPr wrap="square" lIns="0" tIns="0" rIns="0" bIns="0" rtlCol="0" anchor="t">
            <a:normAutofit/>
          </a:bodyPr>
          <a:lstStyle/>
          <a:p>
            <a:pPr marL="0" indent="0">
              <a:buNone/>
            </a:pPr>
            <a:r>
              <a:rPr lang="en-US" sz="1040" dirty="0">
                <a:solidFill>
                  <a:srgbClr val="687B96"/>
                </a:solidFill>
                <a:latin typeface="Arial" pitchFamily="34" charset="0"/>
                <a:ea typeface="Arial" pitchFamily="34" charset="-122"/>
                <a:cs typeface="Arial" pitchFamily="34" charset="-120"/>
              </a:rPr>
              <a:t>Onboarding time: 3.2 → 1.5 hours/client</a:t>
            </a:r>
            <a:endParaRPr lang="en-US" sz="1040" dirty="0"/>
          </a:p>
        </p:txBody>
      </p:sp>
      <p:sp>
        <p:nvSpPr>
          <p:cNvPr id="52" name="Shape 49"/>
          <p:cNvSpPr/>
          <p:nvPr/>
        </p:nvSpPr>
        <p:spPr>
          <a:xfrm>
            <a:off x="6254496" y="4764024"/>
            <a:ext cx="5541264" cy="521208"/>
          </a:xfrm>
          <a:prstGeom prst="roundRect">
            <a:avLst>
              <a:gd name="adj" fmla="val 14035"/>
            </a:avLst>
          </a:prstGeom>
          <a:solidFill>
            <a:srgbClr val="F2F5FA"/>
          </a:solidFill>
          <a:ln w="12700">
            <a:solidFill>
              <a:srgbClr val="F2F5FA">
                <a:alpha val="0"/>
              </a:srgbClr>
            </a:solidFill>
            <a:prstDash val="solid"/>
          </a:ln>
        </p:spPr>
        <p:txBody>
          <a:bodyPr/>
          <a:lstStyle/>
          <a:p>
            <a:endParaRPr lang="en-PK"/>
          </a:p>
        </p:txBody>
      </p:sp>
      <p:sp>
        <p:nvSpPr>
          <p:cNvPr id="53" name="Shape 50"/>
          <p:cNvSpPr/>
          <p:nvPr/>
        </p:nvSpPr>
        <p:spPr>
          <a:xfrm>
            <a:off x="6254496" y="4764024"/>
            <a:ext cx="59436" cy="521208"/>
          </a:xfrm>
          <a:prstGeom prst="rect">
            <a:avLst/>
          </a:prstGeom>
          <a:solidFill>
            <a:srgbClr val="364BAD"/>
          </a:solidFill>
          <a:ln w="12700">
            <a:solidFill>
              <a:srgbClr val="364BAD">
                <a:alpha val="0"/>
              </a:srgbClr>
            </a:solidFill>
            <a:prstDash val="solid"/>
          </a:ln>
        </p:spPr>
        <p:txBody>
          <a:bodyPr/>
          <a:lstStyle/>
          <a:p>
            <a:endParaRPr lang="en-PK"/>
          </a:p>
        </p:txBody>
      </p:sp>
      <p:sp>
        <p:nvSpPr>
          <p:cNvPr id="54" name="Text 51"/>
          <p:cNvSpPr/>
          <p:nvPr/>
        </p:nvSpPr>
        <p:spPr>
          <a:xfrm>
            <a:off x="6419088" y="4864608"/>
            <a:ext cx="932688" cy="320040"/>
          </a:xfrm>
          <a:prstGeom prst="rect">
            <a:avLst/>
          </a:prstGeom>
          <a:noFill/>
          <a:ln/>
        </p:spPr>
        <p:txBody>
          <a:bodyPr wrap="square" lIns="0" tIns="0" rIns="0" bIns="0" rtlCol="0" anchor="t">
            <a:normAutofit fontScale="92500" lnSpcReduction="10000"/>
          </a:bodyPr>
          <a:lstStyle/>
          <a:p>
            <a:pPr marL="0" indent="0">
              <a:buNone/>
            </a:pPr>
            <a:r>
              <a:rPr lang="en-US" sz="2400" b="1" dirty="0">
                <a:solidFill>
                  <a:srgbClr val="364BAD"/>
                </a:solidFill>
                <a:latin typeface="Arial" pitchFamily="34" charset="0"/>
                <a:ea typeface="Arial" pitchFamily="34" charset="-122"/>
                <a:cs typeface="Arial" pitchFamily="34" charset="-120"/>
              </a:rPr>
              <a:t>73%</a:t>
            </a:r>
            <a:endParaRPr lang="en-US" sz="2400" dirty="0"/>
          </a:p>
        </p:txBody>
      </p:sp>
      <p:sp>
        <p:nvSpPr>
          <p:cNvPr id="55" name="Text 52"/>
          <p:cNvSpPr/>
          <p:nvPr/>
        </p:nvSpPr>
        <p:spPr>
          <a:xfrm>
            <a:off x="7525512" y="4846320"/>
            <a:ext cx="4050792" cy="201168"/>
          </a:xfrm>
          <a:prstGeom prst="rect">
            <a:avLst/>
          </a:prstGeom>
          <a:noFill/>
          <a:ln/>
        </p:spPr>
        <p:txBody>
          <a:bodyPr wrap="square" lIns="0" tIns="0" rIns="0" bIns="0" rtlCol="0" anchor="t">
            <a:normAutofit/>
          </a:bodyPr>
          <a:lstStyle/>
          <a:p>
            <a:pPr marL="0" indent="0">
              <a:buNone/>
            </a:pPr>
            <a:r>
              <a:rPr lang="en-US" sz="1260" b="1" dirty="0">
                <a:solidFill>
                  <a:srgbClr val="1C2255"/>
                </a:solidFill>
                <a:latin typeface="Arial" pitchFamily="34" charset="0"/>
                <a:ea typeface="Arial" pitchFamily="34" charset="-122"/>
                <a:cs typeface="Arial" pitchFamily="34" charset="-120"/>
              </a:rPr>
              <a:t>Grove AI case</a:t>
            </a:r>
            <a:endParaRPr lang="en-US" sz="1260" dirty="0"/>
          </a:p>
        </p:txBody>
      </p:sp>
      <p:sp>
        <p:nvSpPr>
          <p:cNvPr id="56" name="Text 53"/>
          <p:cNvSpPr/>
          <p:nvPr/>
        </p:nvSpPr>
        <p:spPr>
          <a:xfrm>
            <a:off x="7525512" y="5084064"/>
            <a:ext cx="4050792" cy="164592"/>
          </a:xfrm>
          <a:prstGeom prst="rect">
            <a:avLst/>
          </a:prstGeom>
          <a:noFill/>
          <a:ln/>
        </p:spPr>
        <p:txBody>
          <a:bodyPr wrap="square" lIns="0" tIns="0" rIns="0" bIns="0" rtlCol="0" anchor="t">
            <a:normAutofit/>
          </a:bodyPr>
          <a:lstStyle/>
          <a:p>
            <a:pPr marL="0" indent="0">
              <a:buNone/>
            </a:pPr>
            <a:r>
              <a:rPr lang="en-US" sz="1040" dirty="0">
                <a:solidFill>
                  <a:srgbClr val="687B96"/>
                </a:solidFill>
                <a:latin typeface="Arial" pitchFamily="34" charset="0"/>
                <a:ea typeface="Arial" pitchFamily="34" charset="-122"/>
                <a:cs typeface="Arial" pitchFamily="34" charset="-120"/>
              </a:rPr>
              <a:t>Document-review time reduction</a:t>
            </a:r>
            <a:endParaRPr lang="en-US" sz="1040" dirty="0"/>
          </a:p>
        </p:txBody>
      </p:sp>
      <p:sp>
        <p:nvSpPr>
          <p:cNvPr id="57" name="Text 54"/>
          <p:cNvSpPr/>
          <p:nvPr/>
        </p:nvSpPr>
        <p:spPr>
          <a:xfrm>
            <a:off x="6254496" y="5641848"/>
            <a:ext cx="5541264" cy="457200"/>
          </a:xfrm>
          <a:prstGeom prst="rect">
            <a:avLst/>
          </a:prstGeom>
          <a:noFill/>
          <a:ln/>
        </p:spPr>
        <p:txBody>
          <a:bodyPr wrap="square" lIns="0" tIns="0" rIns="0" bIns="0" rtlCol="0" anchor="t">
            <a:normAutofit/>
          </a:bodyPr>
          <a:lstStyle/>
          <a:p>
            <a:pPr marL="0" indent="0">
              <a:buNone/>
            </a:pPr>
            <a:r>
              <a:rPr lang="en-US" sz="1060" dirty="0">
                <a:solidFill>
                  <a:srgbClr val="687B96"/>
                </a:solidFill>
                <a:latin typeface="Arial" pitchFamily="34" charset="0"/>
                <a:ea typeface="Arial" pitchFamily="34" charset="-122"/>
                <a:cs typeface="Arial" pitchFamily="34" charset="-120"/>
              </a:rPr>
              <a:t>Different tasks and measurement methods; vendor / partner reports, not independently audited. Not Neeley Law targets.</a:t>
            </a:r>
            <a:endParaRPr lang="en-US" sz="10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Header and title"/>
          <p:cNvGrpSpPr/>
          <p:nvPr/>
        </p:nvGrpSpPr>
        <p:grpSpPr>
          <a:xfrm>
            <a:off x="396240" y="152400"/>
            <a:ext cx="11399520" cy="1636466"/>
            <a:chOff x="396240" y="152400"/>
            <a:chExt cx="11399520" cy="1636466"/>
          </a:xfrm>
        </p:grpSpPr>
        <p:sp>
          <p:nvSpPr>
            <p:cNvPr id="3" name="Section label"/>
            <p:cNvSpPr txBox="1"/>
            <p:nvPr/>
          </p:nvSpPr>
          <p:spPr>
            <a:xfrm>
              <a:off x="396240" y="205740"/>
              <a:ext cx="3962400" cy="198120"/>
            </a:xfrm>
            <a:prstGeom prst="rect">
              <a:avLst/>
            </a:prstGeom>
            <a:noFill/>
            <a:effectLst/>
          </p:spPr>
          <p:txBody>
            <a:bodyPr wrap="square" lIns="0" tIns="0" rIns="0" bIns="0" anchor="t">
              <a:spAutoFit/>
            </a:bodyPr>
            <a:lstStyle/>
            <a:p>
              <a:pPr algn="l">
                <a:lnSpc>
                  <a:spcPct val="105000"/>
                </a:lnSpc>
                <a:spcBef>
                  <a:spcPts val="0"/>
                </a:spcBef>
                <a:spcAft>
                  <a:spcPts val="0"/>
                </a:spcAft>
              </a:pPr>
              <a:r>
                <a:rPr sz="1080" b="0" i="0">
                  <a:solidFill>
                    <a:srgbClr val="8590AA"/>
                  </a:solidFill>
                  <a:latin typeface="Arial"/>
                </a:rPr>
                <a:t>Development timeline</a:t>
              </a:r>
            </a:p>
          </p:txBody>
        </p:sp>
        <p:cxnSp>
          <p:nvCxnSpPr>
            <p:cNvPr id="4" name="Discussion upper rule"/>
            <p:cNvCxnSpPr/>
            <p:nvPr/>
          </p:nvCxnSpPr>
          <p:spPr>
            <a:xfrm>
              <a:off x="4991100" y="152400"/>
              <a:ext cx="2179320" cy="0"/>
            </a:xfrm>
            <a:prstGeom prst="line">
              <a:avLst/>
            </a:prstGeom>
            <a:ln w="10160">
              <a:solidFill>
                <a:srgbClr val="FF6B08"/>
              </a:solidFill>
            </a:ln>
            <a:effectLst/>
          </p:spPr>
          <p:style>
            <a:lnRef idx="2">
              <a:schemeClr val="accent1"/>
            </a:lnRef>
            <a:fillRef idx="0">
              <a:schemeClr val="accent1"/>
            </a:fillRef>
            <a:effectRef idx="0">
              <a:schemeClr val="accent1"/>
            </a:effectRef>
            <a:fontRef idx="minor">
              <a:schemeClr val="tx1"/>
            </a:fontRef>
          </p:style>
        </p:cxnSp>
        <p:sp>
          <p:nvSpPr>
            <p:cNvPr id="5" name="Discussion status"/>
            <p:cNvSpPr txBox="1"/>
            <p:nvPr/>
          </p:nvSpPr>
          <p:spPr>
            <a:xfrm>
              <a:off x="4991100" y="228600"/>
              <a:ext cx="2179320" cy="167640"/>
            </a:xfrm>
            <a:prstGeom prst="rect">
              <a:avLst/>
            </a:prstGeom>
            <a:noFill/>
            <a:effectLst/>
          </p:spPr>
          <p:txBody>
            <a:bodyPr wrap="none" lIns="0" tIns="0" rIns="0" bIns="0" anchor="t">
              <a:spAutoFit/>
            </a:bodyPr>
            <a:lstStyle/>
            <a:p>
              <a:pPr algn="ctr">
                <a:lnSpc>
                  <a:spcPts val="1086"/>
                </a:lnSpc>
                <a:spcBef>
                  <a:spcPts val="0"/>
                </a:spcBef>
                <a:spcAft>
                  <a:spcPts val="0"/>
                </a:spcAft>
              </a:pPr>
              <a:r>
                <a:rPr sz="969" b="1" i="0" dirty="0">
                  <a:solidFill>
                    <a:srgbClr val="FF6B08"/>
                  </a:solidFill>
                  <a:latin typeface="Arial"/>
                </a:rPr>
                <a:t>F O R  D I S C U S </a:t>
              </a:r>
              <a:r>
                <a:rPr sz="969" b="1" i="0" dirty="0" err="1">
                  <a:solidFill>
                    <a:srgbClr val="FF6B08"/>
                  </a:solidFill>
                  <a:latin typeface="Arial"/>
                </a:rPr>
                <a:t>S</a:t>
              </a:r>
              <a:r>
                <a:rPr sz="969" b="1" i="0" dirty="0">
                  <a:solidFill>
                    <a:srgbClr val="FF6B08"/>
                  </a:solidFill>
                  <a:latin typeface="Arial"/>
                </a:rPr>
                <a:t> I O N</a:t>
              </a:r>
            </a:p>
          </p:txBody>
        </p:sp>
        <p:cxnSp>
          <p:nvCxnSpPr>
            <p:cNvPr id="6" name="Discussion lower rule"/>
            <p:cNvCxnSpPr/>
            <p:nvPr/>
          </p:nvCxnSpPr>
          <p:spPr>
            <a:xfrm>
              <a:off x="4991100" y="411480"/>
              <a:ext cx="2179320" cy="0"/>
            </a:xfrm>
            <a:prstGeom prst="line">
              <a:avLst/>
            </a:prstGeom>
            <a:ln w="10160">
              <a:solidFill>
                <a:srgbClr val="FF6B08"/>
              </a:solidFill>
            </a:ln>
            <a:effectLst/>
          </p:spPr>
          <p:style>
            <a:lnRef idx="2">
              <a:schemeClr val="accent1"/>
            </a:lnRef>
            <a:fillRef idx="0">
              <a:schemeClr val="accent1"/>
            </a:fillRef>
            <a:effectRef idx="0">
              <a:schemeClr val="accent1"/>
            </a:effectRef>
            <a:fontRef idx="minor">
              <a:schemeClr val="tx1"/>
            </a:fontRef>
          </p:style>
        </p:cxnSp>
        <p:sp>
          <p:nvSpPr>
            <p:cNvPr id="7" name="Brand label"/>
            <p:cNvSpPr txBox="1"/>
            <p:nvPr/>
          </p:nvSpPr>
          <p:spPr>
            <a:xfrm>
              <a:off x="10347960" y="205740"/>
              <a:ext cx="1447800" cy="213360"/>
            </a:xfrm>
            <a:prstGeom prst="rect">
              <a:avLst/>
            </a:prstGeom>
            <a:noFill/>
            <a:effectLst/>
          </p:spPr>
          <p:txBody>
            <a:bodyPr wrap="none" lIns="0" tIns="0" rIns="0" bIns="0" anchor="t">
              <a:spAutoFit/>
            </a:bodyPr>
            <a:lstStyle/>
            <a:p>
              <a:pPr algn="r">
                <a:lnSpc>
                  <a:spcPts val="1265"/>
                </a:lnSpc>
                <a:spcBef>
                  <a:spcPts val="0"/>
                </a:spcBef>
                <a:spcAft>
                  <a:spcPts val="0"/>
                </a:spcAft>
              </a:pPr>
              <a:r>
                <a:rPr sz="1130" b="1" i="0">
                  <a:solidFill>
                    <a:srgbClr val="191F4E"/>
                  </a:solidFill>
                  <a:latin typeface="Arial"/>
                </a:rPr>
                <a:t>NEELEY LAW</a:t>
              </a:r>
            </a:p>
          </p:txBody>
        </p:sp>
        <p:sp>
          <p:nvSpPr>
            <p:cNvPr id="8" name="Main title"/>
            <p:cNvSpPr txBox="1"/>
            <p:nvPr/>
          </p:nvSpPr>
          <p:spPr>
            <a:xfrm>
              <a:off x="396240" y="601980"/>
              <a:ext cx="11399520" cy="861070"/>
            </a:xfrm>
            <a:prstGeom prst="rect">
              <a:avLst/>
            </a:prstGeom>
            <a:noFill/>
            <a:effectLst/>
          </p:spPr>
          <p:txBody>
            <a:bodyPr wrap="square" lIns="0" tIns="0" rIns="0" bIns="0" anchor="t">
              <a:spAutoFit/>
            </a:bodyPr>
            <a:lstStyle/>
            <a:p>
              <a:pPr algn="l">
                <a:lnSpc>
                  <a:spcPct val="105000"/>
                </a:lnSpc>
                <a:spcBef>
                  <a:spcPts val="0"/>
                </a:spcBef>
                <a:spcAft>
                  <a:spcPts val="0"/>
                </a:spcAft>
              </a:pPr>
              <a:r>
                <a:rPr lang="en-US" sz="2760" b="1" i="0" dirty="0">
                  <a:solidFill>
                    <a:srgbClr val="1D2357"/>
                  </a:solidFill>
                  <a:latin typeface="Arial"/>
                </a:rPr>
                <a:t>A four-week plan takes the first release from discovery to go-live</a:t>
              </a:r>
            </a:p>
            <a:p>
              <a:pPr algn="l">
                <a:lnSpc>
                  <a:spcPct val="105000"/>
                </a:lnSpc>
                <a:spcBef>
                  <a:spcPts val="0"/>
                </a:spcBef>
                <a:spcAft>
                  <a:spcPts val="0"/>
                </a:spcAft>
              </a:pPr>
              <a:endParaRPr sz="2760" b="1" i="0" dirty="0">
                <a:solidFill>
                  <a:srgbClr val="1D2357"/>
                </a:solidFill>
                <a:latin typeface="Arial"/>
              </a:endParaRPr>
            </a:p>
          </p:txBody>
        </p:sp>
        <p:sp>
          <p:nvSpPr>
            <p:cNvPr id="9" name="Subtitle"/>
            <p:cNvSpPr txBox="1"/>
            <p:nvPr/>
          </p:nvSpPr>
          <p:spPr>
            <a:xfrm>
              <a:off x="396240" y="1559444"/>
              <a:ext cx="6400800" cy="229422"/>
            </a:xfrm>
            <a:prstGeom prst="rect">
              <a:avLst/>
            </a:prstGeom>
            <a:noFill/>
            <a:effectLst/>
          </p:spPr>
          <p:txBody>
            <a:bodyPr wrap="square" lIns="0" tIns="0" rIns="0" bIns="0" anchor="t">
              <a:spAutoFit/>
            </a:bodyPr>
            <a:lstStyle/>
            <a:p>
              <a:pPr algn="l">
                <a:lnSpc>
                  <a:spcPct val="105000"/>
                </a:lnSpc>
                <a:spcBef>
                  <a:spcPts val="0"/>
                </a:spcBef>
                <a:spcAft>
                  <a:spcPts val="0"/>
                </a:spcAft>
              </a:pPr>
              <a:r>
                <a:rPr sz="1420" b="0" i="0" dirty="0">
                  <a:solidFill>
                    <a:srgbClr val="627795"/>
                  </a:solidFill>
                  <a:latin typeface="Arial"/>
                </a:rPr>
                <a:t>4-Week Development </a:t>
              </a:r>
              <a:r>
                <a:rPr sz="1420" b="0" i="0" dirty="0" smtClean="0">
                  <a:solidFill>
                    <a:srgbClr val="627795"/>
                  </a:solidFill>
                  <a:latin typeface="Arial"/>
                </a:rPr>
                <a:t>Pla</a:t>
              </a:r>
              <a:r>
                <a:rPr lang="en-US" sz="1420" b="0" i="0" dirty="0" smtClean="0">
                  <a:solidFill>
                    <a:srgbClr val="627795"/>
                  </a:solidFill>
                  <a:latin typeface="Arial"/>
                </a:rPr>
                <a:t>n</a:t>
              </a:r>
              <a:endParaRPr sz="1420" b="0" i="0" dirty="0">
                <a:solidFill>
                  <a:srgbClr val="627795"/>
                </a:solidFill>
                <a:latin typeface="Arial"/>
              </a:endParaRPr>
            </a:p>
          </p:txBody>
        </p:sp>
      </p:grpSp>
      <p:grpSp>
        <p:nvGrpSpPr>
          <p:cNvPr id="164" name="Source and footer"/>
          <p:cNvGrpSpPr/>
          <p:nvPr/>
        </p:nvGrpSpPr>
        <p:grpSpPr>
          <a:xfrm>
            <a:off x="396240" y="6484620"/>
            <a:ext cx="11399520" cy="243840"/>
            <a:chOff x="396240" y="6484620"/>
            <a:chExt cx="11399520" cy="243840"/>
          </a:xfrm>
        </p:grpSpPr>
        <p:cxnSp>
          <p:nvCxnSpPr>
            <p:cNvPr id="166" name="Footer rule"/>
            <p:cNvCxnSpPr/>
            <p:nvPr/>
          </p:nvCxnSpPr>
          <p:spPr>
            <a:xfrm>
              <a:off x="396240" y="6484620"/>
              <a:ext cx="11399520" cy="0"/>
            </a:xfrm>
            <a:prstGeom prst="line">
              <a:avLst/>
            </a:prstGeom>
            <a:ln w="10160">
              <a:solidFill>
                <a:srgbClr val="CAD1E2"/>
              </a:solidFill>
            </a:ln>
            <a:effectLst/>
          </p:spPr>
          <p:style>
            <a:lnRef idx="2">
              <a:schemeClr val="accent1"/>
            </a:lnRef>
            <a:fillRef idx="0">
              <a:schemeClr val="accent1"/>
            </a:fillRef>
            <a:effectRef idx="0">
              <a:schemeClr val="accent1"/>
            </a:effectRef>
            <a:fontRef idx="minor">
              <a:schemeClr val="tx1"/>
            </a:fontRef>
          </p:style>
        </p:cxnSp>
        <p:sp>
          <p:nvSpPr>
            <p:cNvPr id="167" name="Confidentiality"/>
            <p:cNvSpPr txBox="1"/>
            <p:nvPr/>
          </p:nvSpPr>
          <p:spPr>
            <a:xfrm>
              <a:off x="396240" y="6576060"/>
              <a:ext cx="3848100" cy="152400"/>
            </a:xfrm>
            <a:prstGeom prst="rect">
              <a:avLst/>
            </a:prstGeom>
            <a:noFill/>
            <a:effectLst/>
          </p:spPr>
          <p:txBody>
            <a:bodyPr wrap="square" lIns="0" tIns="0" rIns="0" bIns="0" anchor="t">
              <a:spAutoFit/>
            </a:bodyPr>
            <a:lstStyle/>
            <a:p>
              <a:pPr algn="l">
                <a:lnSpc>
                  <a:spcPct val="105000"/>
                </a:lnSpc>
                <a:spcBef>
                  <a:spcPts val="0"/>
                </a:spcBef>
                <a:spcAft>
                  <a:spcPts val="0"/>
                </a:spcAft>
              </a:pPr>
              <a:r>
                <a:rPr sz="770" b="0" i="0">
                  <a:solidFill>
                    <a:srgbClr val="8590AA"/>
                  </a:solidFill>
                  <a:latin typeface="Arial"/>
                </a:rPr>
                <a:t>Confidential  |  Initial proposal</a:t>
              </a:r>
            </a:p>
          </p:txBody>
        </p:sp>
        <p:sp>
          <p:nvSpPr>
            <p:cNvPr id="168" name="Prepared by"/>
            <p:cNvSpPr txBox="1"/>
            <p:nvPr/>
          </p:nvSpPr>
          <p:spPr>
            <a:xfrm>
              <a:off x="3749039" y="6576060"/>
              <a:ext cx="5102352" cy="152400"/>
            </a:xfrm>
            <a:prstGeom prst="rect">
              <a:avLst/>
            </a:prstGeom>
            <a:noFill/>
            <a:effectLst/>
          </p:spPr>
          <p:txBody>
            <a:bodyPr wrap="square" lIns="0" tIns="0" rIns="0" bIns="0" anchor="t">
              <a:spAutoFit/>
            </a:bodyPr>
            <a:lstStyle/>
            <a:p>
              <a:pPr algn="ctr">
                <a:lnSpc>
                  <a:spcPct val="105000"/>
                </a:lnSpc>
                <a:spcBef>
                  <a:spcPts val="0"/>
                </a:spcBef>
                <a:spcAft>
                  <a:spcPts val="0"/>
                </a:spcAft>
              </a:pPr>
              <a:r>
                <a:rPr sz="770" b="0" i="0">
                  <a:solidFill>
                    <a:srgbClr val="8694AF"/>
                  </a:solidFill>
                  <a:latin typeface="Arial"/>
                </a:rPr>
                <a:t>Neeley Law  |  Document submission &amp; verification</a:t>
              </a:r>
            </a:p>
          </p:txBody>
        </p:sp>
        <p:sp>
          <p:nvSpPr>
            <p:cNvPr id="169" name="Date"/>
            <p:cNvSpPr txBox="1"/>
            <p:nvPr/>
          </p:nvSpPr>
          <p:spPr>
            <a:xfrm>
              <a:off x="9811512" y="6576060"/>
              <a:ext cx="1417320" cy="124393"/>
            </a:xfrm>
            <a:prstGeom prst="rect">
              <a:avLst/>
            </a:prstGeom>
            <a:noFill/>
            <a:effectLst/>
          </p:spPr>
          <p:txBody>
            <a:bodyPr wrap="square" lIns="0" tIns="0" rIns="0" bIns="0" anchor="t">
              <a:spAutoFit/>
            </a:bodyPr>
            <a:lstStyle/>
            <a:p>
              <a:pPr algn="r">
                <a:lnSpc>
                  <a:spcPct val="105000"/>
                </a:lnSpc>
                <a:spcBef>
                  <a:spcPts val="0"/>
                </a:spcBef>
                <a:spcAft>
                  <a:spcPts val="0"/>
                </a:spcAft>
              </a:pPr>
              <a:r>
                <a:rPr sz="770" b="0" i="0" dirty="0" smtClean="0">
                  <a:solidFill>
                    <a:srgbClr val="8694AF"/>
                  </a:solidFill>
                  <a:latin typeface="Arial"/>
                </a:rPr>
                <a:t>September </a:t>
              </a:r>
              <a:r>
                <a:rPr sz="770" b="0" i="0" dirty="0">
                  <a:solidFill>
                    <a:srgbClr val="8694AF"/>
                  </a:solidFill>
                  <a:latin typeface="Arial"/>
                </a:rPr>
                <a:t>2026</a:t>
              </a:r>
            </a:p>
          </p:txBody>
        </p:sp>
        <p:cxnSp>
          <p:nvCxnSpPr>
            <p:cNvPr id="170" name="Page-number divider"/>
            <p:cNvCxnSpPr/>
            <p:nvPr/>
          </p:nvCxnSpPr>
          <p:spPr>
            <a:xfrm>
              <a:off x="11468100" y="6560820"/>
              <a:ext cx="0" cy="137160"/>
            </a:xfrm>
            <a:prstGeom prst="line">
              <a:avLst/>
            </a:prstGeom>
            <a:ln w="7620">
              <a:solidFill>
                <a:srgbClr val="CAD1E2"/>
              </a:solidFill>
            </a:ln>
            <a:effectLst/>
          </p:spPr>
          <p:style>
            <a:lnRef idx="2">
              <a:schemeClr val="accent1"/>
            </a:lnRef>
            <a:fillRef idx="0">
              <a:schemeClr val="accent1"/>
            </a:fillRef>
            <a:effectRef idx="0">
              <a:schemeClr val="accent1"/>
            </a:effectRef>
            <a:fontRef idx="minor">
              <a:schemeClr val="tx1"/>
            </a:fontRef>
          </p:style>
        </p:cxnSp>
        <p:sp>
          <p:nvSpPr>
            <p:cNvPr id="171" name="Page number"/>
            <p:cNvSpPr txBox="1"/>
            <p:nvPr/>
          </p:nvSpPr>
          <p:spPr>
            <a:xfrm>
              <a:off x="11741258" y="6576060"/>
              <a:ext cx="54502" cy="115416"/>
            </a:xfrm>
            <a:prstGeom prst="rect">
              <a:avLst/>
            </a:prstGeom>
            <a:noFill/>
            <a:effectLst/>
          </p:spPr>
          <p:txBody>
            <a:bodyPr wrap="none" lIns="0" tIns="0" rIns="0" bIns="0" anchor="t">
              <a:spAutoFit/>
            </a:bodyPr>
            <a:lstStyle/>
            <a:p>
              <a:pPr algn="r">
                <a:lnSpc>
                  <a:spcPts val="862"/>
                </a:lnSpc>
                <a:spcBef>
                  <a:spcPts val="0"/>
                </a:spcBef>
                <a:spcAft>
                  <a:spcPts val="0"/>
                </a:spcAft>
              </a:pPr>
              <a:r>
                <a:rPr lang="en-US" sz="770" dirty="0">
                  <a:solidFill>
                    <a:srgbClr val="8590AA"/>
                  </a:solidFill>
                  <a:latin typeface="Arial"/>
                </a:rPr>
                <a:t>5</a:t>
              </a:r>
              <a:endParaRPr sz="770" b="0" i="0" dirty="0">
                <a:solidFill>
                  <a:srgbClr val="8590AA"/>
                </a:solidFill>
                <a:latin typeface="Arial"/>
              </a:endParaRPr>
            </a:p>
          </p:txBody>
        </p:sp>
      </p:grpSp>
      <p:sp>
        <p:nvSpPr>
          <p:cNvPr id="172" name="Source tagline"/>
          <p:cNvSpPr txBox="1"/>
          <p:nvPr/>
        </p:nvSpPr>
        <p:spPr>
          <a:xfrm>
            <a:off x="7662672" y="1549648"/>
            <a:ext cx="4133087" cy="214884"/>
          </a:xfrm>
          <a:prstGeom prst="rect">
            <a:avLst/>
          </a:prstGeom>
          <a:noFill/>
          <a:effectLst/>
        </p:spPr>
        <p:txBody>
          <a:bodyPr wrap="square" lIns="0" tIns="0" rIns="0" bIns="0" anchor="ctr">
            <a:noAutofit/>
          </a:bodyPr>
          <a:lstStyle/>
          <a:p>
            <a:pPr algn="r">
              <a:lnSpc>
                <a:spcPct val="103000"/>
              </a:lnSpc>
              <a:spcBef>
                <a:spcPts val="0"/>
              </a:spcBef>
              <a:spcAft>
                <a:spcPts val="0"/>
              </a:spcAft>
            </a:pPr>
            <a:r>
              <a:rPr sz="1080" b="0" i="1">
                <a:solidFill>
                  <a:srgbClr val="627795"/>
                </a:solidFill>
                <a:latin typeface="Arial"/>
              </a:rPr>
              <a:t>Streamlining Documents. Supporting Your Clients.</a:t>
            </a:r>
          </a:p>
        </p:txBody>
      </p:sp>
      <p:cxnSp>
        <p:nvCxnSpPr>
          <p:cNvPr id="173" name="Title divider"/>
          <p:cNvCxnSpPr/>
          <p:nvPr/>
        </p:nvCxnSpPr>
        <p:spPr>
          <a:xfrm>
            <a:off x="395935" y="1855058"/>
            <a:ext cx="11399825" cy="0"/>
          </a:xfrm>
          <a:prstGeom prst="line">
            <a:avLst/>
          </a:prstGeom>
          <a:ln w="8890">
            <a:solidFill>
              <a:srgbClr val="D2DBE9"/>
            </a:solidFill>
          </a:ln>
          <a:effectLst/>
        </p:spPr>
        <p:style>
          <a:lnRef idx="2">
            <a:schemeClr val="accent1"/>
          </a:lnRef>
          <a:fillRef idx="0">
            <a:schemeClr val="accent1"/>
          </a:fillRef>
          <a:effectRef idx="0">
            <a:schemeClr val="accent1"/>
          </a:effectRef>
          <a:fontRef idx="minor">
            <a:schemeClr val="tx1"/>
          </a:fontRef>
        </p:style>
      </p:cxnSp>
      <p:grpSp>
        <p:nvGrpSpPr>
          <p:cNvPr id="10" name="Gantt grid | four weeks and 20 working days"/>
          <p:cNvGrpSpPr/>
          <p:nvPr/>
        </p:nvGrpSpPr>
        <p:grpSpPr>
          <a:xfrm>
            <a:off x="395935" y="2037938"/>
            <a:ext cx="11399825" cy="3163824"/>
            <a:chOff x="395935" y="1618488"/>
            <a:chExt cx="11399825" cy="3163824"/>
          </a:xfrm>
        </p:grpSpPr>
        <p:sp>
          <p:nvSpPr>
            <p:cNvPr id="174" name="Gantt base"/>
            <p:cNvSpPr/>
            <p:nvPr/>
          </p:nvSpPr>
          <p:spPr>
            <a:xfrm>
              <a:off x="395935" y="1618488"/>
              <a:ext cx="11399824" cy="316382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5" name="Task row 1 background"/>
            <p:cNvSpPr/>
            <p:nvPr/>
          </p:nvSpPr>
          <p:spPr>
            <a:xfrm>
              <a:off x="395935" y="2221992"/>
              <a:ext cx="11399824" cy="365760"/>
            </a:xfrm>
            <a:prstGeom prst="rect">
              <a:avLst/>
            </a:prstGeom>
            <a:solidFill>
              <a:srgbClr val="F8FAF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6" name="Task row 2 background"/>
            <p:cNvSpPr/>
            <p:nvPr/>
          </p:nvSpPr>
          <p:spPr>
            <a:xfrm>
              <a:off x="395935" y="2587752"/>
              <a:ext cx="11399824" cy="3657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7" name="Task row 3 background"/>
            <p:cNvSpPr/>
            <p:nvPr/>
          </p:nvSpPr>
          <p:spPr>
            <a:xfrm>
              <a:off x="395935" y="2953512"/>
              <a:ext cx="11399824" cy="365760"/>
            </a:xfrm>
            <a:prstGeom prst="rect">
              <a:avLst/>
            </a:prstGeom>
            <a:solidFill>
              <a:srgbClr val="F8FAF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8" name="Task row 4 background"/>
            <p:cNvSpPr/>
            <p:nvPr/>
          </p:nvSpPr>
          <p:spPr>
            <a:xfrm>
              <a:off x="395935" y="3319272"/>
              <a:ext cx="11399824" cy="3657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9" name="Task row 5 background"/>
            <p:cNvSpPr/>
            <p:nvPr/>
          </p:nvSpPr>
          <p:spPr>
            <a:xfrm>
              <a:off x="395935" y="3685032"/>
              <a:ext cx="11399824" cy="365760"/>
            </a:xfrm>
            <a:prstGeom prst="rect">
              <a:avLst/>
            </a:prstGeom>
            <a:solidFill>
              <a:srgbClr val="F8FAF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0" name="Task row 6 background"/>
            <p:cNvSpPr/>
            <p:nvPr/>
          </p:nvSpPr>
          <p:spPr>
            <a:xfrm>
              <a:off x="395935" y="4050791"/>
              <a:ext cx="11399824" cy="3657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1" name="Task row 7 background"/>
            <p:cNvSpPr/>
            <p:nvPr/>
          </p:nvSpPr>
          <p:spPr>
            <a:xfrm>
              <a:off x="395935" y="4416552"/>
              <a:ext cx="11399824" cy="365760"/>
            </a:xfrm>
            <a:prstGeom prst="rect">
              <a:avLst/>
            </a:prstGeom>
            <a:solidFill>
              <a:srgbClr val="F8FAF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2" name="Workstream and duration header"/>
            <p:cNvSpPr/>
            <p:nvPr/>
          </p:nvSpPr>
          <p:spPr>
            <a:xfrm>
              <a:off x="395935" y="1618488"/>
              <a:ext cx="3621024" cy="603503"/>
            </a:xfrm>
            <a:prstGeom prst="rect">
              <a:avLst/>
            </a:prstGeom>
            <a:solidFill>
              <a:srgbClr val="1D235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3" name="Workstream header"/>
            <p:cNvSpPr txBox="1"/>
            <p:nvPr/>
          </p:nvSpPr>
          <p:spPr>
            <a:xfrm>
              <a:off x="560527" y="1773936"/>
              <a:ext cx="2560320" cy="246888"/>
            </a:xfrm>
            <a:prstGeom prst="rect">
              <a:avLst/>
            </a:prstGeom>
            <a:noFill/>
            <a:effectLst/>
          </p:spPr>
          <p:txBody>
            <a:bodyPr wrap="square" lIns="0" tIns="0" rIns="0" bIns="0" anchor="ctr">
              <a:noAutofit/>
            </a:bodyPr>
            <a:lstStyle/>
            <a:p>
              <a:pPr algn="l">
                <a:lnSpc>
                  <a:spcPct val="103000"/>
                </a:lnSpc>
                <a:spcBef>
                  <a:spcPts val="0"/>
                </a:spcBef>
                <a:spcAft>
                  <a:spcPts val="0"/>
                </a:spcAft>
              </a:pPr>
              <a:r>
                <a:rPr sz="1250" b="1" i="0">
                  <a:solidFill>
                    <a:srgbClr val="FFFFFF"/>
                  </a:solidFill>
                  <a:latin typeface="Arial"/>
                </a:rPr>
                <a:t>Workstream / Task</a:t>
              </a:r>
            </a:p>
          </p:txBody>
        </p:sp>
        <p:sp>
          <p:nvSpPr>
            <p:cNvPr id="184" name="Duration header"/>
            <p:cNvSpPr txBox="1"/>
            <p:nvPr/>
          </p:nvSpPr>
          <p:spPr>
            <a:xfrm>
              <a:off x="3276295" y="1783080"/>
              <a:ext cx="713232" cy="228600"/>
            </a:xfrm>
            <a:prstGeom prst="rect">
              <a:avLst/>
            </a:prstGeom>
            <a:noFill/>
            <a:effectLst/>
          </p:spPr>
          <p:txBody>
            <a:bodyPr wrap="square" lIns="0" tIns="0" rIns="0" bIns="0" anchor="ctr">
              <a:noAutofit/>
            </a:bodyPr>
            <a:lstStyle/>
            <a:p>
              <a:pPr algn="ctr">
                <a:lnSpc>
                  <a:spcPct val="103000"/>
                </a:lnSpc>
                <a:spcBef>
                  <a:spcPts val="0"/>
                </a:spcBef>
                <a:spcAft>
                  <a:spcPts val="0"/>
                </a:spcAft>
              </a:pPr>
              <a:r>
                <a:rPr sz="1070" b="1" i="0">
                  <a:solidFill>
                    <a:srgbClr val="FFFFFF"/>
                  </a:solidFill>
                  <a:latin typeface="Arial"/>
                </a:rPr>
                <a:t>Duration</a:t>
              </a:r>
            </a:p>
          </p:txBody>
        </p:sp>
        <p:sp>
          <p:nvSpPr>
            <p:cNvPr id="185" name="Week 1 header fill"/>
            <p:cNvSpPr/>
            <p:nvPr/>
          </p:nvSpPr>
          <p:spPr>
            <a:xfrm>
              <a:off x="4016959" y="1618488"/>
              <a:ext cx="1944700" cy="338328"/>
            </a:xfrm>
            <a:prstGeom prst="rect">
              <a:avLst/>
            </a:prstGeom>
            <a:solidFill>
              <a:srgbClr val="223C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6" name="Week 1 title"/>
            <p:cNvSpPr txBox="1"/>
            <p:nvPr/>
          </p:nvSpPr>
          <p:spPr>
            <a:xfrm>
              <a:off x="4044391" y="1677924"/>
              <a:ext cx="1889836" cy="219456"/>
            </a:xfrm>
            <a:prstGeom prst="rect">
              <a:avLst/>
            </a:prstGeom>
            <a:noFill/>
            <a:effectLst/>
          </p:spPr>
          <p:txBody>
            <a:bodyPr wrap="square" lIns="0" tIns="0" rIns="0" bIns="0" anchor="ctr">
              <a:noAutofit/>
            </a:bodyPr>
            <a:lstStyle/>
            <a:p>
              <a:pPr algn="ctr">
                <a:lnSpc>
                  <a:spcPct val="103000"/>
                </a:lnSpc>
                <a:spcBef>
                  <a:spcPts val="0"/>
                </a:spcBef>
                <a:spcAft>
                  <a:spcPts val="0"/>
                </a:spcAft>
              </a:pPr>
              <a:r>
                <a:rPr sz="1120" b="1" i="0">
                  <a:solidFill>
                    <a:srgbClr val="FFFFFF"/>
                  </a:solidFill>
                  <a:latin typeface="Arial"/>
                </a:rPr>
                <a:t>Week 1 (Days 1–5)</a:t>
              </a:r>
            </a:p>
          </p:txBody>
        </p:sp>
        <p:sp>
          <p:nvSpPr>
            <p:cNvPr id="187" name="Week 1 day header fill"/>
            <p:cNvSpPr/>
            <p:nvPr/>
          </p:nvSpPr>
          <p:spPr>
            <a:xfrm>
              <a:off x="4016959" y="1956816"/>
              <a:ext cx="1944700" cy="265176"/>
            </a:xfrm>
            <a:prstGeom prst="rect">
              <a:avLst/>
            </a:prstGeom>
            <a:solidFill>
              <a:srgbClr val="EEF2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8" name="Week 2 header fill"/>
            <p:cNvSpPr/>
            <p:nvPr/>
          </p:nvSpPr>
          <p:spPr>
            <a:xfrm>
              <a:off x="5961659" y="1618488"/>
              <a:ext cx="1944700" cy="338328"/>
            </a:xfrm>
            <a:prstGeom prst="rect">
              <a:avLst/>
            </a:prstGeom>
            <a:solidFill>
              <a:srgbClr val="354B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9" name="Week 2 title"/>
            <p:cNvSpPr txBox="1"/>
            <p:nvPr/>
          </p:nvSpPr>
          <p:spPr>
            <a:xfrm>
              <a:off x="5989091" y="1677924"/>
              <a:ext cx="1889836" cy="219456"/>
            </a:xfrm>
            <a:prstGeom prst="rect">
              <a:avLst/>
            </a:prstGeom>
            <a:noFill/>
            <a:effectLst/>
          </p:spPr>
          <p:txBody>
            <a:bodyPr wrap="square" lIns="0" tIns="0" rIns="0" bIns="0" anchor="ctr">
              <a:noAutofit/>
            </a:bodyPr>
            <a:lstStyle/>
            <a:p>
              <a:pPr algn="ctr">
                <a:lnSpc>
                  <a:spcPct val="103000"/>
                </a:lnSpc>
                <a:spcBef>
                  <a:spcPts val="0"/>
                </a:spcBef>
                <a:spcAft>
                  <a:spcPts val="0"/>
                </a:spcAft>
              </a:pPr>
              <a:r>
                <a:rPr sz="1120" b="1" i="0">
                  <a:solidFill>
                    <a:srgbClr val="FFFFFF"/>
                  </a:solidFill>
                  <a:latin typeface="Arial"/>
                </a:rPr>
                <a:t>Week 2 (Days 6–10)</a:t>
              </a:r>
            </a:p>
          </p:txBody>
        </p:sp>
        <p:sp>
          <p:nvSpPr>
            <p:cNvPr id="190" name="Week 2 day header fill"/>
            <p:cNvSpPr/>
            <p:nvPr/>
          </p:nvSpPr>
          <p:spPr>
            <a:xfrm>
              <a:off x="5961659" y="1956816"/>
              <a:ext cx="1944700" cy="265176"/>
            </a:xfrm>
            <a:prstGeom prst="rect">
              <a:avLst/>
            </a:prstGeom>
            <a:solidFill>
              <a:srgbClr val="F4F6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1" name="Week 3 header fill"/>
            <p:cNvSpPr/>
            <p:nvPr/>
          </p:nvSpPr>
          <p:spPr>
            <a:xfrm>
              <a:off x="7906359" y="1618488"/>
              <a:ext cx="1944700" cy="338328"/>
            </a:xfrm>
            <a:prstGeom prst="rect">
              <a:avLst/>
            </a:prstGeom>
            <a:solidFill>
              <a:srgbClr val="6076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2" name="Week 3 title"/>
            <p:cNvSpPr txBox="1"/>
            <p:nvPr/>
          </p:nvSpPr>
          <p:spPr>
            <a:xfrm>
              <a:off x="7933791" y="1677924"/>
              <a:ext cx="1889836" cy="219456"/>
            </a:xfrm>
            <a:prstGeom prst="rect">
              <a:avLst/>
            </a:prstGeom>
            <a:noFill/>
            <a:effectLst/>
          </p:spPr>
          <p:txBody>
            <a:bodyPr wrap="square" lIns="0" tIns="0" rIns="0" bIns="0" anchor="ctr">
              <a:noAutofit/>
            </a:bodyPr>
            <a:lstStyle/>
            <a:p>
              <a:pPr algn="ctr">
                <a:lnSpc>
                  <a:spcPct val="103000"/>
                </a:lnSpc>
                <a:spcBef>
                  <a:spcPts val="0"/>
                </a:spcBef>
                <a:spcAft>
                  <a:spcPts val="0"/>
                </a:spcAft>
              </a:pPr>
              <a:r>
                <a:rPr sz="1120" b="1" i="0">
                  <a:solidFill>
                    <a:srgbClr val="FFFFFF"/>
                  </a:solidFill>
                  <a:latin typeface="Arial"/>
                </a:rPr>
                <a:t>Week 3 (Days 11–15)</a:t>
              </a:r>
            </a:p>
          </p:txBody>
        </p:sp>
        <p:sp>
          <p:nvSpPr>
            <p:cNvPr id="193" name="Week 3 day header fill"/>
            <p:cNvSpPr/>
            <p:nvPr/>
          </p:nvSpPr>
          <p:spPr>
            <a:xfrm>
              <a:off x="7906359" y="1956816"/>
              <a:ext cx="1944700" cy="265176"/>
            </a:xfrm>
            <a:prstGeom prst="rect">
              <a:avLst/>
            </a:prstGeom>
            <a:solidFill>
              <a:srgbClr val="EEF2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4" name="Week 4 header fill"/>
            <p:cNvSpPr/>
            <p:nvPr/>
          </p:nvSpPr>
          <p:spPr>
            <a:xfrm>
              <a:off x="9851059" y="1618488"/>
              <a:ext cx="1944700" cy="338328"/>
            </a:xfrm>
            <a:prstGeom prst="rect">
              <a:avLst/>
            </a:prstGeom>
            <a:solidFill>
              <a:srgbClr val="7B8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5" name="Week 4 title"/>
            <p:cNvSpPr txBox="1"/>
            <p:nvPr/>
          </p:nvSpPr>
          <p:spPr>
            <a:xfrm>
              <a:off x="9878491" y="1677924"/>
              <a:ext cx="1889836" cy="219456"/>
            </a:xfrm>
            <a:prstGeom prst="rect">
              <a:avLst/>
            </a:prstGeom>
            <a:noFill/>
            <a:effectLst/>
          </p:spPr>
          <p:txBody>
            <a:bodyPr wrap="square" lIns="0" tIns="0" rIns="0" bIns="0" anchor="ctr">
              <a:noAutofit/>
            </a:bodyPr>
            <a:lstStyle/>
            <a:p>
              <a:pPr algn="ctr">
                <a:lnSpc>
                  <a:spcPct val="103000"/>
                </a:lnSpc>
                <a:spcBef>
                  <a:spcPts val="0"/>
                </a:spcBef>
                <a:spcAft>
                  <a:spcPts val="0"/>
                </a:spcAft>
              </a:pPr>
              <a:r>
                <a:rPr sz="1120" b="1" i="0">
                  <a:solidFill>
                    <a:srgbClr val="FFFFFF"/>
                  </a:solidFill>
                  <a:latin typeface="Arial"/>
                </a:rPr>
                <a:t>Week 4 (Days 16–20)</a:t>
              </a:r>
            </a:p>
          </p:txBody>
        </p:sp>
        <p:sp>
          <p:nvSpPr>
            <p:cNvPr id="196" name="Week 4 day header fill"/>
            <p:cNvSpPr/>
            <p:nvPr/>
          </p:nvSpPr>
          <p:spPr>
            <a:xfrm>
              <a:off x="9851059" y="1956816"/>
              <a:ext cx="1944700" cy="265176"/>
            </a:xfrm>
            <a:prstGeom prst="rect">
              <a:avLst/>
            </a:prstGeom>
            <a:solidFill>
              <a:srgbClr val="F4F6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7" name="Working day 1"/>
            <p:cNvSpPr txBox="1"/>
            <p:nvPr/>
          </p:nvSpPr>
          <p:spPr>
            <a:xfrm>
              <a:off x="4016959" y="1988820"/>
              <a:ext cx="388940" cy="201168"/>
            </a:xfrm>
            <a:prstGeom prst="rect">
              <a:avLst/>
            </a:prstGeom>
            <a:noFill/>
            <a:effectLst/>
          </p:spPr>
          <p:txBody>
            <a:bodyPr wrap="square" lIns="0" tIns="0" rIns="0" bIns="0" anchor="ctr">
              <a:noAutofit/>
            </a:bodyPr>
            <a:lstStyle/>
            <a:p>
              <a:pPr algn="ctr">
                <a:lnSpc>
                  <a:spcPct val="103000"/>
                </a:lnSpc>
                <a:spcBef>
                  <a:spcPts val="0"/>
                </a:spcBef>
                <a:spcAft>
                  <a:spcPts val="0"/>
                </a:spcAft>
              </a:pPr>
              <a:r>
                <a:rPr sz="980" b="0" i="0">
                  <a:solidFill>
                    <a:srgbClr val="1D2357"/>
                  </a:solidFill>
                  <a:latin typeface="Arial"/>
                </a:rPr>
                <a:t>1</a:t>
              </a:r>
            </a:p>
          </p:txBody>
        </p:sp>
        <p:sp>
          <p:nvSpPr>
            <p:cNvPr id="198" name="Working day 2"/>
            <p:cNvSpPr txBox="1"/>
            <p:nvPr/>
          </p:nvSpPr>
          <p:spPr>
            <a:xfrm>
              <a:off x="4405899" y="1988820"/>
              <a:ext cx="388940" cy="201168"/>
            </a:xfrm>
            <a:prstGeom prst="rect">
              <a:avLst/>
            </a:prstGeom>
            <a:noFill/>
            <a:effectLst/>
          </p:spPr>
          <p:txBody>
            <a:bodyPr wrap="square" lIns="0" tIns="0" rIns="0" bIns="0" anchor="ctr">
              <a:noAutofit/>
            </a:bodyPr>
            <a:lstStyle/>
            <a:p>
              <a:pPr algn="ctr">
                <a:lnSpc>
                  <a:spcPct val="103000"/>
                </a:lnSpc>
                <a:spcBef>
                  <a:spcPts val="0"/>
                </a:spcBef>
                <a:spcAft>
                  <a:spcPts val="0"/>
                </a:spcAft>
              </a:pPr>
              <a:r>
                <a:rPr sz="980" b="0" i="0">
                  <a:solidFill>
                    <a:srgbClr val="1D2357"/>
                  </a:solidFill>
                  <a:latin typeface="Arial"/>
                </a:rPr>
                <a:t>2</a:t>
              </a:r>
            </a:p>
          </p:txBody>
        </p:sp>
        <p:sp>
          <p:nvSpPr>
            <p:cNvPr id="199" name="Working day 3"/>
            <p:cNvSpPr txBox="1"/>
            <p:nvPr/>
          </p:nvSpPr>
          <p:spPr>
            <a:xfrm>
              <a:off x="4794839" y="1988820"/>
              <a:ext cx="388940" cy="201168"/>
            </a:xfrm>
            <a:prstGeom prst="rect">
              <a:avLst/>
            </a:prstGeom>
            <a:noFill/>
            <a:effectLst/>
          </p:spPr>
          <p:txBody>
            <a:bodyPr wrap="square" lIns="0" tIns="0" rIns="0" bIns="0" anchor="ctr">
              <a:noAutofit/>
            </a:bodyPr>
            <a:lstStyle/>
            <a:p>
              <a:pPr algn="ctr">
                <a:lnSpc>
                  <a:spcPct val="103000"/>
                </a:lnSpc>
                <a:spcBef>
                  <a:spcPts val="0"/>
                </a:spcBef>
                <a:spcAft>
                  <a:spcPts val="0"/>
                </a:spcAft>
              </a:pPr>
              <a:r>
                <a:rPr sz="980" b="0" i="0">
                  <a:solidFill>
                    <a:srgbClr val="1D2357"/>
                  </a:solidFill>
                  <a:latin typeface="Arial"/>
                </a:rPr>
                <a:t>3</a:t>
              </a:r>
            </a:p>
          </p:txBody>
        </p:sp>
        <p:sp>
          <p:nvSpPr>
            <p:cNvPr id="200" name="Working day 4"/>
            <p:cNvSpPr txBox="1"/>
            <p:nvPr/>
          </p:nvSpPr>
          <p:spPr>
            <a:xfrm>
              <a:off x="5183779" y="1988820"/>
              <a:ext cx="388940" cy="201168"/>
            </a:xfrm>
            <a:prstGeom prst="rect">
              <a:avLst/>
            </a:prstGeom>
            <a:noFill/>
            <a:effectLst/>
          </p:spPr>
          <p:txBody>
            <a:bodyPr wrap="square" lIns="0" tIns="0" rIns="0" bIns="0" anchor="ctr">
              <a:noAutofit/>
            </a:bodyPr>
            <a:lstStyle/>
            <a:p>
              <a:pPr algn="ctr">
                <a:lnSpc>
                  <a:spcPct val="103000"/>
                </a:lnSpc>
                <a:spcBef>
                  <a:spcPts val="0"/>
                </a:spcBef>
                <a:spcAft>
                  <a:spcPts val="0"/>
                </a:spcAft>
              </a:pPr>
              <a:r>
                <a:rPr sz="980" b="0" i="0">
                  <a:solidFill>
                    <a:srgbClr val="1D2357"/>
                  </a:solidFill>
                  <a:latin typeface="Arial"/>
                </a:rPr>
                <a:t>4</a:t>
              </a:r>
            </a:p>
          </p:txBody>
        </p:sp>
        <p:sp>
          <p:nvSpPr>
            <p:cNvPr id="201" name="Working day 5"/>
            <p:cNvSpPr txBox="1"/>
            <p:nvPr/>
          </p:nvSpPr>
          <p:spPr>
            <a:xfrm>
              <a:off x="5572719" y="1988820"/>
              <a:ext cx="388940" cy="201168"/>
            </a:xfrm>
            <a:prstGeom prst="rect">
              <a:avLst/>
            </a:prstGeom>
            <a:noFill/>
            <a:effectLst/>
          </p:spPr>
          <p:txBody>
            <a:bodyPr wrap="square" lIns="0" tIns="0" rIns="0" bIns="0" anchor="ctr">
              <a:noAutofit/>
            </a:bodyPr>
            <a:lstStyle/>
            <a:p>
              <a:pPr algn="ctr">
                <a:lnSpc>
                  <a:spcPct val="103000"/>
                </a:lnSpc>
                <a:spcBef>
                  <a:spcPts val="0"/>
                </a:spcBef>
                <a:spcAft>
                  <a:spcPts val="0"/>
                </a:spcAft>
              </a:pPr>
              <a:r>
                <a:rPr sz="980" b="0" i="0">
                  <a:solidFill>
                    <a:srgbClr val="1D2357"/>
                  </a:solidFill>
                  <a:latin typeface="Arial"/>
                </a:rPr>
                <a:t>5</a:t>
              </a:r>
            </a:p>
          </p:txBody>
        </p:sp>
        <p:sp>
          <p:nvSpPr>
            <p:cNvPr id="202" name="Working day 6"/>
            <p:cNvSpPr txBox="1"/>
            <p:nvPr/>
          </p:nvSpPr>
          <p:spPr>
            <a:xfrm>
              <a:off x="5961659" y="1988820"/>
              <a:ext cx="388940" cy="201168"/>
            </a:xfrm>
            <a:prstGeom prst="rect">
              <a:avLst/>
            </a:prstGeom>
            <a:noFill/>
            <a:effectLst/>
          </p:spPr>
          <p:txBody>
            <a:bodyPr wrap="square" lIns="0" tIns="0" rIns="0" bIns="0" anchor="ctr">
              <a:noAutofit/>
            </a:bodyPr>
            <a:lstStyle/>
            <a:p>
              <a:pPr algn="ctr">
                <a:lnSpc>
                  <a:spcPct val="103000"/>
                </a:lnSpc>
                <a:spcBef>
                  <a:spcPts val="0"/>
                </a:spcBef>
                <a:spcAft>
                  <a:spcPts val="0"/>
                </a:spcAft>
              </a:pPr>
              <a:r>
                <a:rPr sz="980" b="0" i="0">
                  <a:solidFill>
                    <a:srgbClr val="1D2357"/>
                  </a:solidFill>
                  <a:latin typeface="Arial"/>
                </a:rPr>
                <a:t>6</a:t>
              </a:r>
            </a:p>
          </p:txBody>
        </p:sp>
        <p:sp>
          <p:nvSpPr>
            <p:cNvPr id="203" name="Working day 7"/>
            <p:cNvSpPr txBox="1"/>
            <p:nvPr/>
          </p:nvSpPr>
          <p:spPr>
            <a:xfrm>
              <a:off x="6350599" y="1988820"/>
              <a:ext cx="388940" cy="201168"/>
            </a:xfrm>
            <a:prstGeom prst="rect">
              <a:avLst/>
            </a:prstGeom>
            <a:noFill/>
            <a:effectLst/>
          </p:spPr>
          <p:txBody>
            <a:bodyPr wrap="square" lIns="0" tIns="0" rIns="0" bIns="0" anchor="ctr">
              <a:noAutofit/>
            </a:bodyPr>
            <a:lstStyle/>
            <a:p>
              <a:pPr algn="ctr">
                <a:lnSpc>
                  <a:spcPct val="103000"/>
                </a:lnSpc>
                <a:spcBef>
                  <a:spcPts val="0"/>
                </a:spcBef>
                <a:spcAft>
                  <a:spcPts val="0"/>
                </a:spcAft>
              </a:pPr>
              <a:r>
                <a:rPr sz="980" b="0" i="0">
                  <a:solidFill>
                    <a:srgbClr val="1D2357"/>
                  </a:solidFill>
                  <a:latin typeface="Arial"/>
                </a:rPr>
                <a:t>7</a:t>
              </a:r>
            </a:p>
          </p:txBody>
        </p:sp>
        <p:sp>
          <p:nvSpPr>
            <p:cNvPr id="204" name="Working day 8"/>
            <p:cNvSpPr txBox="1"/>
            <p:nvPr/>
          </p:nvSpPr>
          <p:spPr>
            <a:xfrm>
              <a:off x="6739539" y="1988820"/>
              <a:ext cx="388940" cy="201168"/>
            </a:xfrm>
            <a:prstGeom prst="rect">
              <a:avLst/>
            </a:prstGeom>
            <a:noFill/>
            <a:effectLst/>
          </p:spPr>
          <p:txBody>
            <a:bodyPr wrap="square" lIns="0" tIns="0" rIns="0" bIns="0" anchor="ctr">
              <a:noAutofit/>
            </a:bodyPr>
            <a:lstStyle/>
            <a:p>
              <a:pPr algn="ctr">
                <a:lnSpc>
                  <a:spcPct val="103000"/>
                </a:lnSpc>
                <a:spcBef>
                  <a:spcPts val="0"/>
                </a:spcBef>
                <a:spcAft>
                  <a:spcPts val="0"/>
                </a:spcAft>
              </a:pPr>
              <a:r>
                <a:rPr sz="980" b="0" i="0">
                  <a:solidFill>
                    <a:srgbClr val="1D2357"/>
                  </a:solidFill>
                  <a:latin typeface="Arial"/>
                </a:rPr>
                <a:t>8</a:t>
              </a:r>
            </a:p>
          </p:txBody>
        </p:sp>
        <p:sp>
          <p:nvSpPr>
            <p:cNvPr id="205" name="Working day 9"/>
            <p:cNvSpPr txBox="1"/>
            <p:nvPr/>
          </p:nvSpPr>
          <p:spPr>
            <a:xfrm>
              <a:off x="7128479" y="1988820"/>
              <a:ext cx="388940" cy="201168"/>
            </a:xfrm>
            <a:prstGeom prst="rect">
              <a:avLst/>
            </a:prstGeom>
            <a:noFill/>
            <a:effectLst/>
          </p:spPr>
          <p:txBody>
            <a:bodyPr wrap="square" lIns="0" tIns="0" rIns="0" bIns="0" anchor="ctr">
              <a:noAutofit/>
            </a:bodyPr>
            <a:lstStyle/>
            <a:p>
              <a:pPr algn="ctr">
                <a:lnSpc>
                  <a:spcPct val="103000"/>
                </a:lnSpc>
                <a:spcBef>
                  <a:spcPts val="0"/>
                </a:spcBef>
                <a:spcAft>
                  <a:spcPts val="0"/>
                </a:spcAft>
              </a:pPr>
              <a:r>
                <a:rPr sz="980" b="0" i="0">
                  <a:solidFill>
                    <a:srgbClr val="1D2357"/>
                  </a:solidFill>
                  <a:latin typeface="Arial"/>
                </a:rPr>
                <a:t>9</a:t>
              </a:r>
            </a:p>
          </p:txBody>
        </p:sp>
        <p:sp>
          <p:nvSpPr>
            <p:cNvPr id="206" name="Working day 10"/>
            <p:cNvSpPr txBox="1"/>
            <p:nvPr/>
          </p:nvSpPr>
          <p:spPr>
            <a:xfrm>
              <a:off x="7517419" y="1988820"/>
              <a:ext cx="388940" cy="201168"/>
            </a:xfrm>
            <a:prstGeom prst="rect">
              <a:avLst/>
            </a:prstGeom>
            <a:noFill/>
            <a:effectLst/>
          </p:spPr>
          <p:txBody>
            <a:bodyPr wrap="square" lIns="0" tIns="0" rIns="0" bIns="0" anchor="ctr">
              <a:noAutofit/>
            </a:bodyPr>
            <a:lstStyle/>
            <a:p>
              <a:pPr algn="ctr">
                <a:lnSpc>
                  <a:spcPct val="103000"/>
                </a:lnSpc>
                <a:spcBef>
                  <a:spcPts val="0"/>
                </a:spcBef>
                <a:spcAft>
                  <a:spcPts val="0"/>
                </a:spcAft>
              </a:pPr>
              <a:r>
                <a:rPr sz="980" b="0" i="0">
                  <a:solidFill>
                    <a:srgbClr val="1D2357"/>
                  </a:solidFill>
                  <a:latin typeface="Arial"/>
                </a:rPr>
                <a:t>10</a:t>
              </a:r>
            </a:p>
          </p:txBody>
        </p:sp>
        <p:sp>
          <p:nvSpPr>
            <p:cNvPr id="207" name="Working day 11"/>
            <p:cNvSpPr txBox="1"/>
            <p:nvPr/>
          </p:nvSpPr>
          <p:spPr>
            <a:xfrm>
              <a:off x="7906359" y="1988820"/>
              <a:ext cx="388940" cy="201168"/>
            </a:xfrm>
            <a:prstGeom prst="rect">
              <a:avLst/>
            </a:prstGeom>
            <a:noFill/>
            <a:effectLst/>
          </p:spPr>
          <p:txBody>
            <a:bodyPr wrap="square" lIns="0" tIns="0" rIns="0" bIns="0" anchor="ctr">
              <a:noAutofit/>
            </a:bodyPr>
            <a:lstStyle/>
            <a:p>
              <a:pPr algn="ctr">
                <a:lnSpc>
                  <a:spcPct val="103000"/>
                </a:lnSpc>
                <a:spcBef>
                  <a:spcPts val="0"/>
                </a:spcBef>
                <a:spcAft>
                  <a:spcPts val="0"/>
                </a:spcAft>
              </a:pPr>
              <a:r>
                <a:rPr sz="980" b="0" i="0">
                  <a:solidFill>
                    <a:srgbClr val="1D2357"/>
                  </a:solidFill>
                  <a:latin typeface="Arial"/>
                </a:rPr>
                <a:t>11</a:t>
              </a:r>
            </a:p>
          </p:txBody>
        </p:sp>
        <p:sp>
          <p:nvSpPr>
            <p:cNvPr id="208" name="Working day 12"/>
            <p:cNvSpPr txBox="1"/>
            <p:nvPr/>
          </p:nvSpPr>
          <p:spPr>
            <a:xfrm>
              <a:off x="8295299" y="1988820"/>
              <a:ext cx="388940" cy="201168"/>
            </a:xfrm>
            <a:prstGeom prst="rect">
              <a:avLst/>
            </a:prstGeom>
            <a:noFill/>
            <a:effectLst/>
          </p:spPr>
          <p:txBody>
            <a:bodyPr wrap="square" lIns="0" tIns="0" rIns="0" bIns="0" anchor="ctr">
              <a:noAutofit/>
            </a:bodyPr>
            <a:lstStyle/>
            <a:p>
              <a:pPr algn="ctr">
                <a:lnSpc>
                  <a:spcPct val="103000"/>
                </a:lnSpc>
                <a:spcBef>
                  <a:spcPts val="0"/>
                </a:spcBef>
                <a:spcAft>
                  <a:spcPts val="0"/>
                </a:spcAft>
              </a:pPr>
              <a:r>
                <a:rPr sz="980" b="0" i="0">
                  <a:solidFill>
                    <a:srgbClr val="1D2357"/>
                  </a:solidFill>
                  <a:latin typeface="Arial"/>
                </a:rPr>
                <a:t>12</a:t>
              </a:r>
            </a:p>
          </p:txBody>
        </p:sp>
        <p:sp>
          <p:nvSpPr>
            <p:cNvPr id="209" name="Working day 13"/>
            <p:cNvSpPr txBox="1"/>
            <p:nvPr/>
          </p:nvSpPr>
          <p:spPr>
            <a:xfrm>
              <a:off x="8684239" y="1988820"/>
              <a:ext cx="388940" cy="201168"/>
            </a:xfrm>
            <a:prstGeom prst="rect">
              <a:avLst/>
            </a:prstGeom>
            <a:noFill/>
            <a:effectLst/>
          </p:spPr>
          <p:txBody>
            <a:bodyPr wrap="square" lIns="0" tIns="0" rIns="0" bIns="0" anchor="ctr">
              <a:noAutofit/>
            </a:bodyPr>
            <a:lstStyle/>
            <a:p>
              <a:pPr algn="ctr">
                <a:lnSpc>
                  <a:spcPct val="103000"/>
                </a:lnSpc>
                <a:spcBef>
                  <a:spcPts val="0"/>
                </a:spcBef>
                <a:spcAft>
                  <a:spcPts val="0"/>
                </a:spcAft>
              </a:pPr>
              <a:r>
                <a:rPr sz="980" b="0" i="0">
                  <a:solidFill>
                    <a:srgbClr val="1D2357"/>
                  </a:solidFill>
                  <a:latin typeface="Arial"/>
                </a:rPr>
                <a:t>13</a:t>
              </a:r>
            </a:p>
          </p:txBody>
        </p:sp>
        <p:sp>
          <p:nvSpPr>
            <p:cNvPr id="210" name="Working day 14"/>
            <p:cNvSpPr txBox="1"/>
            <p:nvPr/>
          </p:nvSpPr>
          <p:spPr>
            <a:xfrm>
              <a:off x="9073179" y="1988820"/>
              <a:ext cx="388940" cy="201168"/>
            </a:xfrm>
            <a:prstGeom prst="rect">
              <a:avLst/>
            </a:prstGeom>
            <a:noFill/>
            <a:effectLst/>
          </p:spPr>
          <p:txBody>
            <a:bodyPr wrap="square" lIns="0" tIns="0" rIns="0" bIns="0" anchor="ctr">
              <a:noAutofit/>
            </a:bodyPr>
            <a:lstStyle/>
            <a:p>
              <a:pPr algn="ctr">
                <a:lnSpc>
                  <a:spcPct val="103000"/>
                </a:lnSpc>
                <a:spcBef>
                  <a:spcPts val="0"/>
                </a:spcBef>
                <a:spcAft>
                  <a:spcPts val="0"/>
                </a:spcAft>
              </a:pPr>
              <a:r>
                <a:rPr sz="980" b="0" i="0">
                  <a:solidFill>
                    <a:srgbClr val="1D2357"/>
                  </a:solidFill>
                  <a:latin typeface="Arial"/>
                </a:rPr>
                <a:t>14</a:t>
              </a:r>
            </a:p>
          </p:txBody>
        </p:sp>
        <p:sp>
          <p:nvSpPr>
            <p:cNvPr id="211" name="Working day 15"/>
            <p:cNvSpPr txBox="1"/>
            <p:nvPr/>
          </p:nvSpPr>
          <p:spPr>
            <a:xfrm>
              <a:off x="9462119" y="1988820"/>
              <a:ext cx="388940" cy="201168"/>
            </a:xfrm>
            <a:prstGeom prst="rect">
              <a:avLst/>
            </a:prstGeom>
            <a:noFill/>
            <a:effectLst/>
          </p:spPr>
          <p:txBody>
            <a:bodyPr wrap="square" lIns="0" tIns="0" rIns="0" bIns="0" anchor="ctr">
              <a:noAutofit/>
            </a:bodyPr>
            <a:lstStyle/>
            <a:p>
              <a:pPr algn="ctr">
                <a:lnSpc>
                  <a:spcPct val="103000"/>
                </a:lnSpc>
                <a:spcBef>
                  <a:spcPts val="0"/>
                </a:spcBef>
                <a:spcAft>
                  <a:spcPts val="0"/>
                </a:spcAft>
              </a:pPr>
              <a:r>
                <a:rPr sz="980" b="0" i="0">
                  <a:solidFill>
                    <a:srgbClr val="1D2357"/>
                  </a:solidFill>
                  <a:latin typeface="Arial"/>
                </a:rPr>
                <a:t>15</a:t>
              </a:r>
            </a:p>
          </p:txBody>
        </p:sp>
        <p:sp>
          <p:nvSpPr>
            <p:cNvPr id="212" name="Working day 16"/>
            <p:cNvSpPr txBox="1"/>
            <p:nvPr/>
          </p:nvSpPr>
          <p:spPr>
            <a:xfrm>
              <a:off x="9851059" y="1988820"/>
              <a:ext cx="388940" cy="201168"/>
            </a:xfrm>
            <a:prstGeom prst="rect">
              <a:avLst/>
            </a:prstGeom>
            <a:noFill/>
            <a:effectLst/>
          </p:spPr>
          <p:txBody>
            <a:bodyPr wrap="square" lIns="0" tIns="0" rIns="0" bIns="0" anchor="ctr">
              <a:noAutofit/>
            </a:bodyPr>
            <a:lstStyle/>
            <a:p>
              <a:pPr algn="ctr">
                <a:lnSpc>
                  <a:spcPct val="103000"/>
                </a:lnSpc>
                <a:spcBef>
                  <a:spcPts val="0"/>
                </a:spcBef>
                <a:spcAft>
                  <a:spcPts val="0"/>
                </a:spcAft>
              </a:pPr>
              <a:r>
                <a:rPr sz="980" b="0" i="0">
                  <a:solidFill>
                    <a:srgbClr val="1D2357"/>
                  </a:solidFill>
                  <a:latin typeface="Arial"/>
                </a:rPr>
                <a:t>16</a:t>
              </a:r>
            </a:p>
          </p:txBody>
        </p:sp>
        <p:sp>
          <p:nvSpPr>
            <p:cNvPr id="213" name="Working day 17"/>
            <p:cNvSpPr txBox="1"/>
            <p:nvPr/>
          </p:nvSpPr>
          <p:spPr>
            <a:xfrm>
              <a:off x="10239999" y="1988820"/>
              <a:ext cx="388940" cy="201168"/>
            </a:xfrm>
            <a:prstGeom prst="rect">
              <a:avLst/>
            </a:prstGeom>
            <a:noFill/>
            <a:effectLst/>
          </p:spPr>
          <p:txBody>
            <a:bodyPr wrap="square" lIns="0" tIns="0" rIns="0" bIns="0" anchor="ctr">
              <a:noAutofit/>
            </a:bodyPr>
            <a:lstStyle/>
            <a:p>
              <a:pPr algn="ctr">
                <a:lnSpc>
                  <a:spcPct val="103000"/>
                </a:lnSpc>
                <a:spcBef>
                  <a:spcPts val="0"/>
                </a:spcBef>
                <a:spcAft>
                  <a:spcPts val="0"/>
                </a:spcAft>
              </a:pPr>
              <a:r>
                <a:rPr sz="980" b="0" i="0">
                  <a:solidFill>
                    <a:srgbClr val="1D2357"/>
                  </a:solidFill>
                  <a:latin typeface="Arial"/>
                </a:rPr>
                <a:t>17</a:t>
              </a:r>
            </a:p>
          </p:txBody>
        </p:sp>
        <p:sp>
          <p:nvSpPr>
            <p:cNvPr id="214" name="Working day 18"/>
            <p:cNvSpPr txBox="1"/>
            <p:nvPr/>
          </p:nvSpPr>
          <p:spPr>
            <a:xfrm>
              <a:off x="10628939" y="1988820"/>
              <a:ext cx="388940" cy="201168"/>
            </a:xfrm>
            <a:prstGeom prst="rect">
              <a:avLst/>
            </a:prstGeom>
            <a:noFill/>
            <a:effectLst/>
          </p:spPr>
          <p:txBody>
            <a:bodyPr wrap="square" lIns="0" tIns="0" rIns="0" bIns="0" anchor="ctr">
              <a:noAutofit/>
            </a:bodyPr>
            <a:lstStyle/>
            <a:p>
              <a:pPr algn="ctr">
                <a:lnSpc>
                  <a:spcPct val="103000"/>
                </a:lnSpc>
                <a:spcBef>
                  <a:spcPts val="0"/>
                </a:spcBef>
                <a:spcAft>
                  <a:spcPts val="0"/>
                </a:spcAft>
              </a:pPr>
              <a:r>
                <a:rPr sz="980" b="0" i="0">
                  <a:solidFill>
                    <a:srgbClr val="1D2357"/>
                  </a:solidFill>
                  <a:latin typeface="Arial"/>
                </a:rPr>
                <a:t>18</a:t>
              </a:r>
            </a:p>
          </p:txBody>
        </p:sp>
        <p:sp>
          <p:nvSpPr>
            <p:cNvPr id="215" name="Working day 19"/>
            <p:cNvSpPr txBox="1"/>
            <p:nvPr/>
          </p:nvSpPr>
          <p:spPr>
            <a:xfrm>
              <a:off x="11017879" y="1988820"/>
              <a:ext cx="388940" cy="201168"/>
            </a:xfrm>
            <a:prstGeom prst="rect">
              <a:avLst/>
            </a:prstGeom>
            <a:noFill/>
            <a:effectLst/>
          </p:spPr>
          <p:txBody>
            <a:bodyPr wrap="square" lIns="0" tIns="0" rIns="0" bIns="0" anchor="ctr">
              <a:noAutofit/>
            </a:bodyPr>
            <a:lstStyle/>
            <a:p>
              <a:pPr algn="ctr">
                <a:lnSpc>
                  <a:spcPct val="103000"/>
                </a:lnSpc>
                <a:spcBef>
                  <a:spcPts val="0"/>
                </a:spcBef>
                <a:spcAft>
                  <a:spcPts val="0"/>
                </a:spcAft>
              </a:pPr>
              <a:r>
                <a:rPr sz="980" b="0" i="0">
                  <a:solidFill>
                    <a:srgbClr val="1D2357"/>
                  </a:solidFill>
                  <a:latin typeface="Arial"/>
                </a:rPr>
                <a:t>19</a:t>
              </a:r>
            </a:p>
          </p:txBody>
        </p:sp>
        <p:sp>
          <p:nvSpPr>
            <p:cNvPr id="216" name="Working day 20"/>
            <p:cNvSpPr txBox="1"/>
            <p:nvPr/>
          </p:nvSpPr>
          <p:spPr>
            <a:xfrm>
              <a:off x="11406819" y="1988820"/>
              <a:ext cx="388940" cy="201168"/>
            </a:xfrm>
            <a:prstGeom prst="rect">
              <a:avLst/>
            </a:prstGeom>
            <a:noFill/>
            <a:effectLst/>
          </p:spPr>
          <p:txBody>
            <a:bodyPr wrap="square" lIns="0" tIns="0" rIns="0" bIns="0" anchor="ctr">
              <a:noAutofit/>
            </a:bodyPr>
            <a:lstStyle/>
            <a:p>
              <a:pPr algn="ctr">
                <a:lnSpc>
                  <a:spcPct val="103000"/>
                </a:lnSpc>
                <a:spcBef>
                  <a:spcPts val="0"/>
                </a:spcBef>
                <a:spcAft>
                  <a:spcPts val="0"/>
                </a:spcAft>
              </a:pPr>
              <a:r>
                <a:rPr sz="980" b="0" i="0">
                  <a:solidFill>
                    <a:srgbClr val="1D2357"/>
                  </a:solidFill>
                  <a:latin typeface="Arial"/>
                </a:rPr>
                <a:t>20</a:t>
              </a:r>
            </a:p>
          </p:txBody>
        </p:sp>
        <p:cxnSp>
          <p:nvCxnSpPr>
            <p:cNvPr id="217" name="Day 1 boundary"/>
            <p:cNvCxnSpPr/>
            <p:nvPr/>
          </p:nvCxnSpPr>
          <p:spPr>
            <a:xfrm>
              <a:off x="4405899" y="1956816"/>
              <a:ext cx="0" cy="2825496"/>
            </a:xfrm>
            <a:prstGeom prst="line">
              <a:avLst/>
            </a:prstGeom>
            <a:ln w="4191">
              <a:solidFill>
                <a:srgbClr val="E3E8F1"/>
              </a:solidFill>
            </a:ln>
            <a:effectLst/>
          </p:spPr>
          <p:style>
            <a:lnRef idx="2">
              <a:schemeClr val="accent1"/>
            </a:lnRef>
            <a:fillRef idx="0">
              <a:schemeClr val="accent1"/>
            </a:fillRef>
            <a:effectRef idx="0">
              <a:schemeClr val="accent1"/>
            </a:effectRef>
            <a:fontRef idx="minor">
              <a:schemeClr val="tx1"/>
            </a:fontRef>
          </p:style>
        </p:cxnSp>
        <p:cxnSp>
          <p:nvCxnSpPr>
            <p:cNvPr id="218" name="Day 2 boundary"/>
            <p:cNvCxnSpPr/>
            <p:nvPr/>
          </p:nvCxnSpPr>
          <p:spPr>
            <a:xfrm>
              <a:off x="4794839" y="1956816"/>
              <a:ext cx="0" cy="2825496"/>
            </a:xfrm>
            <a:prstGeom prst="line">
              <a:avLst/>
            </a:prstGeom>
            <a:ln w="4191">
              <a:solidFill>
                <a:srgbClr val="E3E8F1"/>
              </a:solidFill>
            </a:ln>
            <a:effectLst/>
          </p:spPr>
          <p:style>
            <a:lnRef idx="2">
              <a:schemeClr val="accent1"/>
            </a:lnRef>
            <a:fillRef idx="0">
              <a:schemeClr val="accent1"/>
            </a:fillRef>
            <a:effectRef idx="0">
              <a:schemeClr val="accent1"/>
            </a:effectRef>
            <a:fontRef idx="minor">
              <a:schemeClr val="tx1"/>
            </a:fontRef>
          </p:style>
        </p:cxnSp>
        <p:cxnSp>
          <p:nvCxnSpPr>
            <p:cNvPr id="219" name="Day 3 boundary"/>
            <p:cNvCxnSpPr/>
            <p:nvPr/>
          </p:nvCxnSpPr>
          <p:spPr>
            <a:xfrm>
              <a:off x="5183779" y="1956816"/>
              <a:ext cx="0" cy="2825496"/>
            </a:xfrm>
            <a:prstGeom prst="line">
              <a:avLst/>
            </a:prstGeom>
            <a:ln w="4191">
              <a:solidFill>
                <a:srgbClr val="E3E8F1"/>
              </a:solidFill>
            </a:ln>
            <a:effectLst/>
          </p:spPr>
          <p:style>
            <a:lnRef idx="2">
              <a:schemeClr val="accent1"/>
            </a:lnRef>
            <a:fillRef idx="0">
              <a:schemeClr val="accent1"/>
            </a:fillRef>
            <a:effectRef idx="0">
              <a:schemeClr val="accent1"/>
            </a:effectRef>
            <a:fontRef idx="minor">
              <a:schemeClr val="tx1"/>
            </a:fontRef>
          </p:style>
        </p:cxnSp>
        <p:cxnSp>
          <p:nvCxnSpPr>
            <p:cNvPr id="220" name="Day 4 boundary"/>
            <p:cNvCxnSpPr/>
            <p:nvPr/>
          </p:nvCxnSpPr>
          <p:spPr>
            <a:xfrm>
              <a:off x="5572719" y="1956816"/>
              <a:ext cx="0" cy="2825496"/>
            </a:xfrm>
            <a:prstGeom prst="line">
              <a:avLst/>
            </a:prstGeom>
            <a:ln w="4191">
              <a:solidFill>
                <a:srgbClr val="E3E8F1"/>
              </a:solidFill>
            </a:ln>
            <a:effectLst/>
          </p:spPr>
          <p:style>
            <a:lnRef idx="2">
              <a:schemeClr val="accent1"/>
            </a:lnRef>
            <a:fillRef idx="0">
              <a:schemeClr val="accent1"/>
            </a:fillRef>
            <a:effectRef idx="0">
              <a:schemeClr val="accent1"/>
            </a:effectRef>
            <a:fontRef idx="minor">
              <a:schemeClr val="tx1"/>
            </a:fontRef>
          </p:style>
        </p:cxnSp>
        <p:cxnSp>
          <p:nvCxnSpPr>
            <p:cNvPr id="221" name="Day 5 boundary"/>
            <p:cNvCxnSpPr/>
            <p:nvPr/>
          </p:nvCxnSpPr>
          <p:spPr>
            <a:xfrm>
              <a:off x="5961659" y="1618488"/>
              <a:ext cx="0" cy="3163824"/>
            </a:xfrm>
            <a:prstGeom prst="line">
              <a:avLst/>
            </a:prstGeom>
            <a:ln w="10795">
              <a:solidFill>
                <a:srgbClr val="C6D0E2"/>
              </a:solidFill>
            </a:ln>
            <a:effectLst/>
          </p:spPr>
          <p:style>
            <a:lnRef idx="2">
              <a:schemeClr val="accent1"/>
            </a:lnRef>
            <a:fillRef idx="0">
              <a:schemeClr val="accent1"/>
            </a:fillRef>
            <a:effectRef idx="0">
              <a:schemeClr val="accent1"/>
            </a:effectRef>
            <a:fontRef idx="minor">
              <a:schemeClr val="tx1"/>
            </a:fontRef>
          </p:style>
        </p:cxnSp>
        <p:cxnSp>
          <p:nvCxnSpPr>
            <p:cNvPr id="222" name="Day 6 boundary"/>
            <p:cNvCxnSpPr/>
            <p:nvPr/>
          </p:nvCxnSpPr>
          <p:spPr>
            <a:xfrm>
              <a:off x="6350599" y="1956816"/>
              <a:ext cx="0" cy="2825496"/>
            </a:xfrm>
            <a:prstGeom prst="line">
              <a:avLst/>
            </a:prstGeom>
            <a:ln w="4191">
              <a:solidFill>
                <a:srgbClr val="E3E8F1"/>
              </a:solidFill>
            </a:ln>
            <a:effectLst/>
          </p:spPr>
          <p:style>
            <a:lnRef idx="2">
              <a:schemeClr val="accent1"/>
            </a:lnRef>
            <a:fillRef idx="0">
              <a:schemeClr val="accent1"/>
            </a:fillRef>
            <a:effectRef idx="0">
              <a:schemeClr val="accent1"/>
            </a:effectRef>
            <a:fontRef idx="minor">
              <a:schemeClr val="tx1"/>
            </a:fontRef>
          </p:style>
        </p:cxnSp>
        <p:cxnSp>
          <p:nvCxnSpPr>
            <p:cNvPr id="223" name="Day 7 boundary"/>
            <p:cNvCxnSpPr/>
            <p:nvPr/>
          </p:nvCxnSpPr>
          <p:spPr>
            <a:xfrm>
              <a:off x="6739539" y="1956816"/>
              <a:ext cx="0" cy="2825496"/>
            </a:xfrm>
            <a:prstGeom prst="line">
              <a:avLst/>
            </a:prstGeom>
            <a:ln w="4191">
              <a:solidFill>
                <a:srgbClr val="E3E8F1"/>
              </a:solidFill>
            </a:ln>
            <a:effectLst/>
          </p:spPr>
          <p:style>
            <a:lnRef idx="2">
              <a:schemeClr val="accent1"/>
            </a:lnRef>
            <a:fillRef idx="0">
              <a:schemeClr val="accent1"/>
            </a:fillRef>
            <a:effectRef idx="0">
              <a:schemeClr val="accent1"/>
            </a:effectRef>
            <a:fontRef idx="minor">
              <a:schemeClr val="tx1"/>
            </a:fontRef>
          </p:style>
        </p:cxnSp>
        <p:cxnSp>
          <p:nvCxnSpPr>
            <p:cNvPr id="224" name="Day 8 boundary"/>
            <p:cNvCxnSpPr/>
            <p:nvPr/>
          </p:nvCxnSpPr>
          <p:spPr>
            <a:xfrm>
              <a:off x="7128479" y="1956816"/>
              <a:ext cx="0" cy="2825496"/>
            </a:xfrm>
            <a:prstGeom prst="line">
              <a:avLst/>
            </a:prstGeom>
            <a:ln w="4191">
              <a:solidFill>
                <a:srgbClr val="E3E8F1"/>
              </a:solidFill>
            </a:ln>
            <a:effectLst/>
          </p:spPr>
          <p:style>
            <a:lnRef idx="2">
              <a:schemeClr val="accent1"/>
            </a:lnRef>
            <a:fillRef idx="0">
              <a:schemeClr val="accent1"/>
            </a:fillRef>
            <a:effectRef idx="0">
              <a:schemeClr val="accent1"/>
            </a:effectRef>
            <a:fontRef idx="minor">
              <a:schemeClr val="tx1"/>
            </a:fontRef>
          </p:style>
        </p:cxnSp>
        <p:cxnSp>
          <p:nvCxnSpPr>
            <p:cNvPr id="225" name="Day 9 boundary"/>
            <p:cNvCxnSpPr/>
            <p:nvPr/>
          </p:nvCxnSpPr>
          <p:spPr>
            <a:xfrm>
              <a:off x="7517419" y="1956816"/>
              <a:ext cx="0" cy="2825496"/>
            </a:xfrm>
            <a:prstGeom prst="line">
              <a:avLst/>
            </a:prstGeom>
            <a:ln w="4191">
              <a:solidFill>
                <a:srgbClr val="E3E8F1"/>
              </a:solidFill>
            </a:ln>
            <a:effectLst/>
          </p:spPr>
          <p:style>
            <a:lnRef idx="2">
              <a:schemeClr val="accent1"/>
            </a:lnRef>
            <a:fillRef idx="0">
              <a:schemeClr val="accent1"/>
            </a:fillRef>
            <a:effectRef idx="0">
              <a:schemeClr val="accent1"/>
            </a:effectRef>
            <a:fontRef idx="minor">
              <a:schemeClr val="tx1"/>
            </a:fontRef>
          </p:style>
        </p:cxnSp>
        <p:cxnSp>
          <p:nvCxnSpPr>
            <p:cNvPr id="226" name="Day 10 boundary"/>
            <p:cNvCxnSpPr/>
            <p:nvPr/>
          </p:nvCxnSpPr>
          <p:spPr>
            <a:xfrm>
              <a:off x="7906359" y="1618488"/>
              <a:ext cx="0" cy="3163824"/>
            </a:xfrm>
            <a:prstGeom prst="line">
              <a:avLst/>
            </a:prstGeom>
            <a:ln w="10795">
              <a:solidFill>
                <a:srgbClr val="C6D0E2"/>
              </a:solidFill>
            </a:ln>
            <a:effectLst/>
          </p:spPr>
          <p:style>
            <a:lnRef idx="2">
              <a:schemeClr val="accent1"/>
            </a:lnRef>
            <a:fillRef idx="0">
              <a:schemeClr val="accent1"/>
            </a:fillRef>
            <a:effectRef idx="0">
              <a:schemeClr val="accent1"/>
            </a:effectRef>
            <a:fontRef idx="minor">
              <a:schemeClr val="tx1"/>
            </a:fontRef>
          </p:style>
        </p:cxnSp>
        <p:cxnSp>
          <p:nvCxnSpPr>
            <p:cNvPr id="227" name="Day 11 boundary"/>
            <p:cNvCxnSpPr/>
            <p:nvPr/>
          </p:nvCxnSpPr>
          <p:spPr>
            <a:xfrm>
              <a:off x="8295299" y="1956816"/>
              <a:ext cx="0" cy="2825496"/>
            </a:xfrm>
            <a:prstGeom prst="line">
              <a:avLst/>
            </a:prstGeom>
            <a:ln w="4191">
              <a:solidFill>
                <a:srgbClr val="E3E8F1"/>
              </a:solidFill>
            </a:ln>
            <a:effectLst/>
          </p:spPr>
          <p:style>
            <a:lnRef idx="2">
              <a:schemeClr val="accent1"/>
            </a:lnRef>
            <a:fillRef idx="0">
              <a:schemeClr val="accent1"/>
            </a:fillRef>
            <a:effectRef idx="0">
              <a:schemeClr val="accent1"/>
            </a:effectRef>
            <a:fontRef idx="minor">
              <a:schemeClr val="tx1"/>
            </a:fontRef>
          </p:style>
        </p:cxnSp>
        <p:cxnSp>
          <p:nvCxnSpPr>
            <p:cNvPr id="228" name="Day 12 boundary"/>
            <p:cNvCxnSpPr/>
            <p:nvPr/>
          </p:nvCxnSpPr>
          <p:spPr>
            <a:xfrm>
              <a:off x="8684239" y="1956816"/>
              <a:ext cx="0" cy="2825496"/>
            </a:xfrm>
            <a:prstGeom prst="line">
              <a:avLst/>
            </a:prstGeom>
            <a:ln w="4191">
              <a:solidFill>
                <a:srgbClr val="E3E8F1"/>
              </a:solidFill>
            </a:ln>
            <a:effectLst/>
          </p:spPr>
          <p:style>
            <a:lnRef idx="2">
              <a:schemeClr val="accent1"/>
            </a:lnRef>
            <a:fillRef idx="0">
              <a:schemeClr val="accent1"/>
            </a:fillRef>
            <a:effectRef idx="0">
              <a:schemeClr val="accent1"/>
            </a:effectRef>
            <a:fontRef idx="minor">
              <a:schemeClr val="tx1"/>
            </a:fontRef>
          </p:style>
        </p:cxnSp>
        <p:cxnSp>
          <p:nvCxnSpPr>
            <p:cNvPr id="229" name="Day 13 boundary"/>
            <p:cNvCxnSpPr/>
            <p:nvPr/>
          </p:nvCxnSpPr>
          <p:spPr>
            <a:xfrm>
              <a:off x="9073179" y="1956816"/>
              <a:ext cx="0" cy="2825496"/>
            </a:xfrm>
            <a:prstGeom prst="line">
              <a:avLst/>
            </a:prstGeom>
            <a:ln w="4191">
              <a:solidFill>
                <a:srgbClr val="E3E8F1"/>
              </a:solidFill>
            </a:ln>
            <a:effectLst/>
          </p:spPr>
          <p:style>
            <a:lnRef idx="2">
              <a:schemeClr val="accent1"/>
            </a:lnRef>
            <a:fillRef idx="0">
              <a:schemeClr val="accent1"/>
            </a:fillRef>
            <a:effectRef idx="0">
              <a:schemeClr val="accent1"/>
            </a:effectRef>
            <a:fontRef idx="minor">
              <a:schemeClr val="tx1"/>
            </a:fontRef>
          </p:style>
        </p:cxnSp>
        <p:cxnSp>
          <p:nvCxnSpPr>
            <p:cNvPr id="230" name="Day 14 boundary"/>
            <p:cNvCxnSpPr/>
            <p:nvPr/>
          </p:nvCxnSpPr>
          <p:spPr>
            <a:xfrm>
              <a:off x="9462119" y="1956816"/>
              <a:ext cx="0" cy="2825496"/>
            </a:xfrm>
            <a:prstGeom prst="line">
              <a:avLst/>
            </a:prstGeom>
            <a:ln w="4191">
              <a:solidFill>
                <a:srgbClr val="E3E8F1"/>
              </a:solidFill>
            </a:ln>
            <a:effectLst/>
          </p:spPr>
          <p:style>
            <a:lnRef idx="2">
              <a:schemeClr val="accent1"/>
            </a:lnRef>
            <a:fillRef idx="0">
              <a:schemeClr val="accent1"/>
            </a:fillRef>
            <a:effectRef idx="0">
              <a:schemeClr val="accent1"/>
            </a:effectRef>
            <a:fontRef idx="minor">
              <a:schemeClr val="tx1"/>
            </a:fontRef>
          </p:style>
        </p:cxnSp>
        <p:cxnSp>
          <p:nvCxnSpPr>
            <p:cNvPr id="231" name="Day 15 boundary"/>
            <p:cNvCxnSpPr/>
            <p:nvPr/>
          </p:nvCxnSpPr>
          <p:spPr>
            <a:xfrm>
              <a:off x="9851059" y="1618488"/>
              <a:ext cx="0" cy="3163824"/>
            </a:xfrm>
            <a:prstGeom prst="line">
              <a:avLst/>
            </a:prstGeom>
            <a:ln w="10795">
              <a:solidFill>
                <a:srgbClr val="C6D0E2"/>
              </a:solidFill>
            </a:ln>
            <a:effectLst/>
          </p:spPr>
          <p:style>
            <a:lnRef idx="2">
              <a:schemeClr val="accent1"/>
            </a:lnRef>
            <a:fillRef idx="0">
              <a:schemeClr val="accent1"/>
            </a:fillRef>
            <a:effectRef idx="0">
              <a:schemeClr val="accent1"/>
            </a:effectRef>
            <a:fontRef idx="minor">
              <a:schemeClr val="tx1"/>
            </a:fontRef>
          </p:style>
        </p:cxnSp>
        <p:cxnSp>
          <p:nvCxnSpPr>
            <p:cNvPr id="232" name="Day 16 boundary"/>
            <p:cNvCxnSpPr/>
            <p:nvPr/>
          </p:nvCxnSpPr>
          <p:spPr>
            <a:xfrm>
              <a:off x="10239999" y="1956816"/>
              <a:ext cx="0" cy="2825496"/>
            </a:xfrm>
            <a:prstGeom prst="line">
              <a:avLst/>
            </a:prstGeom>
            <a:ln w="4191">
              <a:solidFill>
                <a:srgbClr val="E3E8F1"/>
              </a:solidFill>
            </a:ln>
            <a:effectLst/>
          </p:spPr>
          <p:style>
            <a:lnRef idx="2">
              <a:schemeClr val="accent1"/>
            </a:lnRef>
            <a:fillRef idx="0">
              <a:schemeClr val="accent1"/>
            </a:fillRef>
            <a:effectRef idx="0">
              <a:schemeClr val="accent1"/>
            </a:effectRef>
            <a:fontRef idx="minor">
              <a:schemeClr val="tx1"/>
            </a:fontRef>
          </p:style>
        </p:cxnSp>
        <p:cxnSp>
          <p:nvCxnSpPr>
            <p:cNvPr id="233" name="Day 17 boundary"/>
            <p:cNvCxnSpPr/>
            <p:nvPr/>
          </p:nvCxnSpPr>
          <p:spPr>
            <a:xfrm>
              <a:off x="10628939" y="1956816"/>
              <a:ext cx="0" cy="2825496"/>
            </a:xfrm>
            <a:prstGeom prst="line">
              <a:avLst/>
            </a:prstGeom>
            <a:ln w="4191">
              <a:solidFill>
                <a:srgbClr val="E3E8F1"/>
              </a:solidFill>
            </a:ln>
            <a:effectLst/>
          </p:spPr>
          <p:style>
            <a:lnRef idx="2">
              <a:schemeClr val="accent1"/>
            </a:lnRef>
            <a:fillRef idx="0">
              <a:schemeClr val="accent1"/>
            </a:fillRef>
            <a:effectRef idx="0">
              <a:schemeClr val="accent1"/>
            </a:effectRef>
            <a:fontRef idx="minor">
              <a:schemeClr val="tx1"/>
            </a:fontRef>
          </p:style>
        </p:cxnSp>
        <p:cxnSp>
          <p:nvCxnSpPr>
            <p:cNvPr id="234" name="Day 18 boundary"/>
            <p:cNvCxnSpPr/>
            <p:nvPr/>
          </p:nvCxnSpPr>
          <p:spPr>
            <a:xfrm>
              <a:off x="11017879" y="1956816"/>
              <a:ext cx="0" cy="2825496"/>
            </a:xfrm>
            <a:prstGeom prst="line">
              <a:avLst/>
            </a:prstGeom>
            <a:ln w="4191">
              <a:solidFill>
                <a:srgbClr val="E3E8F1"/>
              </a:solidFill>
            </a:ln>
            <a:effectLst/>
          </p:spPr>
          <p:style>
            <a:lnRef idx="2">
              <a:schemeClr val="accent1"/>
            </a:lnRef>
            <a:fillRef idx="0">
              <a:schemeClr val="accent1"/>
            </a:fillRef>
            <a:effectRef idx="0">
              <a:schemeClr val="accent1"/>
            </a:effectRef>
            <a:fontRef idx="minor">
              <a:schemeClr val="tx1"/>
            </a:fontRef>
          </p:style>
        </p:cxnSp>
        <p:cxnSp>
          <p:nvCxnSpPr>
            <p:cNvPr id="235" name="Day 19 boundary"/>
            <p:cNvCxnSpPr/>
            <p:nvPr/>
          </p:nvCxnSpPr>
          <p:spPr>
            <a:xfrm>
              <a:off x="11406819" y="1956816"/>
              <a:ext cx="0" cy="2825496"/>
            </a:xfrm>
            <a:prstGeom prst="line">
              <a:avLst/>
            </a:prstGeom>
            <a:ln w="4191">
              <a:solidFill>
                <a:srgbClr val="E3E8F1"/>
              </a:solidFill>
            </a:ln>
            <a:effectLst/>
          </p:spPr>
          <p:style>
            <a:lnRef idx="2">
              <a:schemeClr val="accent1"/>
            </a:lnRef>
            <a:fillRef idx="0">
              <a:schemeClr val="accent1"/>
            </a:fillRef>
            <a:effectRef idx="0">
              <a:schemeClr val="accent1"/>
            </a:effectRef>
            <a:fontRef idx="minor">
              <a:schemeClr val="tx1"/>
            </a:fontRef>
          </p:style>
        </p:cxnSp>
        <p:cxnSp>
          <p:nvCxnSpPr>
            <p:cNvPr id="236" name="Row boundary 0"/>
            <p:cNvCxnSpPr/>
            <p:nvPr/>
          </p:nvCxnSpPr>
          <p:spPr>
            <a:xfrm>
              <a:off x="395935" y="2221992"/>
              <a:ext cx="11399825" cy="0"/>
            </a:xfrm>
            <a:prstGeom prst="line">
              <a:avLst/>
            </a:prstGeom>
            <a:ln w="7620">
              <a:solidFill>
                <a:srgbClr val="C6D0E2"/>
              </a:solidFill>
            </a:ln>
            <a:effectLst/>
          </p:spPr>
          <p:style>
            <a:lnRef idx="2">
              <a:schemeClr val="accent1"/>
            </a:lnRef>
            <a:fillRef idx="0">
              <a:schemeClr val="accent1"/>
            </a:fillRef>
            <a:effectRef idx="0">
              <a:schemeClr val="accent1"/>
            </a:effectRef>
            <a:fontRef idx="minor">
              <a:schemeClr val="tx1"/>
            </a:fontRef>
          </p:style>
        </p:cxnSp>
        <p:cxnSp>
          <p:nvCxnSpPr>
            <p:cNvPr id="237" name="Row boundary 1"/>
            <p:cNvCxnSpPr/>
            <p:nvPr/>
          </p:nvCxnSpPr>
          <p:spPr>
            <a:xfrm>
              <a:off x="395935" y="2587752"/>
              <a:ext cx="11399825" cy="0"/>
            </a:xfrm>
            <a:prstGeom prst="line">
              <a:avLst/>
            </a:prstGeom>
            <a:ln w="4826">
              <a:solidFill>
                <a:srgbClr val="E3E8F1"/>
              </a:solidFill>
            </a:ln>
            <a:effectLst/>
          </p:spPr>
          <p:style>
            <a:lnRef idx="2">
              <a:schemeClr val="accent1"/>
            </a:lnRef>
            <a:fillRef idx="0">
              <a:schemeClr val="accent1"/>
            </a:fillRef>
            <a:effectRef idx="0">
              <a:schemeClr val="accent1"/>
            </a:effectRef>
            <a:fontRef idx="minor">
              <a:schemeClr val="tx1"/>
            </a:fontRef>
          </p:style>
        </p:cxnSp>
        <p:cxnSp>
          <p:nvCxnSpPr>
            <p:cNvPr id="238" name="Row boundary 2"/>
            <p:cNvCxnSpPr/>
            <p:nvPr/>
          </p:nvCxnSpPr>
          <p:spPr>
            <a:xfrm>
              <a:off x="395935" y="2953512"/>
              <a:ext cx="11399825" cy="0"/>
            </a:xfrm>
            <a:prstGeom prst="line">
              <a:avLst/>
            </a:prstGeom>
            <a:ln w="4826">
              <a:solidFill>
                <a:srgbClr val="E3E8F1"/>
              </a:solidFill>
            </a:ln>
            <a:effectLst/>
          </p:spPr>
          <p:style>
            <a:lnRef idx="2">
              <a:schemeClr val="accent1"/>
            </a:lnRef>
            <a:fillRef idx="0">
              <a:schemeClr val="accent1"/>
            </a:fillRef>
            <a:effectRef idx="0">
              <a:schemeClr val="accent1"/>
            </a:effectRef>
            <a:fontRef idx="minor">
              <a:schemeClr val="tx1"/>
            </a:fontRef>
          </p:style>
        </p:cxnSp>
        <p:cxnSp>
          <p:nvCxnSpPr>
            <p:cNvPr id="239" name="Row boundary 3"/>
            <p:cNvCxnSpPr/>
            <p:nvPr/>
          </p:nvCxnSpPr>
          <p:spPr>
            <a:xfrm>
              <a:off x="395935" y="3319272"/>
              <a:ext cx="11399825" cy="0"/>
            </a:xfrm>
            <a:prstGeom prst="line">
              <a:avLst/>
            </a:prstGeom>
            <a:ln w="4826">
              <a:solidFill>
                <a:srgbClr val="E3E8F1"/>
              </a:solidFill>
            </a:ln>
            <a:effectLst/>
          </p:spPr>
          <p:style>
            <a:lnRef idx="2">
              <a:schemeClr val="accent1"/>
            </a:lnRef>
            <a:fillRef idx="0">
              <a:schemeClr val="accent1"/>
            </a:fillRef>
            <a:effectRef idx="0">
              <a:schemeClr val="accent1"/>
            </a:effectRef>
            <a:fontRef idx="minor">
              <a:schemeClr val="tx1"/>
            </a:fontRef>
          </p:style>
        </p:cxnSp>
        <p:cxnSp>
          <p:nvCxnSpPr>
            <p:cNvPr id="240" name="Row boundary 4"/>
            <p:cNvCxnSpPr/>
            <p:nvPr/>
          </p:nvCxnSpPr>
          <p:spPr>
            <a:xfrm>
              <a:off x="395935" y="3685032"/>
              <a:ext cx="11399825" cy="0"/>
            </a:xfrm>
            <a:prstGeom prst="line">
              <a:avLst/>
            </a:prstGeom>
            <a:ln w="4826">
              <a:solidFill>
                <a:srgbClr val="E3E8F1"/>
              </a:solidFill>
            </a:ln>
            <a:effectLst/>
          </p:spPr>
          <p:style>
            <a:lnRef idx="2">
              <a:schemeClr val="accent1"/>
            </a:lnRef>
            <a:fillRef idx="0">
              <a:schemeClr val="accent1"/>
            </a:fillRef>
            <a:effectRef idx="0">
              <a:schemeClr val="accent1"/>
            </a:effectRef>
            <a:fontRef idx="minor">
              <a:schemeClr val="tx1"/>
            </a:fontRef>
          </p:style>
        </p:cxnSp>
        <p:cxnSp>
          <p:nvCxnSpPr>
            <p:cNvPr id="241" name="Row boundary 5"/>
            <p:cNvCxnSpPr/>
            <p:nvPr/>
          </p:nvCxnSpPr>
          <p:spPr>
            <a:xfrm>
              <a:off x="395935" y="4050791"/>
              <a:ext cx="11399825" cy="0"/>
            </a:xfrm>
            <a:prstGeom prst="line">
              <a:avLst/>
            </a:prstGeom>
            <a:ln w="4826">
              <a:solidFill>
                <a:srgbClr val="E3E8F1"/>
              </a:solidFill>
            </a:ln>
            <a:effectLst/>
          </p:spPr>
          <p:style>
            <a:lnRef idx="2">
              <a:schemeClr val="accent1"/>
            </a:lnRef>
            <a:fillRef idx="0">
              <a:schemeClr val="accent1"/>
            </a:fillRef>
            <a:effectRef idx="0">
              <a:schemeClr val="accent1"/>
            </a:effectRef>
            <a:fontRef idx="minor">
              <a:schemeClr val="tx1"/>
            </a:fontRef>
          </p:style>
        </p:cxnSp>
        <p:cxnSp>
          <p:nvCxnSpPr>
            <p:cNvPr id="242" name="Row boundary 6"/>
            <p:cNvCxnSpPr/>
            <p:nvPr/>
          </p:nvCxnSpPr>
          <p:spPr>
            <a:xfrm>
              <a:off x="395935" y="4416552"/>
              <a:ext cx="11399825" cy="0"/>
            </a:xfrm>
            <a:prstGeom prst="line">
              <a:avLst/>
            </a:prstGeom>
            <a:ln w="4826">
              <a:solidFill>
                <a:srgbClr val="E3E8F1"/>
              </a:solidFill>
            </a:ln>
            <a:effectLst/>
          </p:spPr>
          <p:style>
            <a:lnRef idx="2">
              <a:schemeClr val="accent1"/>
            </a:lnRef>
            <a:fillRef idx="0">
              <a:schemeClr val="accent1"/>
            </a:fillRef>
            <a:effectRef idx="0">
              <a:schemeClr val="accent1"/>
            </a:effectRef>
            <a:fontRef idx="minor">
              <a:schemeClr val="tx1"/>
            </a:fontRef>
          </p:style>
        </p:cxnSp>
        <p:cxnSp>
          <p:nvCxnSpPr>
            <p:cNvPr id="243" name="Row boundary 7"/>
            <p:cNvCxnSpPr/>
            <p:nvPr/>
          </p:nvCxnSpPr>
          <p:spPr>
            <a:xfrm>
              <a:off x="395935" y="4782312"/>
              <a:ext cx="11399825" cy="0"/>
            </a:xfrm>
            <a:prstGeom prst="line">
              <a:avLst/>
            </a:prstGeom>
            <a:ln w="7620">
              <a:solidFill>
                <a:srgbClr val="C6D0E2"/>
              </a:solidFill>
            </a:ln>
            <a:effectLst/>
          </p:spPr>
          <p:style>
            <a:lnRef idx="2">
              <a:schemeClr val="accent1"/>
            </a:lnRef>
            <a:fillRef idx="0">
              <a:schemeClr val="accent1"/>
            </a:fillRef>
            <a:effectRef idx="0">
              <a:schemeClr val="accent1"/>
            </a:effectRef>
            <a:fontRef idx="minor">
              <a:schemeClr val="tx1"/>
            </a:fontRef>
          </p:style>
        </p:cxnSp>
        <p:cxnSp>
          <p:nvCxnSpPr>
            <p:cNvPr id="244" name="Left edge"/>
            <p:cNvCxnSpPr/>
            <p:nvPr/>
          </p:nvCxnSpPr>
          <p:spPr>
            <a:xfrm>
              <a:off x="395935" y="1618488"/>
              <a:ext cx="0" cy="3163824"/>
            </a:xfrm>
            <a:prstGeom prst="line">
              <a:avLst/>
            </a:prstGeom>
            <a:ln w="7620">
              <a:solidFill>
                <a:srgbClr val="C6D0E2"/>
              </a:solidFill>
            </a:ln>
            <a:effectLst/>
          </p:spPr>
          <p:style>
            <a:lnRef idx="2">
              <a:schemeClr val="accent1"/>
            </a:lnRef>
            <a:fillRef idx="0">
              <a:schemeClr val="accent1"/>
            </a:fillRef>
            <a:effectRef idx="0">
              <a:schemeClr val="accent1"/>
            </a:effectRef>
            <a:fontRef idx="minor">
              <a:schemeClr val="tx1"/>
            </a:fontRef>
          </p:style>
        </p:cxnSp>
        <p:cxnSp>
          <p:nvCxnSpPr>
            <p:cNvPr id="245" name="Task-duration separator"/>
            <p:cNvCxnSpPr/>
            <p:nvPr/>
          </p:nvCxnSpPr>
          <p:spPr>
            <a:xfrm>
              <a:off x="3248863" y="1618488"/>
              <a:ext cx="0" cy="3163824"/>
            </a:xfrm>
            <a:prstGeom prst="line">
              <a:avLst/>
            </a:prstGeom>
            <a:ln w="7620">
              <a:solidFill>
                <a:srgbClr val="C6D0E2"/>
              </a:solidFill>
            </a:ln>
            <a:effectLst/>
          </p:spPr>
          <p:style>
            <a:lnRef idx="2">
              <a:schemeClr val="accent1"/>
            </a:lnRef>
            <a:fillRef idx="0">
              <a:schemeClr val="accent1"/>
            </a:fillRef>
            <a:effectRef idx="0">
              <a:schemeClr val="accent1"/>
            </a:effectRef>
            <a:fontRef idx="minor">
              <a:schemeClr val="tx1"/>
            </a:fontRef>
          </p:style>
        </p:cxnSp>
        <p:cxnSp>
          <p:nvCxnSpPr>
            <p:cNvPr id="246" name="Timeline start"/>
            <p:cNvCxnSpPr/>
            <p:nvPr/>
          </p:nvCxnSpPr>
          <p:spPr>
            <a:xfrm>
              <a:off x="4016959" y="1618488"/>
              <a:ext cx="0" cy="3163824"/>
            </a:xfrm>
            <a:prstGeom prst="line">
              <a:avLst/>
            </a:prstGeom>
            <a:ln w="7620">
              <a:solidFill>
                <a:srgbClr val="C6D0E2"/>
              </a:solidFill>
            </a:ln>
            <a:effectLst/>
          </p:spPr>
          <p:style>
            <a:lnRef idx="2">
              <a:schemeClr val="accent1"/>
            </a:lnRef>
            <a:fillRef idx="0">
              <a:schemeClr val="accent1"/>
            </a:fillRef>
            <a:effectRef idx="0">
              <a:schemeClr val="accent1"/>
            </a:effectRef>
            <a:fontRef idx="minor">
              <a:schemeClr val="tx1"/>
            </a:fontRef>
          </p:style>
        </p:cxnSp>
        <p:cxnSp>
          <p:nvCxnSpPr>
            <p:cNvPr id="247" name="Right edge"/>
            <p:cNvCxnSpPr/>
            <p:nvPr/>
          </p:nvCxnSpPr>
          <p:spPr>
            <a:xfrm>
              <a:off x="11795760" y="1618488"/>
              <a:ext cx="0" cy="3163824"/>
            </a:xfrm>
            <a:prstGeom prst="line">
              <a:avLst/>
            </a:prstGeom>
            <a:ln w="7620">
              <a:solidFill>
                <a:srgbClr val="C6D0E2"/>
              </a:solidFill>
            </a:ln>
            <a:effectLst/>
          </p:spPr>
          <p:style>
            <a:lnRef idx="2">
              <a:schemeClr val="accent1"/>
            </a:lnRef>
            <a:fillRef idx="0">
              <a:schemeClr val="accent1"/>
            </a:fillRef>
            <a:effectRef idx="0">
              <a:schemeClr val="accent1"/>
            </a:effectRef>
            <a:fontRef idx="minor">
              <a:schemeClr val="tx1"/>
            </a:fontRef>
          </p:style>
        </p:cxnSp>
        <p:cxnSp>
          <p:nvCxnSpPr>
            <p:cNvPr id="248" name="Table top"/>
            <p:cNvCxnSpPr/>
            <p:nvPr/>
          </p:nvCxnSpPr>
          <p:spPr>
            <a:xfrm>
              <a:off x="395935" y="1618488"/>
              <a:ext cx="11399825" cy="0"/>
            </a:xfrm>
            <a:prstGeom prst="line">
              <a:avLst/>
            </a:prstGeom>
            <a:ln w="7620">
              <a:solidFill>
                <a:srgbClr val="C6D0E2"/>
              </a:solidFill>
            </a:ln>
            <a:effectLst/>
          </p:spPr>
          <p:style>
            <a:lnRef idx="2">
              <a:schemeClr val="accent1"/>
            </a:lnRef>
            <a:fillRef idx="0">
              <a:schemeClr val="accent1"/>
            </a:fillRef>
            <a:effectRef idx="0">
              <a:schemeClr val="accent1"/>
            </a:effectRef>
            <a:fontRef idx="minor">
              <a:schemeClr val="tx1"/>
            </a:fontRef>
          </p:style>
        </p:cxnSp>
      </p:grpSp>
      <p:grpSp>
        <p:nvGrpSpPr>
          <p:cNvPr id="11" name="1. Discovery &amp; Planning | Days 1–5"/>
          <p:cNvGrpSpPr/>
          <p:nvPr/>
        </p:nvGrpSpPr>
        <p:grpSpPr>
          <a:xfrm>
            <a:off x="542239" y="2699963"/>
            <a:ext cx="5384672" cy="250545"/>
            <a:chOff x="542239" y="2280513"/>
            <a:chExt cx="5384672" cy="250545"/>
          </a:xfrm>
        </p:grpSpPr>
        <p:sp>
          <p:nvSpPr>
            <p:cNvPr id="249" name="Task 1 number circle"/>
            <p:cNvSpPr/>
            <p:nvPr/>
          </p:nvSpPr>
          <p:spPr>
            <a:xfrm>
              <a:off x="542239" y="2287828"/>
              <a:ext cx="235915" cy="235915"/>
            </a:xfrm>
            <a:prstGeom prst="ellipse">
              <a:avLst/>
            </a:prstGeom>
            <a:solidFill>
              <a:srgbClr val="3452A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0" name="Task 1 number"/>
            <p:cNvSpPr txBox="1"/>
            <p:nvPr/>
          </p:nvSpPr>
          <p:spPr>
            <a:xfrm>
              <a:off x="542239" y="2286914"/>
              <a:ext cx="235915" cy="235000"/>
            </a:xfrm>
            <a:prstGeom prst="rect">
              <a:avLst/>
            </a:prstGeom>
            <a:noFill/>
            <a:effectLst/>
          </p:spPr>
          <p:txBody>
            <a:bodyPr wrap="square" lIns="0" tIns="0" rIns="0" bIns="0" anchor="ctr">
              <a:noAutofit/>
            </a:bodyPr>
            <a:lstStyle/>
            <a:p>
              <a:pPr algn="ctr">
                <a:lnSpc>
                  <a:spcPct val="103000"/>
                </a:lnSpc>
                <a:spcBef>
                  <a:spcPts val="0"/>
                </a:spcBef>
                <a:spcAft>
                  <a:spcPts val="0"/>
                </a:spcAft>
              </a:pPr>
              <a:r>
                <a:rPr sz="1050" b="1" i="0">
                  <a:solidFill>
                    <a:srgbClr val="FFFFFF"/>
                  </a:solidFill>
                  <a:latin typeface="Arial"/>
                </a:rPr>
                <a:t>1</a:t>
              </a:r>
            </a:p>
          </p:txBody>
        </p:sp>
        <p:sp>
          <p:nvSpPr>
            <p:cNvPr id="251" name="Task 1 label"/>
            <p:cNvSpPr txBox="1"/>
            <p:nvPr/>
          </p:nvSpPr>
          <p:spPr>
            <a:xfrm>
              <a:off x="889711" y="2280513"/>
              <a:ext cx="2258568" cy="250545"/>
            </a:xfrm>
            <a:prstGeom prst="rect">
              <a:avLst/>
            </a:prstGeom>
            <a:noFill/>
            <a:effectLst/>
          </p:spPr>
          <p:txBody>
            <a:bodyPr wrap="square" lIns="0" tIns="0" rIns="0" bIns="0" anchor="ctr">
              <a:noAutofit/>
            </a:bodyPr>
            <a:lstStyle/>
            <a:p>
              <a:pPr algn="l">
                <a:lnSpc>
                  <a:spcPct val="103000"/>
                </a:lnSpc>
                <a:spcBef>
                  <a:spcPts val="0"/>
                </a:spcBef>
                <a:spcAft>
                  <a:spcPts val="0"/>
                </a:spcAft>
              </a:pPr>
              <a:r>
                <a:rPr sz="1170" b="1" i="0">
                  <a:solidFill>
                    <a:srgbClr val="1D2357"/>
                  </a:solidFill>
                  <a:latin typeface="Arial"/>
                </a:rPr>
                <a:t>Discovery &amp; Planning</a:t>
              </a:r>
            </a:p>
          </p:txBody>
        </p:sp>
        <p:sp>
          <p:nvSpPr>
            <p:cNvPr id="252" name="Task 1 duration"/>
            <p:cNvSpPr txBox="1"/>
            <p:nvPr/>
          </p:nvSpPr>
          <p:spPr>
            <a:xfrm>
              <a:off x="3271723" y="2289657"/>
              <a:ext cx="722375" cy="228600"/>
            </a:xfrm>
            <a:prstGeom prst="rect">
              <a:avLst/>
            </a:prstGeom>
            <a:noFill/>
            <a:effectLst/>
          </p:spPr>
          <p:txBody>
            <a:bodyPr wrap="square" lIns="0" tIns="0" rIns="0" bIns="0" anchor="ctr">
              <a:noAutofit/>
            </a:bodyPr>
            <a:lstStyle/>
            <a:p>
              <a:pPr algn="ctr">
                <a:lnSpc>
                  <a:spcPct val="103000"/>
                </a:lnSpc>
                <a:spcBef>
                  <a:spcPts val="0"/>
                </a:spcBef>
                <a:spcAft>
                  <a:spcPts val="0"/>
                </a:spcAft>
              </a:pPr>
              <a:r>
                <a:rPr sz="1110" b="0" i="0">
                  <a:solidFill>
                    <a:srgbClr val="1D2357"/>
                  </a:solidFill>
                  <a:latin typeface="Arial"/>
                </a:rPr>
                <a:t>5 days</a:t>
              </a:r>
            </a:p>
          </p:txBody>
        </p:sp>
        <p:sp>
          <p:nvSpPr>
            <p:cNvPr id="253" name="Task 1 activity bar | day 1 to day 5"/>
            <p:cNvSpPr/>
            <p:nvPr/>
          </p:nvSpPr>
          <p:spPr>
            <a:xfrm>
              <a:off x="4051706" y="2300630"/>
              <a:ext cx="1875205" cy="208483"/>
            </a:xfrm>
            <a:prstGeom prst="roundRect">
              <a:avLst>
                <a:gd name="adj" fmla="val 26000"/>
              </a:avLst>
            </a:prstGeom>
            <a:solidFill>
              <a:srgbClr val="3452A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grpSp>
        <p:nvGrpSpPr>
          <p:cNvPr id="12" name="2. UI/UX Design | Days 1–5"/>
          <p:cNvGrpSpPr/>
          <p:nvPr/>
        </p:nvGrpSpPr>
        <p:grpSpPr>
          <a:xfrm>
            <a:off x="542239" y="3065723"/>
            <a:ext cx="5384672" cy="250545"/>
            <a:chOff x="542239" y="2646273"/>
            <a:chExt cx="5384672" cy="250545"/>
          </a:xfrm>
        </p:grpSpPr>
        <p:sp>
          <p:nvSpPr>
            <p:cNvPr id="254" name="Task 2 number circle"/>
            <p:cNvSpPr/>
            <p:nvPr/>
          </p:nvSpPr>
          <p:spPr>
            <a:xfrm>
              <a:off x="542239" y="2653588"/>
              <a:ext cx="235915" cy="235915"/>
            </a:xfrm>
            <a:prstGeom prst="ellipse">
              <a:avLst/>
            </a:prstGeom>
            <a:solidFill>
              <a:srgbClr val="7B8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5" name="Task 2 number"/>
            <p:cNvSpPr txBox="1"/>
            <p:nvPr/>
          </p:nvSpPr>
          <p:spPr>
            <a:xfrm>
              <a:off x="542239" y="2652674"/>
              <a:ext cx="235915" cy="235000"/>
            </a:xfrm>
            <a:prstGeom prst="rect">
              <a:avLst/>
            </a:prstGeom>
            <a:noFill/>
            <a:effectLst/>
          </p:spPr>
          <p:txBody>
            <a:bodyPr wrap="square" lIns="0" tIns="0" rIns="0" bIns="0" anchor="ctr">
              <a:noAutofit/>
            </a:bodyPr>
            <a:lstStyle/>
            <a:p>
              <a:pPr algn="ctr">
                <a:lnSpc>
                  <a:spcPct val="103000"/>
                </a:lnSpc>
                <a:spcBef>
                  <a:spcPts val="0"/>
                </a:spcBef>
                <a:spcAft>
                  <a:spcPts val="0"/>
                </a:spcAft>
              </a:pPr>
              <a:r>
                <a:rPr sz="1050" b="1" i="0">
                  <a:solidFill>
                    <a:srgbClr val="FFFFFF"/>
                  </a:solidFill>
                  <a:latin typeface="Arial"/>
                </a:rPr>
                <a:t>2</a:t>
              </a:r>
            </a:p>
          </p:txBody>
        </p:sp>
        <p:sp>
          <p:nvSpPr>
            <p:cNvPr id="256" name="Task 2 label"/>
            <p:cNvSpPr txBox="1"/>
            <p:nvPr/>
          </p:nvSpPr>
          <p:spPr>
            <a:xfrm>
              <a:off x="889711" y="2646273"/>
              <a:ext cx="2258568" cy="250545"/>
            </a:xfrm>
            <a:prstGeom prst="rect">
              <a:avLst/>
            </a:prstGeom>
            <a:noFill/>
            <a:effectLst/>
          </p:spPr>
          <p:txBody>
            <a:bodyPr wrap="square" lIns="0" tIns="0" rIns="0" bIns="0" anchor="ctr">
              <a:noAutofit/>
            </a:bodyPr>
            <a:lstStyle/>
            <a:p>
              <a:pPr algn="l">
                <a:lnSpc>
                  <a:spcPct val="103000"/>
                </a:lnSpc>
                <a:spcBef>
                  <a:spcPts val="0"/>
                </a:spcBef>
                <a:spcAft>
                  <a:spcPts val="0"/>
                </a:spcAft>
              </a:pPr>
              <a:r>
                <a:rPr sz="1170" b="1" i="0">
                  <a:solidFill>
                    <a:srgbClr val="1D2357"/>
                  </a:solidFill>
                  <a:latin typeface="Arial"/>
                </a:rPr>
                <a:t>UI/UX Design</a:t>
              </a:r>
            </a:p>
          </p:txBody>
        </p:sp>
        <p:sp>
          <p:nvSpPr>
            <p:cNvPr id="257" name="Task 2 duration"/>
            <p:cNvSpPr txBox="1"/>
            <p:nvPr/>
          </p:nvSpPr>
          <p:spPr>
            <a:xfrm>
              <a:off x="3271723" y="2655417"/>
              <a:ext cx="722375" cy="228600"/>
            </a:xfrm>
            <a:prstGeom prst="rect">
              <a:avLst/>
            </a:prstGeom>
            <a:noFill/>
            <a:effectLst/>
          </p:spPr>
          <p:txBody>
            <a:bodyPr wrap="square" lIns="0" tIns="0" rIns="0" bIns="0" anchor="ctr">
              <a:noAutofit/>
            </a:bodyPr>
            <a:lstStyle/>
            <a:p>
              <a:pPr algn="ctr">
                <a:lnSpc>
                  <a:spcPct val="103000"/>
                </a:lnSpc>
                <a:spcBef>
                  <a:spcPts val="0"/>
                </a:spcBef>
                <a:spcAft>
                  <a:spcPts val="0"/>
                </a:spcAft>
              </a:pPr>
              <a:r>
                <a:rPr sz="1110" b="0" i="0">
                  <a:solidFill>
                    <a:srgbClr val="1D2357"/>
                  </a:solidFill>
                  <a:latin typeface="Arial"/>
                </a:rPr>
                <a:t>5 days</a:t>
              </a:r>
            </a:p>
          </p:txBody>
        </p:sp>
        <p:sp>
          <p:nvSpPr>
            <p:cNvPr id="258" name="Task 2 activity bar | day 1 to day 5"/>
            <p:cNvSpPr/>
            <p:nvPr/>
          </p:nvSpPr>
          <p:spPr>
            <a:xfrm>
              <a:off x="4051706" y="2666390"/>
              <a:ext cx="1875205" cy="208483"/>
            </a:xfrm>
            <a:prstGeom prst="roundRect">
              <a:avLst>
                <a:gd name="adj" fmla="val 26000"/>
              </a:avLst>
            </a:prstGeom>
            <a:solidFill>
              <a:srgbClr val="7B8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grpSp>
        <p:nvGrpSpPr>
          <p:cNvPr id="13" name="3. Frontend Development | Days 6–15"/>
          <p:cNvGrpSpPr/>
          <p:nvPr/>
        </p:nvGrpSpPr>
        <p:grpSpPr>
          <a:xfrm>
            <a:off x="542239" y="3431483"/>
            <a:ext cx="9274073" cy="250545"/>
            <a:chOff x="542239" y="3012033"/>
            <a:chExt cx="9274073" cy="250545"/>
          </a:xfrm>
        </p:grpSpPr>
        <p:sp>
          <p:nvSpPr>
            <p:cNvPr id="259" name="Task 3 number circle"/>
            <p:cNvSpPr/>
            <p:nvPr/>
          </p:nvSpPr>
          <p:spPr>
            <a:xfrm>
              <a:off x="542239" y="3019348"/>
              <a:ext cx="235915" cy="235915"/>
            </a:xfrm>
            <a:prstGeom prst="ellipse">
              <a:avLst/>
            </a:prstGeom>
            <a:solidFill>
              <a:srgbClr val="4A63B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0" name="Task 3 number"/>
            <p:cNvSpPr txBox="1"/>
            <p:nvPr/>
          </p:nvSpPr>
          <p:spPr>
            <a:xfrm>
              <a:off x="542239" y="3018434"/>
              <a:ext cx="235915" cy="235000"/>
            </a:xfrm>
            <a:prstGeom prst="rect">
              <a:avLst/>
            </a:prstGeom>
            <a:noFill/>
            <a:effectLst/>
          </p:spPr>
          <p:txBody>
            <a:bodyPr wrap="square" lIns="0" tIns="0" rIns="0" bIns="0" anchor="ctr">
              <a:noAutofit/>
            </a:bodyPr>
            <a:lstStyle/>
            <a:p>
              <a:pPr algn="ctr">
                <a:lnSpc>
                  <a:spcPct val="103000"/>
                </a:lnSpc>
                <a:spcBef>
                  <a:spcPts val="0"/>
                </a:spcBef>
                <a:spcAft>
                  <a:spcPts val="0"/>
                </a:spcAft>
              </a:pPr>
              <a:r>
                <a:rPr sz="1050" b="1" i="0">
                  <a:solidFill>
                    <a:srgbClr val="FFFFFF"/>
                  </a:solidFill>
                  <a:latin typeface="Arial"/>
                </a:rPr>
                <a:t>3</a:t>
              </a:r>
            </a:p>
          </p:txBody>
        </p:sp>
        <p:sp>
          <p:nvSpPr>
            <p:cNvPr id="261" name="Task 3 label"/>
            <p:cNvSpPr txBox="1"/>
            <p:nvPr/>
          </p:nvSpPr>
          <p:spPr>
            <a:xfrm>
              <a:off x="889711" y="3012033"/>
              <a:ext cx="2258568" cy="250545"/>
            </a:xfrm>
            <a:prstGeom prst="rect">
              <a:avLst/>
            </a:prstGeom>
            <a:noFill/>
            <a:effectLst/>
          </p:spPr>
          <p:txBody>
            <a:bodyPr wrap="square" lIns="0" tIns="0" rIns="0" bIns="0" anchor="ctr">
              <a:noAutofit/>
            </a:bodyPr>
            <a:lstStyle/>
            <a:p>
              <a:pPr algn="l">
                <a:lnSpc>
                  <a:spcPct val="103000"/>
                </a:lnSpc>
                <a:spcBef>
                  <a:spcPts val="0"/>
                </a:spcBef>
                <a:spcAft>
                  <a:spcPts val="0"/>
                </a:spcAft>
              </a:pPr>
              <a:r>
                <a:rPr sz="1170" b="1" i="0">
                  <a:solidFill>
                    <a:srgbClr val="1D2357"/>
                  </a:solidFill>
                  <a:latin typeface="Arial"/>
                </a:rPr>
                <a:t>Frontend Development</a:t>
              </a:r>
            </a:p>
          </p:txBody>
        </p:sp>
        <p:sp>
          <p:nvSpPr>
            <p:cNvPr id="262" name="Task 3 duration"/>
            <p:cNvSpPr txBox="1"/>
            <p:nvPr/>
          </p:nvSpPr>
          <p:spPr>
            <a:xfrm>
              <a:off x="3271723" y="3021177"/>
              <a:ext cx="722375" cy="228600"/>
            </a:xfrm>
            <a:prstGeom prst="rect">
              <a:avLst/>
            </a:prstGeom>
            <a:noFill/>
            <a:effectLst/>
          </p:spPr>
          <p:txBody>
            <a:bodyPr wrap="square" lIns="0" tIns="0" rIns="0" bIns="0" anchor="ctr">
              <a:noAutofit/>
            </a:bodyPr>
            <a:lstStyle/>
            <a:p>
              <a:pPr algn="ctr">
                <a:lnSpc>
                  <a:spcPct val="103000"/>
                </a:lnSpc>
                <a:spcBef>
                  <a:spcPts val="0"/>
                </a:spcBef>
                <a:spcAft>
                  <a:spcPts val="0"/>
                </a:spcAft>
              </a:pPr>
              <a:r>
                <a:rPr sz="1110" b="0" i="0">
                  <a:solidFill>
                    <a:srgbClr val="1D2357"/>
                  </a:solidFill>
                  <a:latin typeface="Arial"/>
                </a:rPr>
                <a:t>10 days</a:t>
              </a:r>
            </a:p>
          </p:txBody>
        </p:sp>
        <p:sp>
          <p:nvSpPr>
            <p:cNvPr id="263" name="Task 3 activity bar | day 6 to day 15"/>
            <p:cNvSpPr/>
            <p:nvPr/>
          </p:nvSpPr>
          <p:spPr>
            <a:xfrm>
              <a:off x="5996406" y="3032150"/>
              <a:ext cx="3819906" cy="208483"/>
            </a:xfrm>
            <a:prstGeom prst="roundRect">
              <a:avLst>
                <a:gd name="adj" fmla="val 26000"/>
              </a:avLst>
            </a:prstGeom>
            <a:solidFill>
              <a:srgbClr val="4A63B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grpSp>
        <p:nvGrpSpPr>
          <p:cNvPr id="14" name="4. Backend &amp; Database | Days 1–10"/>
          <p:cNvGrpSpPr/>
          <p:nvPr/>
        </p:nvGrpSpPr>
        <p:grpSpPr>
          <a:xfrm>
            <a:off x="542239" y="3797243"/>
            <a:ext cx="3451859" cy="250545"/>
            <a:chOff x="542239" y="3377793"/>
            <a:chExt cx="3451859" cy="250545"/>
          </a:xfrm>
        </p:grpSpPr>
        <p:sp>
          <p:nvSpPr>
            <p:cNvPr id="264" name="Task 4 number circle"/>
            <p:cNvSpPr/>
            <p:nvPr/>
          </p:nvSpPr>
          <p:spPr>
            <a:xfrm>
              <a:off x="542239" y="3385108"/>
              <a:ext cx="235915" cy="235915"/>
            </a:xfrm>
            <a:prstGeom prst="ellipse">
              <a:avLst/>
            </a:prstGeom>
            <a:solidFill>
              <a:srgbClr val="223C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5" name="Task 4 number"/>
            <p:cNvSpPr txBox="1"/>
            <p:nvPr/>
          </p:nvSpPr>
          <p:spPr>
            <a:xfrm>
              <a:off x="542239" y="3384194"/>
              <a:ext cx="235915" cy="235000"/>
            </a:xfrm>
            <a:prstGeom prst="rect">
              <a:avLst/>
            </a:prstGeom>
            <a:noFill/>
            <a:effectLst/>
          </p:spPr>
          <p:txBody>
            <a:bodyPr wrap="square" lIns="0" tIns="0" rIns="0" bIns="0" anchor="ctr">
              <a:noAutofit/>
            </a:bodyPr>
            <a:lstStyle/>
            <a:p>
              <a:pPr algn="ctr">
                <a:lnSpc>
                  <a:spcPct val="103000"/>
                </a:lnSpc>
                <a:spcBef>
                  <a:spcPts val="0"/>
                </a:spcBef>
                <a:spcAft>
                  <a:spcPts val="0"/>
                </a:spcAft>
              </a:pPr>
              <a:r>
                <a:rPr sz="1050" b="1" i="0">
                  <a:solidFill>
                    <a:srgbClr val="FFFFFF"/>
                  </a:solidFill>
                  <a:latin typeface="Arial"/>
                </a:rPr>
                <a:t>4</a:t>
              </a:r>
            </a:p>
          </p:txBody>
        </p:sp>
        <p:sp>
          <p:nvSpPr>
            <p:cNvPr id="266" name="Task 4 label"/>
            <p:cNvSpPr txBox="1"/>
            <p:nvPr/>
          </p:nvSpPr>
          <p:spPr>
            <a:xfrm>
              <a:off x="889711" y="3377793"/>
              <a:ext cx="2258568" cy="250545"/>
            </a:xfrm>
            <a:prstGeom prst="rect">
              <a:avLst/>
            </a:prstGeom>
            <a:noFill/>
            <a:effectLst/>
          </p:spPr>
          <p:txBody>
            <a:bodyPr wrap="square" lIns="0" tIns="0" rIns="0" bIns="0" anchor="ctr">
              <a:noAutofit/>
            </a:bodyPr>
            <a:lstStyle/>
            <a:p>
              <a:pPr algn="l">
                <a:lnSpc>
                  <a:spcPct val="103000"/>
                </a:lnSpc>
                <a:spcBef>
                  <a:spcPts val="0"/>
                </a:spcBef>
                <a:spcAft>
                  <a:spcPts val="0"/>
                </a:spcAft>
              </a:pPr>
              <a:r>
                <a:rPr sz="1170" b="1" i="0">
                  <a:solidFill>
                    <a:srgbClr val="1D2357"/>
                  </a:solidFill>
                  <a:latin typeface="Arial"/>
                </a:rPr>
                <a:t>Backend &amp; Database</a:t>
              </a:r>
            </a:p>
          </p:txBody>
        </p:sp>
        <p:sp>
          <p:nvSpPr>
            <p:cNvPr id="267" name="Task 4 duration"/>
            <p:cNvSpPr txBox="1"/>
            <p:nvPr/>
          </p:nvSpPr>
          <p:spPr>
            <a:xfrm>
              <a:off x="3271723" y="3386937"/>
              <a:ext cx="722375" cy="228600"/>
            </a:xfrm>
            <a:prstGeom prst="rect">
              <a:avLst/>
            </a:prstGeom>
            <a:noFill/>
            <a:effectLst/>
          </p:spPr>
          <p:txBody>
            <a:bodyPr wrap="square" lIns="0" tIns="0" rIns="0" bIns="0" anchor="ctr">
              <a:noAutofit/>
            </a:bodyPr>
            <a:lstStyle/>
            <a:p>
              <a:pPr algn="ctr">
                <a:lnSpc>
                  <a:spcPct val="103000"/>
                </a:lnSpc>
                <a:spcBef>
                  <a:spcPts val="0"/>
                </a:spcBef>
                <a:spcAft>
                  <a:spcPts val="0"/>
                </a:spcAft>
              </a:pPr>
              <a:r>
                <a:rPr sz="1110" b="0" i="0">
                  <a:solidFill>
                    <a:srgbClr val="1D2357"/>
                  </a:solidFill>
                  <a:latin typeface="Arial"/>
                </a:rPr>
                <a:t>10 days</a:t>
              </a:r>
            </a:p>
          </p:txBody>
        </p:sp>
      </p:grpSp>
      <p:grpSp>
        <p:nvGrpSpPr>
          <p:cNvPr id="15" name="5. Automation &amp; Verification | Days 11–20"/>
          <p:cNvGrpSpPr/>
          <p:nvPr/>
        </p:nvGrpSpPr>
        <p:grpSpPr>
          <a:xfrm>
            <a:off x="542239" y="4163003"/>
            <a:ext cx="11218773" cy="250545"/>
            <a:chOff x="542239" y="3743553"/>
            <a:chExt cx="11218773" cy="250545"/>
          </a:xfrm>
        </p:grpSpPr>
        <p:sp>
          <p:nvSpPr>
            <p:cNvPr id="269" name="Task 5 number circle"/>
            <p:cNvSpPr/>
            <p:nvPr/>
          </p:nvSpPr>
          <p:spPr>
            <a:xfrm>
              <a:off x="542239" y="3750868"/>
              <a:ext cx="235915" cy="235915"/>
            </a:xfrm>
            <a:prstGeom prst="ellipse">
              <a:avLst/>
            </a:prstGeom>
            <a:solidFill>
              <a:srgbClr val="6076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0" name="Task 5 number"/>
            <p:cNvSpPr txBox="1"/>
            <p:nvPr/>
          </p:nvSpPr>
          <p:spPr>
            <a:xfrm>
              <a:off x="542239" y="3749954"/>
              <a:ext cx="235915" cy="235000"/>
            </a:xfrm>
            <a:prstGeom prst="rect">
              <a:avLst/>
            </a:prstGeom>
            <a:noFill/>
            <a:effectLst/>
          </p:spPr>
          <p:txBody>
            <a:bodyPr wrap="square" lIns="0" tIns="0" rIns="0" bIns="0" anchor="ctr">
              <a:noAutofit/>
            </a:bodyPr>
            <a:lstStyle/>
            <a:p>
              <a:pPr algn="ctr">
                <a:lnSpc>
                  <a:spcPct val="103000"/>
                </a:lnSpc>
                <a:spcBef>
                  <a:spcPts val="0"/>
                </a:spcBef>
                <a:spcAft>
                  <a:spcPts val="0"/>
                </a:spcAft>
              </a:pPr>
              <a:r>
                <a:rPr sz="1050" b="1" i="0">
                  <a:solidFill>
                    <a:srgbClr val="FFFFFF"/>
                  </a:solidFill>
                  <a:latin typeface="Arial"/>
                </a:rPr>
                <a:t>5</a:t>
              </a:r>
            </a:p>
          </p:txBody>
        </p:sp>
        <p:sp>
          <p:nvSpPr>
            <p:cNvPr id="271" name="Task 5 label"/>
            <p:cNvSpPr txBox="1"/>
            <p:nvPr/>
          </p:nvSpPr>
          <p:spPr>
            <a:xfrm>
              <a:off x="889711" y="3743553"/>
              <a:ext cx="2258568" cy="250545"/>
            </a:xfrm>
            <a:prstGeom prst="rect">
              <a:avLst/>
            </a:prstGeom>
            <a:noFill/>
            <a:effectLst/>
          </p:spPr>
          <p:txBody>
            <a:bodyPr wrap="square" lIns="0" tIns="0" rIns="0" bIns="0" anchor="ctr">
              <a:noAutofit/>
            </a:bodyPr>
            <a:lstStyle/>
            <a:p>
              <a:pPr algn="l">
                <a:lnSpc>
                  <a:spcPct val="103000"/>
                </a:lnSpc>
                <a:spcBef>
                  <a:spcPts val="0"/>
                </a:spcBef>
                <a:spcAft>
                  <a:spcPts val="0"/>
                </a:spcAft>
              </a:pPr>
              <a:r>
                <a:rPr sz="1170" b="1" i="0">
                  <a:solidFill>
                    <a:srgbClr val="1D2357"/>
                  </a:solidFill>
                  <a:latin typeface="Arial"/>
                </a:rPr>
                <a:t>Automation &amp; Verification</a:t>
              </a:r>
            </a:p>
          </p:txBody>
        </p:sp>
        <p:sp>
          <p:nvSpPr>
            <p:cNvPr id="272" name="Task 5 duration"/>
            <p:cNvSpPr txBox="1"/>
            <p:nvPr/>
          </p:nvSpPr>
          <p:spPr>
            <a:xfrm>
              <a:off x="3271723" y="3752697"/>
              <a:ext cx="722375" cy="228600"/>
            </a:xfrm>
            <a:prstGeom prst="rect">
              <a:avLst/>
            </a:prstGeom>
            <a:noFill/>
            <a:effectLst/>
          </p:spPr>
          <p:txBody>
            <a:bodyPr wrap="square" lIns="0" tIns="0" rIns="0" bIns="0" anchor="ctr">
              <a:noAutofit/>
            </a:bodyPr>
            <a:lstStyle/>
            <a:p>
              <a:pPr algn="ctr">
                <a:lnSpc>
                  <a:spcPct val="103000"/>
                </a:lnSpc>
                <a:spcBef>
                  <a:spcPts val="0"/>
                </a:spcBef>
                <a:spcAft>
                  <a:spcPts val="0"/>
                </a:spcAft>
              </a:pPr>
              <a:r>
                <a:rPr sz="1110" b="0" i="0">
                  <a:solidFill>
                    <a:srgbClr val="1D2357"/>
                  </a:solidFill>
                  <a:latin typeface="Arial"/>
                </a:rPr>
                <a:t>10 days</a:t>
              </a:r>
            </a:p>
          </p:txBody>
        </p:sp>
        <p:sp>
          <p:nvSpPr>
            <p:cNvPr id="273" name="Task 5 activity bar | day 11 to day 20"/>
            <p:cNvSpPr/>
            <p:nvPr/>
          </p:nvSpPr>
          <p:spPr>
            <a:xfrm>
              <a:off x="7941106" y="3763670"/>
              <a:ext cx="3819906" cy="208483"/>
            </a:xfrm>
            <a:prstGeom prst="roundRect">
              <a:avLst>
                <a:gd name="adj" fmla="val 26000"/>
              </a:avLst>
            </a:prstGeom>
            <a:solidFill>
              <a:srgbClr val="6076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grpSp>
        <p:nvGrpSpPr>
          <p:cNvPr id="16" name="6. Testing &amp; QA | Days 11–20"/>
          <p:cNvGrpSpPr/>
          <p:nvPr/>
        </p:nvGrpSpPr>
        <p:grpSpPr>
          <a:xfrm>
            <a:off x="542239" y="4528763"/>
            <a:ext cx="11218773" cy="250545"/>
            <a:chOff x="542239" y="4109313"/>
            <a:chExt cx="11218773" cy="250545"/>
          </a:xfrm>
        </p:grpSpPr>
        <p:sp>
          <p:nvSpPr>
            <p:cNvPr id="274" name="Task 6 number circle"/>
            <p:cNvSpPr/>
            <p:nvPr/>
          </p:nvSpPr>
          <p:spPr>
            <a:xfrm>
              <a:off x="542239" y="4116628"/>
              <a:ext cx="235915" cy="235915"/>
            </a:xfrm>
            <a:prstGeom prst="ellipse">
              <a:avLst/>
            </a:prstGeom>
            <a:solidFill>
              <a:srgbClr val="8292C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5" name="Task 6 number"/>
            <p:cNvSpPr txBox="1"/>
            <p:nvPr/>
          </p:nvSpPr>
          <p:spPr>
            <a:xfrm>
              <a:off x="542239" y="4115714"/>
              <a:ext cx="235915" cy="235000"/>
            </a:xfrm>
            <a:prstGeom prst="rect">
              <a:avLst/>
            </a:prstGeom>
            <a:noFill/>
            <a:effectLst/>
          </p:spPr>
          <p:txBody>
            <a:bodyPr wrap="square" lIns="0" tIns="0" rIns="0" bIns="0" anchor="ctr">
              <a:noAutofit/>
            </a:bodyPr>
            <a:lstStyle/>
            <a:p>
              <a:pPr algn="ctr">
                <a:lnSpc>
                  <a:spcPct val="103000"/>
                </a:lnSpc>
                <a:spcBef>
                  <a:spcPts val="0"/>
                </a:spcBef>
                <a:spcAft>
                  <a:spcPts val="0"/>
                </a:spcAft>
              </a:pPr>
              <a:r>
                <a:rPr sz="1050" b="1" i="0">
                  <a:solidFill>
                    <a:srgbClr val="FFFFFF"/>
                  </a:solidFill>
                  <a:latin typeface="Arial"/>
                </a:rPr>
                <a:t>6</a:t>
              </a:r>
            </a:p>
          </p:txBody>
        </p:sp>
        <p:sp>
          <p:nvSpPr>
            <p:cNvPr id="276" name="Task 6 label"/>
            <p:cNvSpPr txBox="1"/>
            <p:nvPr/>
          </p:nvSpPr>
          <p:spPr>
            <a:xfrm>
              <a:off x="889711" y="4109313"/>
              <a:ext cx="2258568" cy="250545"/>
            </a:xfrm>
            <a:prstGeom prst="rect">
              <a:avLst/>
            </a:prstGeom>
            <a:noFill/>
            <a:effectLst/>
          </p:spPr>
          <p:txBody>
            <a:bodyPr wrap="square" lIns="0" tIns="0" rIns="0" bIns="0" anchor="ctr">
              <a:noAutofit/>
            </a:bodyPr>
            <a:lstStyle/>
            <a:p>
              <a:pPr algn="l">
                <a:lnSpc>
                  <a:spcPct val="103000"/>
                </a:lnSpc>
                <a:spcBef>
                  <a:spcPts val="0"/>
                </a:spcBef>
                <a:spcAft>
                  <a:spcPts val="0"/>
                </a:spcAft>
              </a:pPr>
              <a:r>
                <a:rPr sz="1170" b="1" i="0">
                  <a:solidFill>
                    <a:srgbClr val="1D2357"/>
                  </a:solidFill>
                  <a:latin typeface="Arial"/>
                </a:rPr>
                <a:t>Testing &amp; QA</a:t>
              </a:r>
            </a:p>
          </p:txBody>
        </p:sp>
        <p:sp>
          <p:nvSpPr>
            <p:cNvPr id="277" name="Task 6 duration"/>
            <p:cNvSpPr txBox="1"/>
            <p:nvPr/>
          </p:nvSpPr>
          <p:spPr>
            <a:xfrm>
              <a:off x="3271723" y="4118457"/>
              <a:ext cx="722375" cy="228600"/>
            </a:xfrm>
            <a:prstGeom prst="rect">
              <a:avLst/>
            </a:prstGeom>
            <a:noFill/>
            <a:effectLst/>
          </p:spPr>
          <p:txBody>
            <a:bodyPr wrap="square" lIns="0" tIns="0" rIns="0" bIns="0" anchor="ctr">
              <a:noAutofit/>
            </a:bodyPr>
            <a:lstStyle/>
            <a:p>
              <a:pPr algn="ctr">
                <a:lnSpc>
                  <a:spcPct val="103000"/>
                </a:lnSpc>
                <a:spcBef>
                  <a:spcPts val="0"/>
                </a:spcBef>
                <a:spcAft>
                  <a:spcPts val="0"/>
                </a:spcAft>
              </a:pPr>
              <a:r>
                <a:rPr sz="1110" b="0" i="0">
                  <a:solidFill>
                    <a:srgbClr val="1D2357"/>
                  </a:solidFill>
                  <a:latin typeface="Arial"/>
                </a:rPr>
                <a:t>10 days</a:t>
              </a:r>
            </a:p>
          </p:txBody>
        </p:sp>
        <p:sp>
          <p:nvSpPr>
            <p:cNvPr id="278" name="Task 6 activity bar | day 11 to day 20"/>
            <p:cNvSpPr/>
            <p:nvPr/>
          </p:nvSpPr>
          <p:spPr>
            <a:xfrm>
              <a:off x="7941106" y="4129430"/>
              <a:ext cx="3819906" cy="208483"/>
            </a:xfrm>
            <a:prstGeom prst="roundRect">
              <a:avLst>
                <a:gd name="adj" fmla="val 26000"/>
              </a:avLst>
            </a:prstGeom>
            <a:solidFill>
              <a:srgbClr val="8292C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grpSp>
        <p:nvGrpSpPr>
          <p:cNvPr id="17" name="7. Deployment &amp; Handover | Days 16–20"/>
          <p:cNvGrpSpPr/>
          <p:nvPr/>
        </p:nvGrpSpPr>
        <p:grpSpPr>
          <a:xfrm>
            <a:off x="542239" y="4894523"/>
            <a:ext cx="11218773" cy="250545"/>
            <a:chOff x="542239" y="4475073"/>
            <a:chExt cx="11218773" cy="250545"/>
          </a:xfrm>
        </p:grpSpPr>
        <p:sp>
          <p:nvSpPr>
            <p:cNvPr id="279" name="Task 7 number circle"/>
            <p:cNvSpPr/>
            <p:nvPr/>
          </p:nvSpPr>
          <p:spPr>
            <a:xfrm>
              <a:off x="542239" y="4482388"/>
              <a:ext cx="235915" cy="235915"/>
            </a:xfrm>
            <a:prstGeom prst="ellipse">
              <a:avLst/>
            </a:prstGeom>
            <a:solidFill>
              <a:srgbClr val="FF6B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0" name="Task 7 number"/>
            <p:cNvSpPr txBox="1"/>
            <p:nvPr/>
          </p:nvSpPr>
          <p:spPr>
            <a:xfrm>
              <a:off x="542239" y="4481474"/>
              <a:ext cx="235915" cy="235000"/>
            </a:xfrm>
            <a:prstGeom prst="rect">
              <a:avLst/>
            </a:prstGeom>
            <a:noFill/>
            <a:effectLst/>
          </p:spPr>
          <p:txBody>
            <a:bodyPr wrap="square" lIns="0" tIns="0" rIns="0" bIns="0" anchor="ctr">
              <a:noAutofit/>
            </a:bodyPr>
            <a:lstStyle/>
            <a:p>
              <a:pPr algn="ctr">
                <a:lnSpc>
                  <a:spcPct val="103000"/>
                </a:lnSpc>
                <a:spcBef>
                  <a:spcPts val="0"/>
                </a:spcBef>
                <a:spcAft>
                  <a:spcPts val="0"/>
                </a:spcAft>
              </a:pPr>
              <a:r>
                <a:rPr sz="1050" b="1" i="0">
                  <a:solidFill>
                    <a:srgbClr val="FFFFFF"/>
                  </a:solidFill>
                  <a:latin typeface="Arial"/>
                </a:rPr>
                <a:t>7</a:t>
              </a:r>
            </a:p>
          </p:txBody>
        </p:sp>
        <p:sp>
          <p:nvSpPr>
            <p:cNvPr id="281" name="Task 7 label"/>
            <p:cNvSpPr txBox="1"/>
            <p:nvPr/>
          </p:nvSpPr>
          <p:spPr>
            <a:xfrm>
              <a:off x="889711" y="4475073"/>
              <a:ext cx="2258568" cy="250545"/>
            </a:xfrm>
            <a:prstGeom prst="rect">
              <a:avLst/>
            </a:prstGeom>
            <a:noFill/>
            <a:effectLst/>
          </p:spPr>
          <p:txBody>
            <a:bodyPr wrap="square" lIns="0" tIns="0" rIns="0" bIns="0" anchor="ctr">
              <a:noAutofit/>
            </a:bodyPr>
            <a:lstStyle/>
            <a:p>
              <a:pPr algn="l">
                <a:lnSpc>
                  <a:spcPct val="103000"/>
                </a:lnSpc>
                <a:spcBef>
                  <a:spcPts val="0"/>
                </a:spcBef>
                <a:spcAft>
                  <a:spcPts val="0"/>
                </a:spcAft>
              </a:pPr>
              <a:r>
                <a:rPr sz="1170" b="1" i="0">
                  <a:solidFill>
                    <a:srgbClr val="1D2357"/>
                  </a:solidFill>
                  <a:latin typeface="Arial"/>
                </a:rPr>
                <a:t>Deployment &amp; Handover</a:t>
              </a:r>
            </a:p>
          </p:txBody>
        </p:sp>
        <p:sp>
          <p:nvSpPr>
            <p:cNvPr id="282" name="Task 7 duration"/>
            <p:cNvSpPr txBox="1"/>
            <p:nvPr/>
          </p:nvSpPr>
          <p:spPr>
            <a:xfrm>
              <a:off x="3271723" y="4484217"/>
              <a:ext cx="722375" cy="228600"/>
            </a:xfrm>
            <a:prstGeom prst="rect">
              <a:avLst/>
            </a:prstGeom>
            <a:noFill/>
            <a:effectLst/>
          </p:spPr>
          <p:txBody>
            <a:bodyPr wrap="square" lIns="0" tIns="0" rIns="0" bIns="0" anchor="ctr">
              <a:noAutofit/>
            </a:bodyPr>
            <a:lstStyle/>
            <a:p>
              <a:pPr algn="ctr">
                <a:lnSpc>
                  <a:spcPct val="103000"/>
                </a:lnSpc>
                <a:spcBef>
                  <a:spcPts val="0"/>
                </a:spcBef>
                <a:spcAft>
                  <a:spcPts val="0"/>
                </a:spcAft>
              </a:pPr>
              <a:r>
                <a:rPr sz="1110" b="0" i="0">
                  <a:solidFill>
                    <a:srgbClr val="1D2357"/>
                  </a:solidFill>
                  <a:latin typeface="Arial"/>
                </a:rPr>
                <a:t>5 days</a:t>
              </a:r>
            </a:p>
          </p:txBody>
        </p:sp>
        <p:sp>
          <p:nvSpPr>
            <p:cNvPr id="283" name="Task 7 activity bar | day 16 to day 20"/>
            <p:cNvSpPr/>
            <p:nvPr/>
          </p:nvSpPr>
          <p:spPr>
            <a:xfrm>
              <a:off x="9885807" y="4495190"/>
              <a:ext cx="1875205" cy="208483"/>
            </a:xfrm>
            <a:prstGeom prst="roundRect">
              <a:avLst>
                <a:gd name="adj" fmla="val 26000"/>
              </a:avLst>
            </a:prstGeom>
            <a:solidFill>
              <a:srgbClr val="FF6B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sp>
        <p:nvSpPr>
          <p:cNvPr id="317" name="Task 4 activity bar | day 1 to day 10"/>
          <p:cNvSpPr/>
          <p:nvPr/>
        </p:nvSpPr>
        <p:spPr>
          <a:xfrm>
            <a:off x="4454438" y="3817358"/>
            <a:ext cx="3819906" cy="208483"/>
          </a:xfrm>
          <a:prstGeom prst="roundRect">
            <a:avLst>
              <a:gd name="adj" fmla="val 26000"/>
            </a:avLst>
          </a:prstGeom>
          <a:solidFill>
            <a:srgbClr val="223C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93192" y="210312"/>
            <a:ext cx="4023360" cy="201168"/>
          </a:xfrm>
          <a:prstGeom prst="rect">
            <a:avLst/>
          </a:prstGeom>
          <a:noFill/>
          <a:ln/>
        </p:spPr>
        <p:txBody>
          <a:bodyPr wrap="square" lIns="0" tIns="0" rIns="0" bIns="0" rtlCol="0" anchor="t">
            <a:normAutofit/>
          </a:bodyPr>
          <a:lstStyle/>
          <a:p>
            <a:pPr marL="0" indent="0">
              <a:buNone/>
            </a:pPr>
            <a:r>
              <a:rPr lang="en-US" sz="1080" dirty="0">
                <a:solidFill>
                  <a:srgbClr val="8B95AA"/>
                </a:solidFill>
                <a:latin typeface="Arial" pitchFamily="34" charset="0"/>
                <a:ea typeface="Arial" pitchFamily="34" charset="-122"/>
                <a:cs typeface="Arial" pitchFamily="34" charset="-120"/>
              </a:rPr>
              <a:t>Mobilization and success measures</a:t>
            </a:r>
            <a:endParaRPr lang="en-US" sz="1080" dirty="0"/>
          </a:p>
        </p:txBody>
      </p:sp>
      <p:sp>
        <p:nvSpPr>
          <p:cNvPr id="3" name="Shape 1"/>
          <p:cNvSpPr/>
          <p:nvPr/>
        </p:nvSpPr>
        <p:spPr>
          <a:xfrm>
            <a:off x="5010912" y="164592"/>
            <a:ext cx="2176272" cy="0"/>
          </a:xfrm>
          <a:prstGeom prst="line">
            <a:avLst/>
          </a:prstGeom>
          <a:solidFill>
            <a:srgbClr val="FFFFFF">
              <a:alpha val="0"/>
            </a:srgbClr>
          </a:solidFill>
          <a:ln w="11430">
            <a:solidFill>
              <a:srgbClr val="FF6B00"/>
            </a:solidFill>
            <a:prstDash val="solid"/>
          </a:ln>
        </p:spPr>
        <p:txBody>
          <a:bodyPr/>
          <a:lstStyle/>
          <a:p>
            <a:endParaRPr lang="en-PK"/>
          </a:p>
        </p:txBody>
      </p:sp>
      <p:sp>
        <p:nvSpPr>
          <p:cNvPr id="4" name="Shape 2"/>
          <p:cNvSpPr/>
          <p:nvPr/>
        </p:nvSpPr>
        <p:spPr>
          <a:xfrm>
            <a:off x="5010912" y="420624"/>
            <a:ext cx="2176272" cy="0"/>
          </a:xfrm>
          <a:prstGeom prst="line">
            <a:avLst/>
          </a:prstGeom>
          <a:solidFill>
            <a:srgbClr val="FFFFFF">
              <a:alpha val="0"/>
            </a:srgbClr>
          </a:solidFill>
          <a:ln w="11430">
            <a:solidFill>
              <a:srgbClr val="FF6B00"/>
            </a:solidFill>
            <a:prstDash val="solid"/>
          </a:ln>
        </p:spPr>
        <p:txBody>
          <a:bodyPr/>
          <a:lstStyle/>
          <a:p>
            <a:endParaRPr lang="en-PK"/>
          </a:p>
        </p:txBody>
      </p:sp>
      <p:sp>
        <p:nvSpPr>
          <p:cNvPr id="5" name="Text 3"/>
          <p:cNvSpPr/>
          <p:nvPr/>
        </p:nvSpPr>
        <p:spPr>
          <a:xfrm>
            <a:off x="5020056" y="244145"/>
            <a:ext cx="2148840" cy="146304"/>
          </a:xfrm>
          <a:prstGeom prst="rect">
            <a:avLst/>
          </a:prstGeom>
          <a:noFill/>
          <a:ln/>
        </p:spPr>
        <p:txBody>
          <a:bodyPr wrap="square" lIns="0" tIns="0" rIns="0" bIns="0" rtlCol="0" anchor="t">
            <a:normAutofit/>
          </a:bodyPr>
          <a:lstStyle/>
          <a:p>
            <a:pPr marL="0" indent="0" algn="ctr">
              <a:buNone/>
            </a:pPr>
            <a:r>
              <a:rPr lang="en-US" sz="920" b="1" dirty="0">
                <a:solidFill>
                  <a:srgbClr val="FF6B00"/>
                </a:solidFill>
                <a:latin typeface="Arial" pitchFamily="34" charset="0"/>
                <a:ea typeface="Arial" pitchFamily="34" charset="-122"/>
                <a:cs typeface="Arial" pitchFamily="34" charset="-120"/>
              </a:rPr>
              <a:t>F O R   D I S C U S S I O N</a:t>
            </a:r>
            <a:endParaRPr lang="en-US" sz="920" dirty="0"/>
          </a:p>
        </p:txBody>
      </p:sp>
      <p:sp>
        <p:nvSpPr>
          <p:cNvPr id="6" name="Text 4"/>
          <p:cNvSpPr/>
          <p:nvPr/>
        </p:nvSpPr>
        <p:spPr>
          <a:xfrm>
            <a:off x="10314432" y="210312"/>
            <a:ext cx="1481328" cy="201168"/>
          </a:xfrm>
          <a:prstGeom prst="rect">
            <a:avLst/>
          </a:prstGeom>
          <a:noFill/>
          <a:ln/>
        </p:spPr>
        <p:txBody>
          <a:bodyPr wrap="square" lIns="0" tIns="0" rIns="0" bIns="0" rtlCol="0" anchor="t">
            <a:normAutofit/>
          </a:bodyPr>
          <a:lstStyle/>
          <a:p>
            <a:pPr marL="0" indent="0" algn="r">
              <a:buNone/>
            </a:pPr>
            <a:r>
              <a:rPr lang="en-US" sz="1150" b="1" dirty="0">
                <a:solidFill>
                  <a:srgbClr val="1C2255"/>
                </a:solidFill>
                <a:latin typeface="Arial" pitchFamily="34" charset="0"/>
                <a:ea typeface="Arial" pitchFamily="34" charset="-122"/>
                <a:cs typeface="Arial" pitchFamily="34" charset="-120"/>
              </a:rPr>
              <a:t>NEELEY LAW</a:t>
            </a:r>
            <a:endParaRPr lang="en-US" sz="1150" dirty="0"/>
          </a:p>
        </p:txBody>
      </p:sp>
      <p:sp>
        <p:nvSpPr>
          <p:cNvPr id="7" name="Text 5"/>
          <p:cNvSpPr/>
          <p:nvPr/>
        </p:nvSpPr>
        <p:spPr>
          <a:xfrm>
            <a:off x="393192" y="658368"/>
            <a:ext cx="11402568" cy="667512"/>
          </a:xfrm>
          <a:prstGeom prst="rect">
            <a:avLst/>
          </a:prstGeom>
          <a:noFill/>
          <a:ln/>
        </p:spPr>
        <p:txBody>
          <a:bodyPr wrap="square" lIns="0" tIns="0" rIns="0" bIns="0" rtlCol="0" anchor="t">
            <a:normAutofit/>
          </a:bodyPr>
          <a:lstStyle/>
          <a:p>
            <a:pPr marL="0" indent="0">
              <a:buNone/>
            </a:pPr>
            <a:r>
              <a:rPr lang="en-US" sz="2650" b="1" dirty="0">
                <a:solidFill>
                  <a:srgbClr val="1C2255"/>
                </a:solidFill>
                <a:latin typeface="Arial" pitchFamily="34" charset="0"/>
                <a:ea typeface="Arial" pitchFamily="34" charset="-122"/>
                <a:cs typeface="Arial" pitchFamily="34" charset="-120"/>
              </a:rPr>
              <a:t>Agree the inputs, measure the baseline, then assess actual value</a:t>
            </a:r>
            <a:endParaRPr lang="en-US" sz="2650" dirty="0"/>
          </a:p>
        </p:txBody>
      </p:sp>
      <p:sp>
        <p:nvSpPr>
          <p:cNvPr id="8" name="Text 6"/>
          <p:cNvSpPr/>
          <p:nvPr/>
        </p:nvSpPr>
        <p:spPr>
          <a:xfrm>
            <a:off x="393192" y="1507998"/>
            <a:ext cx="11292840" cy="274320"/>
          </a:xfrm>
          <a:prstGeom prst="rect">
            <a:avLst/>
          </a:prstGeom>
          <a:noFill/>
          <a:ln/>
        </p:spPr>
        <p:txBody>
          <a:bodyPr wrap="square" lIns="0" tIns="0" rIns="0" bIns="0" rtlCol="0" anchor="t">
            <a:normAutofit/>
          </a:bodyPr>
          <a:lstStyle/>
          <a:p>
            <a:pPr marL="0" indent="0">
              <a:buNone/>
            </a:pPr>
            <a:r>
              <a:rPr lang="en-US" sz="1380" dirty="0">
                <a:solidFill>
                  <a:srgbClr val="687B96"/>
                </a:solidFill>
                <a:latin typeface="Arial" pitchFamily="34" charset="0"/>
                <a:ea typeface="Arial" pitchFamily="34" charset="-122"/>
                <a:cs typeface="Arial" pitchFamily="34" charset="-120"/>
              </a:rPr>
              <a:t>Scope, cost and acceptance criteria should be confirmed before the three-week delivery starts.</a:t>
            </a:r>
            <a:endParaRPr lang="en-US" sz="1380" dirty="0"/>
          </a:p>
        </p:txBody>
      </p:sp>
      <p:sp>
        <p:nvSpPr>
          <p:cNvPr id="9" name="Shape 7"/>
          <p:cNvSpPr/>
          <p:nvPr/>
        </p:nvSpPr>
        <p:spPr>
          <a:xfrm>
            <a:off x="393192" y="1873758"/>
            <a:ext cx="11402568" cy="0"/>
          </a:xfrm>
          <a:prstGeom prst="line">
            <a:avLst/>
          </a:prstGeom>
          <a:solidFill>
            <a:srgbClr val="FFFFFF">
              <a:alpha val="0"/>
            </a:srgbClr>
          </a:solidFill>
          <a:ln w="9525">
            <a:solidFill>
              <a:srgbClr val="CED6E6"/>
            </a:solidFill>
            <a:prstDash val="solid"/>
          </a:ln>
        </p:spPr>
        <p:txBody>
          <a:bodyPr/>
          <a:lstStyle/>
          <a:p>
            <a:endParaRPr lang="en-PK"/>
          </a:p>
        </p:txBody>
      </p:sp>
      <p:sp>
        <p:nvSpPr>
          <p:cNvPr id="11" name="Shape 9"/>
          <p:cNvSpPr/>
          <p:nvPr/>
        </p:nvSpPr>
        <p:spPr>
          <a:xfrm>
            <a:off x="393192" y="6583680"/>
            <a:ext cx="11402568" cy="0"/>
          </a:xfrm>
          <a:prstGeom prst="line">
            <a:avLst/>
          </a:prstGeom>
          <a:solidFill>
            <a:srgbClr val="FFFFFF">
              <a:alpha val="0"/>
            </a:srgbClr>
          </a:solidFill>
          <a:ln w="8255">
            <a:solidFill>
              <a:srgbClr val="CED6E6"/>
            </a:solidFill>
            <a:prstDash val="solid"/>
          </a:ln>
        </p:spPr>
        <p:txBody>
          <a:bodyPr/>
          <a:lstStyle/>
          <a:p>
            <a:endParaRPr lang="en-PK"/>
          </a:p>
        </p:txBody>
      </p:sp>
      <p:sp>
        <p:nvSpPr>
          <p:cNvPr id="12" name="Text 10"/>
          <p:cNvSpPr/>
          <p:nvPr/>
        </p:nvSpPr>
        <p:spPr>
          <a:xfrm>
            <a:off x="393192" y="6647688"/>
            <a:ext cx="3017520" cy="137160"/>
          </a:xfrm>
          <a:prstGeom prst="rect">
            <a:avLst/>
          </a:prstGeom>
          <a:noFill/>
          <a:ln/>
        </p:spPr>
        <p:txBody>
          <a:bodyPr wrap="square" lIns="0" tIns="0" rIns="0" bIns="0" rtlCol="0" anchor="t">
            <a:normAutofit/>
          </a:bodyPr>
          <a:lstStyle/>
          <a:p>
            <a:pPr marL="0" indent="0">
              <a:buNone/>
            </a:pPr>
            <a:r>
              <a:rPr lang="en-US" sz="770" dirty="0" smtClean="0">
                <a:solidFill>
                  <a:srgbClr val="8B95AA"/>
                </a:solidFill>
                <a:latin typeface="Arial" pitchFamily="34" charset="0"/>
                <a:ea typeface="Arial" pitchFamily="34" charset="-122"/>
                <a:cs typeface="Arial" pitchFamily="34" charset="-120"/>
              </a:rPr>
              <a:t>Initial </a:t>
            </a:r>
            <a:r>
              <a:rPr lang="en-US" sz="770" dirty="0">
                <a:solidFill>
                  <a:srgbClr val="8B95AA"/>
                </a:solidFill>
                <a:latin typeface="Arial" pitchFamily="34" charset="0"/>
                <a:ea typeface="Arial" pitchFamily="34" charset="-122"/>
                <a:cs typeface="Arial" pitchFamily="34" charset="-120"/>
              </a:rPr>
              <a:t>proposal</a:t>
            </a:r>
            <a:endParaRPr lang="en-US" sz="770" dirty="0"/>
          </a:p>
        </p:txBody>
      </p:sp>
      <p:sp>
        <p:nvSpPr>
          <p:cNvPr id="14" name="Text 12"/>
          <p:cNvSpPr/>
          <p:nvPr/>
        </p:nvSpPr>
        <p:spPr>
          <a:xfrm>
            <a:off x="9811512" y="6647688"/>
            <a:ext cx="1417320" cy="137160"/>
          </a:xfrm>
          <a:prstGeom prst="rect">
            <a:avLst/>
          </a:prstGeom>
          <a:noFill/>
          <a:ln/>
        </p:spPr>
        <p:txBody>
          <a:bodyPr wrap="square" lIns="0" tIns="0" rIns="0" bIns="0" rtlCol="0" anchor="t">
            <a:normAutofit/>
          </a:bodyPr>
          <a:lstStyle/>
          <a:p>
            <a:pPr marL="0" indent="0" algn="r">
              <a:buNone/>
            </a:pPr>
            <a:r>
              <a:rPr lang="en-US" sz="770" dirty="0" smtClean="0">
                <a:solidFill>
                  <a:srgbClr val="8B95AA"/>
                </a:solidFill>
                <a:latin typeface="Arial" pitchFamily="34" charset="0"/>
                <a:ea typeface="Arial" pitchFamily="34" charset="-122"/>
                <a:cs typeface="Arial" pitchFamily="34" charset="-120"/>
              </a:rPr>
              <a:t> </a:t>
            </a:r>
            <a:r>
              <a:rPr lang="en-US" sz="770" dirty="0">
                <a:solidFill>
                  <a:srgbClr val="8B95AA"/>
                </a:solidFill>
                <a:latin typeface="Arial" pitchFamily="34" charset="0"/>
                <a:ea typeface="Arial" pitchFamily="34" charset="-122"/>
                <a:cs typeface="Arial" pitchFamily="34" charset="-120"/>
              </a:rPr>
              <a:t>September 2026</a:t>
            </a:r>
            <a:endParaRPr lang="en-US" sz="770" dirty="0"/>
          </a:p>
        </p:txBody>
      </p:sp>
      <p:sp>
        <p:nvSpPr>
          <p:cNvPr id="15" name="Shape 13"/>
          <p:cNvSpPr/>
          <p:nvPr/>
        </p:nvSpPr>
        <p:spPr>
          <a:xfrm>
            <a:off x="11430000" y="6629400"/>
            <a:ext cx="0" cy="173736"/>
          </a:xfrm>
          <a:prstGeom prst="line">
            <a:avLst/>
          </a:prstGeom>
          <a:solidFill>
            <a:srgbClr val="FFFFFF">
              <a:alpha val="0"/>
            </a:srgbClr>
          </a:solidFill>
          <a:ln w="8255">
            <a:solidFill>
              <a:srgbClr val="CED6E6"/>
            </a:solidFill>
            <a:prstDash val="solid"/>
          </a:ln>
        </p:spPr>
        <p:txBody>
          <a:bodyPr/>
          <a:lstStyle/>
          <a:p>
            <a:endParaRPr lang="en-PK"/>
          </a:p>
        </p:txBody>
      </p:sp>
      <p:sp>
        <p:nvSpPr>
          <p:cNvPr id="16" name="Text 14"/>
          <p:cNvSpPr/>
          <p:nvPr/>
        </p:nvSpPr>
        <p:spPr>
          <a:xfrm>
            <a:off x="11576304" y="6647688"/>
            <a:ext cx="219456" cy="137160"/>
          </a:xfrm>
          <a:prstGeom prst="rect">
            <a:avLst/>
          </a:prstGeom>
          <a:noFill/>
          <a:ln/>
        </p:spPr>
        <p:txBody>
          <a:bodyPr wrap="square" lIns="0" tIns="0" rIns="0" bIns="0" rtlCol="0" anchor="t">
            <a:normAutofit/>
          </a:bodyPr>
          <a:lstStyle/>
          <a:p>
            <a:pPr marL="0" indent="0" algn="r">
              <a:buNone/>
            </a:pPr>
            <a:r>
              <a:rPr lang="en-US" sz="770" dirty="0">
                <a:solidFill>
                  <a:srgbClr val="8B95AA"/>
                </a:solidFill>
                <a:latin typeface="Arial" pitchFamily="34" charset="0"/>
                <a:ea typeface="Arial" pitchFamily="34" charset="-122"/>
                <a:cs typeface="Arial" pitchFamily="34" charset="-120"/>
              </a:rPr>
              <a:t>6</a:t>
            </a:r>
            <a:endParaRPr lang="en-US" sz="770" dirty="0"/>
          </a:p>
        </p:txBody>
      </p:sp>
      <p:sp>
        <p:nvSpPr>
          <p:cNvPr id="17" name="Shape 15"/>
          <p:cNvSpPr/>
          <p:nvPr/>
        </p:nvSpPr>
        <p:spPr>
          <a:xfrm>
            <a:off x="393192" y="2074164"/>
            <a:ext cx="4928616" cy="402336"/>
          </a:xfrm>
          <a:prstGeom prst="rect">
            <a:avLst/>
          </a:prstGeom>
          <a:solidFill>
            <a:srgbClr val="1C2255"/>
          </a:solidFill>
          <a:ln w="12700">
            <a:solidFill>
              <a:srgbClr val="1C2255">
                <a:alpha val="0"/>
              </a:srgbClr>
            </a:solidFill>
            <a:prstDash val="solid"/>
          </a:ln>
        </p:spPr>
        <p:txBody>
          <a:bodyPr/>
          <a:lstStyle/>
          <a:p>
            <a:endParaRPr lang="en-PK"/>
          </a:p>
        </p:txBody>
      </p:sp>
      <p:sp>
        <p:nvSpPr>
          <p:cNvPr id="18" name="Text 16"/>
          <p:cNvSpPr/>
          <p:nvPr/>
        </p:nvSpPr>
        <p:spPr>
          <a:xfrm>
            <a:off x="557784" y="2174748"/>
            <a:ext cx="4599432" cy="219456"/>
          </a:xfrm>
          <a:prstGeom prst="rect">
            <a:avLst/>
          </a:prstGeom>
          <a:noFill/>
          <a:ln/>
        </p:spPr>
        <p:txBody>
          <a:bodyPr wrap="square" lIns="0" tIns="0" rIns="0" bIns="0" rtlCol="0" anchor="t">
            <a:normAutofit/>
          </a:bodyPr>
          <a:lstStyle/>
          <a:p>
            <a:pPr marL="0" indent="0">
              <a:buNone/>
            </a:pPr>
            <a:r>
              <a:rPr lang="en-US" sz="1250" b="1" dirty="0">
                <a:solidFill>
                  <a:srgbClr val="FFFFFF"/>
                </a:solidFill>
                <a:latin typeface="Arial" pitchFamily="34" charset="0"/>
                <a:ea typeface="Arial" pitchFamily="34" charset="-122"/>
                <a:cs typeface="Arial" pitchFamily="34" charset="-120"/>
              </a:rPr>
              <a:t>WHAT NEELEY LAW PROVIDES</a:t>
            </a:r>
            <a:endParaRPr lang="en-US" sz="1250" dirty="0"/>
          </a:p>
        </p:txBody>
      </p:sp>
      <p:sp>
        <p:nvSpPr>
          <p:cNvPr id="19" name="Shape 17"/>
          <p:cNvSpPr/>
          <p:nvPr/>
        </p:nvSpPr>
        <p:spPr>
          <a:xfrm>
            <a:off x="5614416" y="2074164"/>
            <a:ext cx="6181344" cy="402336"/>
          </a:xfrm>
          <a:prstGeom prst="rect">
            <a:avLst/>
          </a:prstGeom>
          <a:solidFill>
            <a:srgbClr val="364BAD"/>
          </a:solidFill>
          <a:ln w="12700">
            <a:solidFill>
              <a:srgbClr val="364BAD">
                <a:alpha val="0"/>
              </a:srgbClr>
            </a:solidFill>
            <a:prstDash val="solid"/>
          </a:ln>
        </p:spPr>
        <p:txBody>
          <a:bodyPr/>
          <a:lstStyle/>
          <a:p>
            <a:endParaRPr lang="en-PK"/>
          </a:p>
        </p:txBody>
      </p:sp>
      <p:sp>
        <p:nvSpPr>
          <p:cNvPr id="20" name="Text 18"/>
          <p:cNvSpPr/>
          <p:nvPr/>
        </p:nvSpPr>
        <p:spPr>
          <a:xfrm>
            <a:off x="5779008" y="2174748"/>
            <a:ext cx="5852160" cy="219456"/>
          </a:xfrm>
          <a:prstGeom prst="rect">
            <a:avLst/>
          </a:prstGeom>
          <a:noFill/>
          <a:ln/>
        </p:spPr>
        <p:txBody>
          <a:bodyPr wrap="square" lIns="0" tIns="0" rIns="0" bIns="0" rtlCol="0" anchor="t">
            <a:normAutofit/>
          </a:bodyPr>
          <a:lstStyle/>
          <a:p>
            <a:pPr marL="0" indent="0">
              <a:buNone/>
            </a:pPr>
            <a:r>
              <a:rPr lang="en-US" sz="1250" b="1" dirty="0">
                <a:solidFill>
                  <a:srgbClr val="FFFFFF"/>
                </a:solidFill>
                <a:latin typeface="Arial" pitchFamily="34" charset="0"/>
                <a:ea typeface="Arial" pitchFamily="34" charset="-122"/>
                <a:cs typeface="Arial" pitchFamily="34" charset="-120"/>
              </a:rPr>
              <a:t>HOW ACTUAL IMPACT IS MEASURED</a:t>
            </a:r>
            <a:endParaRPr lang="en-US" sz="1250" dirty="0"/>
          </a:p>
        </p:txBody>
      </p:sp>
      <p:sp>
        <p:nvSpPr>
          <p:cNvPr id="21" name="Shape 19"/>
          <p:cNvSpPr/>
          <p:nvPr/>
        </p:nvSpPr>
        <p:spPr>
          <a:xfrm>
            <a:off x="521208" y="3016505"/>
            <a:ext cx="429768" cy="429768"/>
          </a:xfrm>
          <a:prstGeom prst="ellipse">
            <a:avLst/>
          </a:prstGeom>
          <a:solidFill>
            <a:srgbClr val="E9F0FB"/>
          </a:solidFill>
          <a:ln w="12700">
            <a:solidFill>
              <a:srgbClr val="E9F0FB">
                <a:alpha val="0"/>
              </a:srgbClr>
            </a:solidFill>
            <a:prstDash val="solid"/>
          </a:ln>
        </p:spPr>
        <p:txBody>
          <a:bodyPr/>
          <a:lstStyle/>
          <a:p>
            <a:endParaRPr lang="en-PK"/>
          </a:p>
        </p:txBody>
      </p:sp>
      <p:sp>
        <p:nvSpPr>
          <p:cNvPr id="22" name="Shape 20"/>
          <p:cNvSpPr/>
          <p:nvPr/>
        </p:nvSpPr>
        <p:spPr>
          <a:xfrm>
            <a:off x="611030" y="3146220"/>
            <a:ext cx="44696" cy="44696"/>
          </a:xfrm>
          <a:prstGeom prst="rect">
            <a:avLst/>
          </a:prstGeom>
          <a:solidFill>
            <a:srgbClr val="FFFFFF"/>
          </a:solidFill>
          <a:ln w="8255">
            <a:solidFill>
              <a:srgbClr val="364BAD"/>
            </a:solidFill>
            <a:prstDash val="solid"/>
          </a:ln>
        </p:spPr>
        <p:txBody>
          <a:bodyPr/>
          <a:lstStyle/>
          <a:p>
            <a:endParaRPr lang="en-PK"/>
          </a:p>
        </p:txBody>
      </p:sp>
      <p:sp>
        <p:nvSpPr>
          <p:cNvPr id="23" name="Shape 21"/>
          <p:cNvSpPr/>
          <p:nvPr/>
        </p:nvSpPr>
        <p:spPr>
          <a:xfrm>
            <a:off x="686454" y="3168568"/>
            <a:ext cx="164816" cy="0"/>
          </a:xfrm>
          <a:prstGeom prst="line">
            <a:avLst/>
          </a:prstGeom>
          <a:solidFill>
            <a:srgbClr val="FFFFFF">
              <a:alpha val="0"/>
            </a:srgbClr>
          </a:solidFill>
          <a:ln w="21590">
            <a:solidFill>
              <a:srgbClr val="364BAD"/>
            </a:solidFill>
            <a:prstDash val="solid"/>
          </a:ln>
        </p:spPr>
        <p:txBody>
          <a:bodyPr/>
          <a:lstStyle/>
          <a:p>
            <a:endParaRPr lang="en-PK"/>
          </a:p>
        </p:txBody>
      </p:sp>
      <p:sp>
        <p:nvSpPr>
          <p:cNvPr id="24" name="Shape 22"/>
          <p:cNvSpPr/>
          <p:nvPr/>
        </p:nvSpPr>
        <p:spPr>
          <a:xfrm>
            <a:off x="611030" y="3218851"/>
            <a:ext cx="44696" cy="44696"/>
          </a:xfrm>
          <a:prstGeom prst="rect">
            <a:avLst/>
          </a:prstGeom>
          <a:solidFill>
            <a:srgbClr val="FFFFFF"/>
          </a:solidFill>
          <a:ln w="8255">
            <a:solidFill>
              <a:srgbClr val="364BAD"/>
            </a:solidFill>
            <a:prstDash val="solid"/>
          </a:ln>
        </p:spPr>
        <p:txBody>
          <a:bodyPr/>
          <a:lstStyle/>
          <a:p>
            <a:endParaRPr lang="en-PK"/>
          </a:p>
        </p:txBody>
      </p:sp>
      <p:sp>
        <p:nvSpPr>
          <p:cNvPr id="25" name="Shape 23"/>
          <p:cNvSpPr/>
          <p:nvPr/>
        </p:nvSpPr>
        <p:spPr>
          <a:xfrm>
            <a:off x="686454" y="3241199"/>
            <a:ext cx="164816" cy="0"/>
          </a:xfrm>
          <a:prstGeom prst="line">
            <a:avLst/>
          </a:prstGeom>
          <a:solidFill>
            <a:srgbClr val="FFFFFF">
              <a:alpha val="0"/>
            </a:srgbClr>
          </a:solidFill>
          <a:ln w="21590">
            <a:solidFill>
              <a:srgbClr val="364BAD"/>
            </a:solidFill>
            <a:prstDash val="solid"/>
          </a:ln>
        </p:spPr>
        <p:txBody>
          <a:bodyPr/>
          <a:lstStyle/>
          <a:p>
            <a:endParaRPr lang="en-PK"/>
          </a:p>
        </p:txBody>
      </p:sp>
      <p:sp>
        <p:nvSpPr>
          <p:cNvPr id="26" name="Shape 24"/>
          <p:cNvSpPr/>
          <p:nvPr/>
        </p:nvSpPr>
        <p:spPr>
          <a:xfrm>
            <a:off x="611030" y="3291482"/>
            <a:ext cx="44696" cy="44696"/>
          </a:xfrm>
          <a:prstGeom prst="rect">
            <a:avLst/>
          </a:prstGeom>
          <a:solidFill>
            <a:srgbClr val="FFFFFF"/>
          </a:solidFill>
          <a:ln w="8255">
            <a:solidFill>
              <a:srgbClr val="364BAD"/>
            </a:solidFill>
            <a:prstDash val="solid"/>
          </a:ln>
        </p:spPr>
        <p:txBody>
          <a:bodyPr/>
          <a:lstStyle/>
          <a:p>
            <a:endParaRPr lang="en-PK"/>
          </a:p>
        </p:txBody>
      </p:sp>
      <p:sp>
        <p:nvSpPr>
          <p:cNvPr id="27" name="Shape 25"/>
          <p:cNvSpPr/>
          <p:nvPr/>
        </p:nvSpPr>
        <p:spPr>
          <a:xfrm>
            <a:off x="686454" y="3313830"/>
            <a:ext cx="164816" cy="0"/>
          </a:xfrm>
          <a:prstGeom prst="line">
            <a:avLst/>
          </a:prstGeom>
          <a:solidFill>
            <a:srgbClr val="FFFFFF">
              <a:alpha val="0"/>
            </a:srgbClr>
          </a:solidFill>
          <a:ln w="21590">
            <a:solidFill>
              <a:srgbClr val="364BAD"/>
            </a:solidFill>
            <a:prstDash val="solid"/>
          </a:ln>
        </p:spPr>
        <p:txBody>
          <a:bodyPr/>
          <a:lstStyle/>
          <a:p>
            <a:endParaRPr lang="en-PK"/>
          </a:p>
        </p:txBody>
      </p:sp>
      <p:sp>
        <p:nvSpPr>
          <p:cNvPr id="29" name="Text 27"/>
          <p:cNvSpPr/>
          <p:nvPr/>
        </p:nvSpPr>
        <p:spPr>
          <a:xfrm>
            <a:off x="1161288" y="3094886"/>
            <a:ext cx="2944368" cy="393192"/>
          </a:xfrm>
          <a:prstGeom prst="rect">
            <a:avLst/>
          </a:prstGeom>
          <a:noFill/>
          <a:ln/>
        </p:spPr>
        <p:txBody>
          <a:bodyPr wrap="square" lIns="0" tIns="0" rIns="0" bIns="0" rtlCol="0" anchor="t">
            <a:normAutofit/>
          </a:bodyPr>
          <a:lstStyle/>
          <a:p>
            <a:pPr marL="0" indent="0">
              <a:buNone/>
            </a:pPr>
            <a:r>
              <a:rPr lang="en-US" sz="1260" b="1" dirty="0">
                <a:solidFill>
                  <a:srgbClr val="1C2255"/>
                </a:solidFill>
                <a:latin typeface="Arial" pitchFamily="34" charset="0"/>
                <a:ea typeface="Arial" pitchFamily="34" charset="-122"/>
                <a:cs typeface="Arial" pitchFamily="34" charset="-120"/>
              </a:rPr>
              <a:t>Document list, samples and review rules</a:t>
            </a:r>
            <a:endParaRPr lang="en-US" sz="1260" dirty="0"/>
          </a:p>
        </p:txBody>
      </p:sp>
      <p:sp>
        <p:nvSpPr>
          <p:cNvPr id="30" name="Shape 28"/>
          <p:cNvSpPr/>
          <p:nvPr/>
        </p:nvSpPr>
        <p:spPr>
          <a:xfrm>
            <a:off x="731520" y="3474467"/>
            <a:ext cx="0" cy="164592"/>
          </a:xfrm>
          <a:prstGeom prst="line">
            <a:avLst/>
          </a:prstGeom>
          <a:solidFill>
            <a:srgbClr val="FFFFFF">
              <a:alpha val="0"/>
            </a:srgbClr>
          </a:solidFill>
          <a:ln w="13970">
            <a:solidFill>
              <a:srgbClr val="CED6E6"/>
            </a:solidFill>
            <a:prstDash val="solid"/>
          </a:ln>
        </p:spPr>
        <p:txBody>
          <a:bodyPr/>
          <a:lstStyle/>
          <a:p>
            <a:endParaRPr lang="en-PK"/>
          </a:p>
        </p:txBody>
      </p:sp>
      <p:sp>
        <p:nvSpPr>
          <p:cNvPr id="31" name="Shape 29"/>
          <p:cNvSpPr/>
          <p:nvPr/>
        </p:nvSpPr>
        <p:spPr>
          <a:xfrm>
            <a:off x="521208" y="3634487"/>
            <a:ext cx="429768" cy="429768"/>
          </a:xfrm>
          <a:prstGeom prst="ellipse">
            <a:avLst/>
          </a:prstGeom>
          <a:solidFill>
            <a:srgbClr val="E9F0FB"/>
          </a:solidFill>
          <a:ln w="12700">
            <a:solidFill>
              <a:srgbClr val="E9F0FB">
                <a:alpha val="0"/>
              </a:srgbClr>
            </a:solidFill>
            <a:prstDash val="solid"/>
          </a:ln>
        </p:spPr>
        <p:txBody>
          <a:bodyPr/>
          <a:lstStyle/>
          <a:p>
            <a:endParaRPr lang="en-PK"/>
          </a:p>
        </p:txBody>
      </p:sp>
      <p:sp>
        <p:nvSpPr>
          <p:cNvPr id="32" name="Shape 30"/>
          <p:cNvSpPr/>
          <p:nvPr/>
        </p:nvSpPr>
        <p:spPr>
          <a:xfrm rot="10800000">
            <a:off x="627790" y="3725598"/>
            <a:ext cx="212305" cy="240240"/>
          </a:xfrm>
          <a:prstGeom prst="pentagon">
            <a:avLst/>
          </a:prstGeom>
          <a:solidFill>
            <a:srgbClr val="FFFFFF"/>
          </a:solidFill>
          <a:ln w="22860">
            <a:solidFill>
              <a:srgbClr val="364BAD"/>
            </a:solidFill>
            <a:prstDash val="solid"/>
          </a:ln>
        </p:spPr>
        <p:txBody>
          <a:bodyPr/>
          <a:lstStyle/>
          <a:p>
            <a:endParaRPr lang="en-PK"/>
          </a:p>
        </p:txBody>
      </p:sp>
      <p:sp>
        <p:nvSpPr>
          <p:cNvPr id="33" name="Shape 31"/>
          <p:cNvSpPr/>
          <p:nvPr/>
        </p:nvSpPr>
        <p:spPr>
          <a:xfrm>
            <a:off x="678073" y="3831751"/>
            <a:ext cx="41902" cy="44696"/>
          </a:xfrm>
          <a:prstGeom prst="line">
            <a:avLst/>
          </a:prstGeom>
          <a:solidFill>
            <a:srgbClr val="FFFFFF">
              <a:alpha val="0"/>
            </a:srgbClr>
          </a:solidFill>
          <a:ln w="25400">
            <a:solidFill>
              <a:srgbClr val="364BAD"/>
            </a:solidFill>
            <a:prstDash val="solid"/>
          </a:ln>
        </p:spPr>
        <p:txBody>
          <a:bodyPr/>
          <a:lstStyle/>
          <a:p>
            <a:endParaRPr lang="en-PK"/>
          </a:p>
        </p:txBody>
      </p:sp>
      <p:sp>
        <p:nvSpPr>
          <p:cNvPr id="34" name="Shape 32"/>
          <p:cNvSpPr/>
          <p:nvPr/>
        </p:nvSpPr>
        <p:spPr>
          <a:xfrm flipV="1">
            <a:off x="719976" y="3795435"/>
            <a:ext cx="75424" cy="81011"/>
          </a:xfrm>
          <a:prstGeom prst="line">
            <a:avLst/>
          </a:prstGeom>
          <a:solidFill>
            <a:srgbClr val="FFFFFF">
              <a:alpha val="0"/>
            </a:srgbClr>
          </a:solidFill>
          <a:ln w="25400">
            <a:solidFill>
              <a:srgbClr val="364BAD"/>
            </a:solidFill>
            <a:prstDash val="solid"/>
          </a:ln>
        </p:spPr>
        <p:txBody>
          <a:bodyPr/>
          <a:lstStyle/>
          <a:p>
            <a:endParaRPr lang="en-PK"/>
          </a:p>
        </p:txBody>
      </p:sp>
      <p:sp>
        <p:nvSpPr>
          <p:cNvPr id="36" name="Text 34"/>
          <p:cNvSpPr/>
          <p:nvPr/>
        </p:nvSpPr>
        <p:spPr>
          <a:xfrm>
            <a:off x="1157935" y="3769242"/>
            <a:ext cx="2944368" cy="393192"/>
          </a:xfrm>
          <a:prstGeom prst="rect">
            <a:avLst/>
          </a:prstGeom>
          <a:noFill/>
          <a:ln/>
        </p:spPr>
        <p:txBody>
          <a:bodyPr wrap="square" lIns="0" tIns="0" rIns="0" bIns="0" rtlCol="0" anchor="t">
            <a:normAutofit/>
          </a:bodyPr>
          <a:lstStyle/>
          <a:p>
            <a:pPr marL="0" indent="0">
              <a:buNone/>
            </a:pPr>
            <a:r>
              <a:rPr lang="en-US" sz="1260" b="1" dirty="0">
                <a:solidFill>
                  <a:srgbClr val="1C2255"/>
                </a:solidFill>
                <a:latin typeface="Arial" pitchFamily="34" charset="0"/>
                <a:ea typeface="Arial" pitchFamily="34" charset="-122"/>
                <a:cs typeface="Arial" pitchFamily="34" charset="-120"/>
              </a:rPr>
              <a:t>Baseline, security and retention needs</a:t>
            </a:r>
            <a:endParaRPr lang="en-US" sz="1260" dirty="0"/>
          </a:p>
        </p:txBody>
      </p:sp>
      <p:sp>
        <p:nvSpPr>
          <p:cNvPr id="37" name="Shape 35"/>
          <p:cNvSpPr/>
          <p:nvPr/>
        </p:nvSpPr>
        <p:spPr>
          <a:xfrm>
            <a:off x="731520" y="4073399"/>
            <a:ext cx="0" cy="164592"/>
          </a:xfrm>
          <a:prstGeom prst="line">
            <a:avLst/>
          </a:prstGeom>
          <a:solidFill>
            <a:srgbClr val="FFFFFF">
              <a:alpha val="0"/>
            </a:srgbClr>
          </a:solidFill>
          <a:ln w="13970">
            <a:solidFill>
              <a:srgbClr val="CED6E6"/>
            </a:solidFill>
            <a:prstDash val="solid"/>
          </a:ln>
        </p:spPr>
        <p:txBody>
          <a:bodyPr/>
          <a:lstStyle/>
          <a:p>
            <a:endParaRPr lang="en-PK"/>
          </a:p>
        </p:txBody>
      </p:sp>
      <p:sp>
        <p:nvSpPr>
          <p:cNvPr id="38" name="Shape 36"/>
          <p:cNvSpPr/>
          <p:nvPr/>
        </p:nvSpPr>
        <p:spPr>
          <a:xfrm>
            <a:off x="521208" y="4233419"/>
            <a:ext cx="429768" cy="429768"/>
          </a:xfrm>
          <a:prstGeom prst="ellipse">
            <a:avLst/>
          </a:prstGeom>
          <a:solidFill>
            <a:srgbClr val="E9F0FB"/>
          </a:solidFill>
          <a:ln w="12700">
            <a:solidFill>
              <a:srgbClr val="E9F0FB">
                <a:alpha val="0"/>
              </a:srgbClr>
            </a:solidFill>
            <a:prstDash val="solid"/>
          </a:ln>
        </p:spPr>
        <p:txBody>
          <a:bodyPr/>
          <a:lstStyle/>
          <a:p>
            <a:endParaRPr lang="en-PK"/>
          </a:p>
        </p:txBody>
      </p:sp>
      <p:sp>
        <p:nvSpPr>
          <p:cNvPr id="39" name="Shape 37"/>
          <p:cNvSpPr/>
          <p:nvPr/>
        </p:nvSpPr>
        <p:spPr>
          <a:xfrm>
            <a:off x="608236" y="4335704"/>
            <a:ext cx="125707" cy="97772"/>
          </a:xfrm>
          <a:prstGeom prst="roundRect">
            <a:avLst>
              <a:gd name="adj" fmla="val 74819"/>
            </a:avLst>
          </a:prstGeom>
          <a:solidFill>
            <a:srgbClr val="FFFFFF"/>
          </a:solidFill>
          <a:ln w="8255">
            <a:solidFill>
              <a:srgbClr val="364BAD"/>
            </a:solidFill>
            <a:prstDash val="solid"/>
          </a:ln>
        </p:spPr>
        <p:txBody>
          <a:bodyPr/>
          <a:lstStyle/>
          <a:p>
            <a:endParaRPr lang="en-PK"/>
          </a:p>
        </p:txBody>
      </p:sp>
      <p:sp>
        <p:nvSpPr>
          <p:cNvPr id="40" name="Shape 38"/>
          <p:cNvSpPr/>
          <p:nvPr/>
        </p:nvSpPr>
        <p:spPr>
          <a:xfrm>
            <a:off x="733943" y="4450237"/>
            <a:ext cx="125707" cy="97772"/>
          </a:xfrm>
          <a:prstGeom prst="roundRect">
            <a:avLst>
              <a:gd name="adj" fmla="val 74819"/>
            </a:avLst>
          </a:prstGeom>
          <a:solidFill>
            <a:srgbClr val="FFFFFF"/>
          </a:solidFill>
          <a:ln w="8255">
            <a:solidFill>
              <a:srgbClr val="364BAD"/>
            </a:solidFill>
            <a:prstDash val="solid"/>
          </a:ln>
        </p:spPr>
        <p:txBody>
          <a:bodyPr/>
          <a:lstStyle/>
          <a:p>
            <a:endParaRPr lang="en-PK"/>
          </a:p>
        </p:txBody>
      </p:sp>
      <p:sp>
        <p:nvSpPr>
          <p:cNvPr id="41" name="Shape 39"/>
          <p:cNvSpPr/>
          <p:nvPr/>
        </p:nvSpPr>
        <p:spPr>
          <a:xfrm>
            <a:off x="672486" y="4433476"/>
            <a:ext cx="125707" cy="16761"/>
          </a:xfrm>
          <a:prstGeom prst="line">
            <a:avLst/>
          </a:prstGeom>
          <a:solidFill>
            <a:srgbClr val="FFFFFF">
              <a:alpha val="0"/>
            </a:srgbClr>
          </a:solidFill>
          <a:ln w="21590">
            <a:solidFill>
              <a:srgbClr val="364BAD"/>
            </a:solidFill>
            <a:prstDash val="solid"/>
          </a:ln>
        </p:spPr>
        <p:txBody>
          <a:bodyPr/>
          <a:lstStyle/>
          <a:p>
            <a:endParaRPr lang="en-PK"/>
          </a:p>
        </p:txBody>
      </p:sp>
      <p:sp>
        <p:nvSpPr>
          <p:cNvPr id="43" name="Text 41"/>
          <p:cNvSpPr/>
          <p:nvPr/>
        </p:nvSpPr>
        <p:spPr>
          <a:xfrm>
            <a:off x="1157935" y="4395597"/>
            <a:ext cx="2944368" cy="393192"/>
          </a:xfrm>
          <a:prstGeom prst="rect">
            <a:avLst/>
          </a:prstGeom>
          <a:noFill/>
          <a:ln/>
        </p:spPr>
        <p:txBody>
          <a:bodyPr wrap="square" lIns="0" tIns="0" rIns="0" bIns="0" rtlCol="0" anchor="t">
            <a:normAutofit/>
          </a:bodyPr>
          <a:lstStyle/>
          <a:p>
            <a:pPr marL="0" indent="0">
              <a:buNone/>
            </a:pPr>
            <a:r>
              <a:rPr lang="en-US" sz="1260" b="1" dirty="0">
                <a:solidFill>
                  <a:srgbClr val="1C2255"/>
                </a:solidFill>
                <a:latin typeface="Arial" pitchFamily="34" charset="0"/>
                <a:ea typeface="Arial" pitchFamily="34" charset="-122"/>
                <a:cs typeface="Arial" pitchFamily="34" charset="-120"/>
              </a:rPr>
              <a:t>Email and hosting access</a:t>
            </a:r>
            <a:endParaRPr lang="en-US" sz="1260" dirty="0"/>
          </a:p>
        </p:txBody>
      </p:sp>
      <p:sp>
        <p:nvSpPr>
          <p:cNvPr id="62" name="Shape 60"/>
          <p:cNvSpPr/>
          <p:nvPr/>
        </p:nvSpPr>
        <p:spPr>
          <a:xfrm>
            <a:off x="5797296" y="2991231"/>
            <a:ext cx="1837944" cy="877824"/>
          </a:xfrm>
          <a:prstGeom prst="roundRect">
            <a:avLst>
              <a:gd name="adj" fmla="val 8333"/>
            </a:avLst>
          </a:prstGeom>
          <a:solidFill>
            <a:srgbClr val="F2F5FA"/>
          </a:solidFill>
          <a:ln w="12700">
            <a:solidFill>
              <a:srgbClr val="F2F5FA">
                <a:alpha val="0"/>
              </a:srgbClr>
            </a:solidFill>
            <a:prstDash val="solid"/>
          </a:ln>
        </p:spPr>
        <p:txBody>
          <a:bodyPr/>
          <a:lstStyle/>
          <a:p>
            <a:endParaRPr lang="en-PK"/>
          </a:p>
        </p:txBody>
      </p:sp>
      <p:sp>
        <p:nvSpPr>
          <p:cNvPr id="63" name="Shape 61"/>
          <p:cNvSpPr/>
          <p:nvPr/>
        </p:nvSpPr>
        <p:spPr>
          <a:xfrm>
            <a:off x="5941771" y="3199714"/>
            <a:ext cx="307238" cy="307238"/>
          </a:xfrm>
          <a:prstGeom prst="ellipse">
            <a:avLst/>
          </a:prstGeom>
          <a:solidFill>
            <a:srgbClr val="FFFFFF"/>
          </a:solidFill>
          <a:ln w="21590">
            <a:solidFill>
              <a:srgbClr val="364BAD"/>
            </a:solidFill>
            <a:prstDash val="solid"/>
          </a:ln>
        </p:spPr>
        <p:txBody>
          <a:bodyPr/>
          <a:lstStyle/>
          <a:p>
            <a:endParaRPr lang="en-PK"/>
          </a:p>
        </p:txBody>
      </p:sp>
      <p:sp>
        <p:nvSpPr>
          <p:cNvPr id="64" name="Shape 62"/>
          <p:cNvSpPr/>
          <p:nvPr/>
        </p:nvSpPr>
        <p:spPr>
          <a:xfrm>
            <a:off x="6099048" y="3250921"/>
            <a:ext cx="0" cy="109728"/>
          </a:xfrm>
          <a:prstGeom prst="line">
            <a:avLst/>
          </a:prstGeom>
          <a:solidFill>
            <a:srgbClr val="FFFFFF">
              <a:alpha val="0"/>
            </a:srgbClr>
          </a:solidFill>
          <a:ln w="26670">
            <a:solidFill>
              <a:srgbClr val="364BAD"/>
            </a:solidFill>
            <a:prstDash val="solid"/>
          </a:ln>
        </p:spPr>
        <p:txBody>
          <a:bodyPr/>
          <a:lstStyle/>
          <a:p>
            <a:endParaRPr lang="en-PK"/>
          </a:p>
        </p:txBody>
      </p:sp>
      <p:sp>
        <p:nvSpPr>
          <p:cNvPr id="65" name="Shape 63"/>
          <p:cNvSpPr/>
          <p:nvPr/>
        </p:nvSpPr>
        <p:spPr>
          <a:xfrm>
            <a:off x="6099048" y="3360649"/>
            <a:ext cx="84125" cy="51206"/>
          </a:xfrm>
          <a:prstGeom prst="line">
            <a:avLst/>
          </a:prstGeom>
          <a:solidFill>
            <a:srgbClr val="FFFFFF">
              <a:alpha val="0"/>
            </a:srgbClr>
          </a:solidFill>
          <a:ln w="26670">
            <a:solidFill>
              <a:srgbClr val="364BAD"/>
            </a:solidFill>
            <a:prstDash val="solid"/>
          </a:ln>
        </p:spPr>
        <p:txBody>
          <a:bodyPr/>
          <a:lstStyle/>
          <a:p>
            <a:endParaRPr lang="en-PK"/>
          </a:p>
        </p:txBody>
      </p:sp>
      <p:sp>
        <p:nvSpPr>
          <p:cNvPr id="66" name="Text 64"/>
          <p:cNvSpPr/>
          <p:nvPr/>
        </p:nvSpPr>
        <p:spPr>
          <a:xfrm>
            <a:off x="6400800" y="3247263"/>
            <a:ext cx="1124712" cy="448056"/>
          </a:xfrm>
          <a:prstGeom prst="rect">
            <a:avLst/>
          </a:prstGeom>
          <a:noFill/>
          <a:ln/>
        </p:spPr>
        <p:txBody>
          <a:bodyPr wrap="square" lIns="0" tIns="0" rIns="0" bIns="0" rtlCol="0" anchor="t">
            <a:normAutofit/>
          </a:bodyPr>
          <a:lstStyle/>
          <a:p>
            <a:pPr marL="0" indent="0">
              <a:buNone/>
            </a:pPr>
            <a:r>
              <a:rPr lang="en-US" sz="1130" b="1" dirty="0">
                <a:solidFill>
                  <a:srgbClr val="1C2255"/>
                </a:solidFill>
                <a:latin typeface="Arial" pitchFamily="34" charset="0"/>
                <a:ea typeface="Arial" pitchFamily="34" charset="-122"/>
                <a:cs typeface="Arial" pitchFamily="34" charset="-120"/>
              </a:rPr>
              <a:t>Handling time</a:t>
            </a:r>
            <a:endParaRPr lang="en-US" sz="1130" dirty="0"/>
          </a:p>
        </p:txBody>
      </p:sp>
      <p:sp>
        <p:nvSpPr>
          <p:cNvPr id="67" name="Shape 65"/>
          <p:cNvSpPr/>
          <p:nvPr/>
        </p:nvSpPr>
        <p:spPr>
          <a:xfrm>
            <a:off x="7781544" y="2991231"/>
            <a:ext cx="1837944" cy="877824"/>
          </a:xfrm>
          <a:prstGeom prst="roundRect">
            <a:avLst>
              <a:gd name="adj" fmla="val 8333"/>
            </a:avLst>
          </a:prstGeom>
          <a:solidFill>
            <a:srgbClr val="F2F5FA"/>
          </a:solidFill>
          <a:ln w="12700">
            <a:solidFill>
              <a:srgbClr val="F2F5FA">
                <a:alpha val="0"/>
              </a:srgbClr>
            </a:solidFill>
            <a:prstDash val="solid"/>
          </a:ln>
        </p:spPr>
        <p:txBody>
          <a:bodyPr/>
          <a:lstStyle/>
          <a:p>
            <a:endParaRPr lang="en-PK"/>
          </a:p>
        </p:txBody>
      </p:sp>
      <p:sp>
        <p:nvSpPr>
          <p:cNvPr id="68" name="Shape 66"/>
          <p:cNvSpPr/>
          <p:nvPr/>
        </p:nvSpPr>
        <p:spPr>
          <a:xfrm>
            <a:off x="7936992" y="3210687"/>
            <a:ext cx="292608" cy="292608"/>
          </a:xfrm>
          <a:prstGeom prst="ellipse">
            <a:avLst/>
          </a:prstGeom>
          <a:solidFill>
            <a:srgbClr val="FFFFFF"/>
          </a:solidFill>
          <a:ln w="21590">
            <a:solidFill>
              <a:srgbClr val="364BAD"/>
            </a:solidFill>
            <a:prstDash val="solid"/>
          </a:ln>
        </p:spPr>
        <p:txBody>
          <a:bodyPr/>
          <a:lstStyle/>
          <a:p>
            <a:endParaRPr lang="en-PK"/>
          </a:p>
        </p:txBody>
      </p:sp>
      <p:sp>
        <p:nvSpPr>
          <p:cNvPr id="69" name="Shape 67"/>
          <p:cNvSpPr/>
          <p:nvPr/>
        </p:nvSpPr>
        <p:spPr>
          <a:xfrm>
            <a:off x="8079638" y="3265551"/>
            <a:ext cx="0" cy="98755"/>
          </a:xfrm>
          <a:prstGeom prst="line">
            <a:avLst/>
          </a:prstGeom>
          <a:solidFill>
            <a:srgbClr val="FFFFFF">
              <a:alpha val="0"/>
            </a:srgbClr>
          </a:solidFill>
          <a:ln w="21590">
            <a:solidFill>
              <a:srgbClr val="364BAD"/>
            </a:solidFill>
            <a:prstDash val="solid"/>
          </a:ln>
        </p:spPr>
        <p:txBody>
          <a:bodyPr/>
          <a:lstStyle/>
          <a:p>
            <a:endParaRPr lang="en-PK"/>
          </a:p>
        </p:txBody>
      </p:sp>
      <p:sp>
        <p:nvSpPr>
          <p:cNvPr id="70" name="Shape 68"/>
          <p:cNvSpPr/>
          <p:nvPr/>
        </p:nvSpPr>
        <p:spPr>
          <a:xfrm>
            <a:off x="8079638" y="3364306"/>
            <a:ext cx="76810" cy="36576"/>
          </a:xfrm>
          <a:prstGeom prst="line">
            <a:avLst/>
          </a:prstGeom>
          <a:solidFill>
            <a:srgbClr val="FFFFFF">
              <a:alpha val="0"/>
            </a:srgbClr>
          </a:solidFill>
          <a:ln w="21590">
            <a:solidFill>
              <a:srgbClr val="364BAD"/>
            </a:solidFill>
            <a:prstDash val="solid"/>
          </a:ln>
        </p:spPr>
        <p:txBody>
          <a:bodyPr/>
          <a:lstStyle/>
          <a:p>
            <a:endParaRPr lang="en-PK"/>
          </a:p>
        </p:txBody>
      </p:sp>
      <p:sp>
        <p:nvSpPr>
          <p:cNvPr id="71" name="Shape 69"/>
          <p:cNvSpPr/>
          <p:nvPr/>
        </p:nvSpPr>
        <p:spPr>
          <a:xfrm>
            <a:off x="7944307" y="3243605"/>
            <a:ext cx="0" cy="80467"/>
          </a:xfrm>
          <a:prstGeom prst="line">
            <a:avLst/>
          </a:prstGeom>
          <a:solidFill>
            <a:srgbClr val="FFFFFF">
              <a:alpha val="0"/>
            </a:srgbClr>
          </a:solidFill>
          <a:ln w="25400">
            <a:solidFill>
              <a:srgbClr val="364BAD"/>
            </a:solidFill>
            <a:prstDash val="solid"/>
          </a:ln>
        </p:spPr>
        <p:txBody>
          <a:bodyPr/>
          <a:lstStyle/>
          <a:p>
            <a:endParaRPr lang="en-PK"/>
          </a:p>
        </p:txBody>
      </p:sp>
      <p:sp>
        <p:nvSpPr>
          <p:cNvPr id="72" name="Shape 70"/>
          <p:cNvSpPr/>
          <p:nvPr/>
        </p:nvSpPr>
        <p:spPr>
          <a:xfrm flipV="1">
            <a:off x="7944307" y="3313100"/>
            <a:ext cx="84125" cy="10973"/>
          </a:xfrm>
          <a:prstGeom prst="line">
            <a:avLst/>
          </a:prstGeom>
          <a:solidFill>
            <a:srgbClr val="FFFFFF">
              <a:alpha val="0"/>
            </a:srgbClr>
          </a:solidFill>
          <a:ln w="25400">
            <a:solidFill>
              <a:srgbClr val="364BAD"/>
            </a:solidFill>
            <a:prstDash val="solid"/>
          </a:ln>
        </p:spPr>
        <p:txBody>
          <a:bodyPr/>
          <a:lstStyle/>
          <a:p>
            <a:endParaRPr lang="en-PK"/>
          </a:p>
        </p:txBody>
      </p:sp>
      <p:sp>
        <p:nvSpPr>
          <p:cNvPr id="73" name="Text 71"/>
          <p:cNvSpPr/>
          <p:nvPr/>
        </p:nvSpPr>
        <p:spPr>
          <a:xfrm>
            <a:off x="8385048" y="3247263"/>
            <a:ext cx="1124712" cy="448056"/>
          </a:xfrm>
          <a:prstGeom prst="rect">
            <a:avLst/>
          </a:prstGeom>
          <a:noFill/>
          <a:ln/>
        </p:spPr>
        <p:txBody>
          <a:bodyPr wrap="square" lIns="0" tIns="0" rIns="0" bIns="0" rtlCol="0" anchor="t">
            <a:normAutofit/>
          </a:bodyPr>
          <a:lstStyle/>
          <a:p>
            <a:pPr marL="0" indent="0">
              <a:buNone/>
            </a:pPr>
            <a:r>
              <a:rPr lang="en-US" sz="1130" b="1" dirty="0">
                <a:solidFill>
                  <a:srgbClr val="1C2255"/>
                </a:solidFill>
                <a:latin typeface="Arial" pitchFamily="34" charset="0"/>
                <a:ea typeface="Arial" pitchFamily="34" charset="-122"/>
                <a:cs typeface="Arial" pitchFamily="34" charset="-120"/>
              </a:rPr>
              <a:t>Correction cycles</a:t>
            </a:r>
            <a:endParaRPr lang="en-US" sz="1130" dirty="0"/>
          </a:p>
        </p:txBody>
      </p:sp>
      <p:sp>
        <p:nvSpPr>
          <p:cNvPr id="74" name="Shape 72"/>
          <p:cNvSpPr/>
          <p:nvPr/>
        </p:nvSpPr>
        <p:spPr>
          <a:xfrm>
            <a:off x="9765792" y="2991231"/>
            <a:ext cx="1837944" cy="877824"/>
          </a:xfrm>
          <a:prstGeom prst="roundRect">
            <a:avLst>
              <a:gd name="adj" fmla="val 8333"/>
            </a:avLst>
          </a:prstGeom>
          <a:solidFill>
            <a:srgbClr val="F2F5FA"/>
          </a:solidFill>
          <a:ln w="12700">
            <a:solidFill>
              <a:srgbClr val="F2F5FA">
                <a:alpha val="0"/>
              </a:srgbClr>
            </a:solidFill>
            <a:prstDash val="solid"/>
          </a:ln>
        </p:spPr>
        <p:txBody>
          <a:bodyPr/>
          <a:lstStyle/>
          <a:p>
            <a:endParaRPr lang="en-PK"/>
          </a:p>
        </p:txBody>
      </p:sp>
      <p:sp>
        <p:nvSpPr>
          <p:cNvPr id="75" name="Shape 73"/>
          <p:cNvSpPr/>
          <p:nvPr/>
        </p:nvSpPr>
        <p:spPr>
          <a:xfrm>
            <a:off x="9954158" y="3196057"/>
            <a:ext cx="219456" cy="314554"/>
          </a:xfrm>
          <a:prstGeom prst="rect">
            <a:avLst/>
          </a:prstGeom>
          <a:solidFill>
            <a:srgbClr val="FFFFFF"/>
          </a:solidFill>
          <a:ln w="8255">
            <a:solidFill>
              <a:srgbClr val="364BAD"/>
            </a:solidFill>
            <a:prstDash val="solid"/>
          </a:ln>
        </p:spPr>
        <p:txBody>
          <a:bodyPr/>
          <a:lstStyle/>
          <a:p>
            <a:endParaRPr lang="en-PK"/>
          </a:p>
        </p:txBody>
      </p:sp>
      <p:sp>
        <p:nvSpPr>
          <p:cNvPr id="76" name="Shape 74"/>
          <p:cNvSpPr/>
          <p:nvPr/>
        </p:nvSpPr>
        <p:spPr>
          <a:xfrm>
            <a:off x="10104120" y="3196057"/>
            <a:ext cx="0" cy="73152"/>
          </a:xfrm>
          <a:prstGeom prst="line">
            <a:avLst/>
          </a:prstGeom>
          <a:solidFill>
            <a:srgbClr val="FFFFFF">
              <a:alpha val="0"/>
            </a:srgbClr>
          </a:solidFill>
          <a:ln w="21590">
            <a:solidFill>
              <a:srgbClr val="364BAD"/>
            </a:solidFill>
            <a:prstDash val="solid"/>
          </a:ln>
        </p:spPr>
        <p:txBody>
          <a:bodyPr/>
          <a:lstStyle/>
          <a:p>
            <a:endParaRPr lang="en-PK"/>
          </a:p>
        </p:txBody>
      </p:sp>
      <p:sp>
        <p:nvSpPr>
          <p:cNvPr id="77" name="Shape 75"/>
          <p:cNvSpPr/>
          <p:nvPr/>
        </p:nvSpPr>
        <p:spPr>
          <a:xfrm>
            <a:off x="10104120" y="3269209"/>
            <a:ext cx="69494" cy="0"/>
          </a:xfrm>
          <a:prstGeom prst="line">
            <a:avLst/>
          </a:prstGeom>
          <a:solidFill>
            <a:srgbClr val="FFFFFF">
              <a:alpha val="0"/>
            </a:srgbClr>
          </a:solidFill>
          <a:ln w="21590">
            <a:solidFill>
              <a:srgbClr val="364BAD"/>
            </a:solidFill>
            <a:prstDash val="solid"/>
          </a:ln>
        </p:spPr>
        <p:txBody>
          <a:bodyPr/>
          <a:lstStyle/>
          <a:p>
            <a:endParaRPr lang="en-PK"/>
          </a:p>
        </p:txBody>
      </p:sp>
      <p:sp>
        <p:nvSpPr>
          <p:cNvPr id="78" name="Shape 76"/>
          <p:cNvSpPr/>
          <p:nvPr/>
        </p:nvSpPr>
        <p:spPr>
          <a:xfrm>
            <a:off x="10104120" y="3196057"/>
            <a:ext cx="69494" cy="73152"/>
          </a:xfrm>
          <a:prstGeom prst="line">
            <a:avLst/>
          </a:prstGeom>
          <a:solidFill>
            <a:srgbClr val="FFFFFF">
              <a:alpha val="0"/>
            </a:srgbClr>
          </a:solidFill>
          <a:ln w="21590">
            <a:solidFill>
              <a:srgbClr val="364BAD"/>
            </a:solidFill>
            <a:prstDash val="solid"/>
          </a:ln>
        </p:spPr>
        <p:txBody>
          <a:bodyPr/>
          <a:lstStyle/>
          <a:p>
            <a:endParaRPr lang="en-PK"/>
          </a:p>
        </p:txBody>
      </p:sp>
      <p:sp>
        <p:nvSpPr>
          <p:cNvPr id="79" name="Shape 77"/>
          <p:cNvSpPr/>
          <p:nvPr/>
        </p:nvSpPr>
        <p:spPr>
          <a:xfrm>
            <a:off x="9994392" y="3313100"/>
            <a:ext cx="131674" cy="0"/>
          </a:xfrm>
          <a:prstGeom prst="line">
            <a:avLst/>
          </a:prstGeom>
          <a:solidFill>
            <a:srgbClr val="FFFFFF">
              <a:alpha val="0"/>
            </a:srgbClr>
          </a:solidFill>
          <a:ln w="21590">
            <a:solidFill>
              <a:srgbClr val="364BAD"/>
            </a:solidFill>
            <a:prstDash val="solid"/>
          </a:ln>
        </p:spPr>
        <p:txBody>
          <a:bodyPr/>
          <a:lstStyle/>
          <a:p>
            <a:endParaRPr lang="en-PK"/>
          </a:p>
        </p:txBody>
      </p:sp>
      <p:sp>
        <p:nvSpPr>
          <p:cNvPr id="80" name="Shape 78"/>
          <p:cNvSpPr/>
          <p:nvPr/>
        </p:nvSpPr>
        <p:spPr>
          <a:xfrm>
            <a:off x="9994392" y="3364306"/>
            <a:ext cx="131674" cy="0"/>
          </a:xfrm>
          <a:prstGeom prst="line">
            <a:avLst/>
          </a:prstGeom>
          <a:solidFill>
            <a:srgbClr val="FFFFFF">
              <a:alpha val="0"/>
            </a:srgbClr>
          </a:solidFill>
          <a:ln w="21590">
            <a:solidFill>
              <a:srgbClr val="364BAD"/>
            </a:solidFill>
            <a:prstDash val="solid"/>
          </a:ln>
        </p:spPr>
        <p:txBody>
          <a:bodyPr/>
          <a:lstStyle/>
          <a:p>
            <a:endParaRPr lang="en-PK"/>
          </a:p>
        </p:txBody>
      </p:sp>
      <p:sp>
        <p:nvSpPr>
          <p:cNvPr id="81" name="Shape 79"/>
          <p:cNvSpPr/>
          <p:nvPr/>
        </p:nvSpPr>
        <p:spPr>
          <a:xfrm>
            <a:off x="9994392" y="3415513"/>
            <a:ext cx="87782" cy="0"/>
          </a:xfrm>
          <a:prstGeom prst="line">
            <a:avLst/>
          </a:prstGeom>
          <a:solidFill>
            <a:srgbClr val="FFFFFF">
              <a:alpha val="0"/>
            </a:srgbClr>
          </a:solidFill>
          <a:ln w="21590">
            <a:solidFill>
              <a:srgbClr val="364BAD"/>
            </a:solidFill>
            <a:prstDash val="solid"/>
          </a:ln>
        </p:spPr>
        <p:txBody>
          <a:bodyPr/>
          <a:lstStyle/>
          <a:p>
            <a:endParaRPr lang="en-PK"/>
          </a:p>
        </p:txBody>
      </p:sp>
      <p:sp>
        <p:nvSpPr>
          <p:cNvPr id="82" name="Shape 80"/>
          <p:cNvSpPr/>
          <p:nvPr/>
        </p:nvSpPr>
        <p:spPr>
          <a:xfrm>
            <a:off x="10074859" y="3389909"/>
            <a:ext cx="182880" cy="146304"/>
          </a:xfrm>
          <a:prstGeom prst="rect">
            <a:avLst/>
          </a:prstGeom>
          <a:solidFill>
            <a:srgbClr val="EAF5FC"/>
          </a:solidFill>
          <a:ln w="12700">
            <a:solidFill>
              <a:srgbClr val="EAF5FC">
                <a:alpha val="0"/>
              </a:srgbClr>
            </a:solidFill>
            <a:prstDash val="solid"/>
          </a:ln>
        </p:spPr>
        <p:txBody>
          <a:bodyPr/>
          <a:lstStyle/>
          <a:p>
            <a:endParaRPr lang="en-PK"/>
          </a:p>
        </p:txBody>
      </p:sp>
      <p:sp>
        <p:nvSpPr>
          <p:cNvPr id="83" name="Shape 81"/>
          <p:cNvSpPr/>
          <p:nvPr/>
        </p:nvSpPr>
        <p:spPr>
          <a:xfrm>
            <a:off x="10085832" y="3455746"/>
            <a:ext cx="51206" cy="54864"/>
          </a:xfrm>
          <a:prstGeom prst="line">
            <a:avLst/>
          </a:prstGeom>
          <a:solidFill>
            <a:srgbClr val="FFFFFF">
              <a:alpha val="0"/>
            </a:srgbClr>
          </a:solidFill>
          <a:ln w="35560">
            <a:solidFill>
              <a:srgbClr val="364BAD"/>
            </a:solidFill>
            <a:prstDash val="solid"/>
          </a:ln>
        </p:spPr>
        <p:txBody>
          <a:bodyPr/>
          <a:lstStyle/>
          <a:p>
            <a:endParaRPr lang="en-PK"/>
          </a:p>
        </p:txBody>
      </p:sp>
      <p:sp>
        <p:nvSpPr>
          <p:cNvPr id="84" name="Shape 82"/>
          <p:cNvSpPr/>
          <p:nvPr/>
        </p:nvSpPr>
        <p:spPr>
          <a:xfrm flipV="1">
            <a:off x="10137038" y="3389909"/>
            <a:ext cx="106070" cy="120701"/>
          </a:xfrm>
          <a:prstGeom prst="line">
            <a:avLst/>
          </a:prstGeom>
          <a:solidFill>
            <a:srgbClr val="FFFFFF">
              <a:alpha val="0"/>
            </a:srgbClr>
          </a:solidFill>
          <a:ln w="35560">
            <a:solidFill>
              <a:srgbClr val="364BAD"/>
            </a:solidFill>
            <a:prstDash val="solid"/>
          </a:ln>
        </p:spPr>
        <p:txBody>
          <a:bodyPr/>
          <a:lstStyle/>
          <a:p>
            <a:endParaRPr lang="en-PK"/>
          </a:p>
        </p:txBody>
      </p:sp>
      <p:sp>
        <p:nvSpPr>
          <p:cNvPr id="85" name="Text 83"/>
          <p:cNvSpPr/>
          <p:nvPr/>
        </p:nvSpPr>
        <p:spPr>
          <a:xfrm>
            <a:off x="10369296" y="3247263"/>
            <a:ext cx="1124712" cy="448056"/>
          </a:xfrm>
          <a:prstGeom prst="rect">
            <a:avLst/>
          </a:prstGeom>
          <a:noFill/>
          <a:ln/>
        </p:spPr>
        <p:txBody>
          <a:bodyPr wrap="square" lIns="0" tIns="0" rIns="0" bIns="0" rtlCol="0" anchor="t">
            <a:normAutofit/>
          </a:bodyPr>
          <a:lstStyle/>
          <a:p>
            <a:pPr marL="0" indent="0">
              <a:buNone/>
            </a:pPr>
            <a:r>
              <a:rPr lang="en-US" sz="1130" b="1" dirty="0">
                <a:solidFill>
                  <a:srgbClr val="1C2255"/>
                </a:solidFill>
                <a:latin typeface="Arial" pitchFamily="34" charset="0"/>
                <a:ea typeface="Arial" pitchFamily="34" charset="-122"/>
                <a:cs typeface="Arial" pitchFamily="34" charset="-120"/>
              </a:rPr>
              <a:t>Approval time</a:t>
            </a:r>
            <a:endParaRPr lang="en-US" sz="1130" dirty="0"/>
          </a:p>
        </p:txBody>
      </p:sp>
      <p:sp>
        <p:nvSpPr>
          <p:cNvPr id="86" name="Shape 84"/>
          <p:cNvSpPr/>
          <p:nvPr/>
        </p:nvSpPr>
        <p:spPr>
          <a:xfrm>
            <a:off x="5797296" y="3997071"/>
            <a:ext cx="1837944" cy="877824"/>
          </a:xfrm>
          <a:prstGeom prst="roundRect">
            <a:avLst>
              <a:gd name="adj" fmla="val 8333"/>
            </a:avLst>
          </a:prstGeom>
          <a:solidFill>
            <a:srgbClr val="EAF5FC"/>
          </a:solidFill>
          <a:ln w="12700">
            <a:solidFill>
              <a:srgbClr val="EAF5FC">
                <a:alpha val="0"/>
              </a:srgbClr>
            </a:solidFill>
            <a:prstDash val="solid"/>
          </a:ln>
        </p:spPr>
        <p:txBody>
          <a:bodyPr/>
          <a:lstStyle/>
          <a:p>
            <a:endParaRPr lang="en-PK"/>
          </a:p>
        </p:txBody>
      </p:sp>
      <p:sp>
        <p:nvSpPr>
          <p:cNvPr id="87" name="Shape 85"/>
          <p:cNvSpPr/>
          <p:nvPr/>
        </p:nvSpPr>
        <p:spPr>
          <a:xfrm>
            <a:off x="5923483" y="4245788"/>
            <a:ext cx="351130" cy="237744"/>
          </a:xfrm>
          <a:prstGeom prst="roundRect">
            <a:avLst>
              <a:gd name="adj" fmla="val 30769"/>
            </a:avLst>
          </a:prstGeom>
          <a:solidFill>
            <a:srgbClr val="FFFFFF"/>
          </a:solidFill>
          <a:ln w="8255">
            <a:solidFill>
              <a:srgbClr val="364BAD"/>
            </a:solidFill>
            <a:prstDash val="solid"/>
          </a:ln>
        </p:spPr>
        <p:txBody>
          <a:bodyPr/>
          <a:lstStyle/>
          <a:p>
            <a:endParaRPr lang="en-PK"/>
          </a:p>
        </p:txBody>
      </p:sp>
      <p:sp>
        <p:nvSpPr>
          <p:cNvPr id="88" name="Shape 86"/>
          <p:cNvSpPr/>
          <p:nvPr/>
        </p:nvSpPr>
        <p:spPr>
          <a:xfrm>
            <a:off x="5930798" y="4260418"/>
            <a:ext cx="168250" cy="128016"/>
          </a:xfrm>
          <a:prstGeom prst="line">
            <a:avLst/>
          </a:prstGeom>
          <a:solidFill>
            <a:srgbClr val="FFFFFF">
              <a:alpha val="0"/>
            </a:srgbClr>
          </a:solidFill>
          <a:ln w="21590">
            <a:solidFill>
              <a:srgbClr val="364BAD"/>
            </a:solidFill>
            <a:prstDash val="solid"/>
          </a:ln>
        </p:spPr>
        <p:txBody>
          <a:bodyPr/>
          <a:lstStyle/>
          <a:p>
            <a:endParaRPr lang="en-PK"/>
          </a:p>
        </p:txBody>
      </p:sp>
      <p:sp>
        <p:nvSpPr>
          <p:cNvPr id="89" name="Shape 87"/>
          <p:cNvSpPr/>
          <p:nvPr/>
        </p:nvSpPr>
        <p:spPr>
          <a:xfrm flipV="1">
            <a:off x="6099048" y="4260418"/>
            <a:ext cx="168250" cy="128016"/>
          </a:xfrm>
          <a:prstGeom prst="line">
            <a:avLst/>
          </a:prstGeom>
          <a:solidFill>
            <a:srgbClr val="FFFFFF">
              <a:alpha val="0"/>
            </a:srgbClr>
          </a:solidFill>
          <a:ln w="21590">
            <a:solidFill>
              <a:srgbClr val="364BAD"/>
            </a:solidFill>
            <a:prstDash val="solid"/>
          </a:ln>
        </p:spPr>
        <p:txBody>
          <a:bodyPr/>
          <a:lstStyle/>
          <a:p>
            <a:endParaRPr lang="en-PK"/>
          </a:p>
        </p:txBody>
      </p:sp>
      <p:sp>
        <p:nvSpPr>
          <p:cNvPr id="90" name="Text 88"/>
          <p:cNvSpPr/>
          <p:nvPr/>
        </p:nvSpPr>
        <p:spPr>
          <a:xfrm>
            <a:off x="6400800" y="4253103"/>
            <a:ext cx="1124712" cy="448056"/>
          </a:xfrm>
          <a:prstGeom prst="rect">
            <a:avLst/>
          </a:prstGeom>
          <a:noFill/>
          <a:ln/>
        </p:spPr>
        <p:txBody>
          <a:bodyPr wrap="square" lIns="0" tIns="0" rIns="0" bIns="0" rtlCol="0" anchor="t">
            <a:normAutofit/>
          </a:bodyPr>
          <a:lstStyle/>
          <a:p>
            <a:pPr marL="0" indent="0">
              <a:buNone/>
            </a:pPr>
            <a:r>
              <a:rPr lang="en-US" sz="1130" b="1" dirty="0">
                <a:solidFill>
                  <a:srgbClr val="1C2255"/>
                </a:solidFill>
                <a:latin typeface="Arial" pitchFamily="34" charset="0"/>
                <a:ea typeface="Arial" pitchFamily="34" charset="-122"/>
                <a:cs typeface="Arial" pitchFamily="34" charset="-120"/>
              </a:rPr>
              <a:t>Follow-up emails</a:t>
            </a:r>
            <a:endParaRPr lang="en-US" sz="1130" dirty="0"/>
          </a:p>
        </p:txBody>
      </p:sp>
      <p:sp>
        <p:nvSpPr>
          <p:cNvPr id="91" name="Shape 89"/>
          <p:cNvSpPr/>
          <p:nvPr/>
        </p:nvSpPr>
        <p:spPr>
          <a:xfrm>
            <a:off x="7781544" y="3997071"/>
            <a:ext cx="1837944" cy="877824"/>
          </a:xfrm>
          <a:prstGeom prst="roundRect">
            <a:avLst>
              <a:gd name="adj" fmla="val 8333"/>
            </a:avLst>
          </a:prstGeom>
          <a:solidFill>
            <a:srgbClr val="EAF5FC"/>
          </a:solidFill>
          <a:ln w="12700">
            <a:solidFill>
              <a:srgbClr val="EAF5FC">
                <a:alpha val="0"/>
              </a:srgbClr>
            </a:solidFill>
            <a:prstDash val="solid"/>
          </a:ln>
        </p:spPr>
        <p:txBody>
          <a:bodyPr/>
          <a:lstStyle/>
          <a:p>
            <a:endParaRPr lang="en-PK"/>
          </a:p>
        </p:txBody>
      </p:sp>
      <p:sp>
        <p:nvSpPr>
          <p:cNvPr id="92" name="Shape 90"/>
          <p:cNvSpPr/>
          <p:nvPr/>
        </p:nvSpPr>
        <p:spPr>
          <a:xfrm>
            <a:off x="7936992" y="4198239"/>
            <a:ext cx="0" cy="310896"/>
          </a:xfrm>
          <a:prstGeom prst="line">
            <a:avLst/>
          </a:prstGeom>
          <a:solidFill>
            <a:srgbClr val="FFFFFF">
              <a:alpha val="0"/>
            </a:srgbClr>
          </a:solidFill>
          <a:ln w="21590">
            <a:solidFill>
              <a:srgbClr val="364BAD"/>
            </a:solidFill>
            <a:prstDash val="solid"/>
          </a:ln>
        </p:spPr>
        <p:txBody>
          <a:bodyPr/>
          <a:lstStyle/>
          <a:p>
            <a:endParaRPr lang="en-PK"/>
          </a:p>
        </p:txBody>
      </p:sp>
      <p:sp>
        <p:nvSpPr>
          <p:cNvPr id="93" name="Shape 91"/>
          <p:cNvSpPr/>
          <p:nvPr/>
        </p:nvSpPr>
        <p:spPr>
          <a:xfrm>
            <a:off x="7936992" y="4509135"/>
            <a:ext cx="314554" cy="0"/>
          </a:xfrm>
          <a:prstGeom prst="line">
            <a:avLst/>
          </a:prstGeom>
          <a:solidFill>
            <a:srgbClr val="FFFFFF">
              <a:alpha val="0"/>
            </a:srgbClr>
          </a:solidFill>
          <a:ln w="21590">
            <a:solidFill>
              <a:srgbClr val="364BAD"/>
            </a:solidFill>
            <a:prstDash val="solid"/>
          </a:ln>
        </p:spPr>
        <p:txBody>
          <a:bodyPr/>
          <a:lstStyle/>
          <a:p>
            <a:endParaRPr lang="en-PK"/>
          </a:p>
        </p:txBody>
      </p:sp>
      <p:sp>
        <p:nvSpPr>
          <p:cNvPr id="94" name="Shape 92"/>
          <p:cNvSpPr/>
          <p:nvPr/>
        </p:nvSpPr>
        <p:spPr>
          <a:xfrm>
            <a:off x="7984541" y="4392092"/>
            <a:ext cx="47549" cy="91440"/>
          </a:xfrm>
          <a:prstGeom prst="rect">
            <a:avLst/>
          </a:prstGeom>
          <a:solidFill>
            <a:srgbClr val="364BAD"/>
          </a:solidFill>
          <a:ln w="8255">
            <a:solidFill>
              <a:srgbClr val="364BAD"/>
            </a:solidFill>
            <a:prstDash val="solid"/>
          </a:ln>
        </p:spPr>
        <p:txBody>
          <a:bodyPr/>
          <a:lstStyle/>
          <a:p>
            <a:endParaRPr lang="en-PK"/>
          </a:p>
        </p:txBody>
      </p:sp>
      <p:sp>
        <p:nvSpPr>
          <p:cNvPr id="95" name="Shape 93"/>
          <p:cNvSpPr/>
          <p:nvPr/>
        </p:nvSpPr>
        <p:spPr>
          <a:xfrm>
            <a:off x="8072323" y="4318940"/>
            <a:ext cx="47549" cy="164592"/>
          </a:xfrm>
          <a:prstGeom prst="rect">
            <a:avLst/>
          </a:prstGeom>
          <a:solidFill>
            <a:srgbClr val="364BAD"/>
          </a:solidFill>
          <a:ln w="8255">
            <a:solidFill>
              <a:srgbClr val="364BAD"/>
            </a:solidFill>
            <a:prstDash val="solid"/>
          </a:ln>
        </p:spPr>
        <p:txBody>
          <a:bodyPr/>
          <a:lstStyle/>
          <a:p>
            <a:endParaRPr lang="en-PK"/>
          </a:p>
        </p:txBody>
      </p:sp>
      <p:sp>
        <p:nvSpPr>
          <p:cNvPr id="96" name="Shape 94"/>
          <p:cNvSpPr/>
          <p:nvPr/>
        </p:nvSpPr>
        <p:spPr>
          <a:xfrm>
            <a:off x="8160106" y="4223842"/>
            <a:ext cx="47549" cy="259690"/>
          </a:xfrm>
          <a:prstGeom prst="rect">
            <a:avLst/>
          </a:prstGeom>
          <a:solidFill>
            <a:srgbClr val="364BAD"/>
          </a:solidFill>
          <a:ln w="8255">
            <a:solidFill>
              <a:srgbClr val="364BAD"/>
            </a:solidFill>
            <a:prstDash val="solid"/>
          </a:ln>
        </p:spPr>
        <p:txBody>
          <a:bodyPr/>
          <a:lstStyle/>
          <a:p>
            <a:endParaRPr lang="en-PK"/>
          </a:p>
        </p:txBody>
      </p:sp>
      <p:sp>
        <p:nvSpPr>
          <p:cNvPr id="97" name="Text 95"/>
          <p:cNvSpPr/>
          <p:nvPr/>
        </p:nvSpPr>
        <p:spPr>
          <a:xfrm>
            <a:off x="8385048" y="4253103"/>
            <a:ext cx="1124712" cy="448056"/>
          </a:xfrm>
          <a:prstGeom prst="rect">
            <a:avLst/>
          </a:prstGeom>
          <a:noFill/>
          <a:ln/>
        </p:spPr>
        <p:txBody>
          <a:bodyPr wrap="square" lIns="0" tIns="0" rIns="0" bIns="0" rtlCol="0" anchor="t">
            <a:normAutofit/>
          </a:bodyPr>
          <a:lstStyle/>
          <a:p>
            <a:pPr marL="0" indent="0">
              <a:buNone/>
            </a:pPr>
            <a:r>
              <a:rPr lang="en-US" sz="1130" b="1" dirty="0">
                <a:solidFill>
                  <a:srgbClr val="1C2255"/>
                </a:solidFill>
                <a:latin typeface="Arial" pitchFamily="34" charset="0"/>
                <a:ea typeface="Arial" pitchFamily="34" charset="-122"/>
                <a:cs typeface="Arial" pitchFamily="34" charset="-120"/>
              </a:rPr>
              <a:t>Volume / capacity</a:t>
            </a:r>
            <a:endParaRPr lang="en-US" sz="1130" dirty="0"/>
          </a:p>
        </p:txBody>
      </p:sp>
      <p:sp>
        <p:nvSpPr>
          <p:cNvPr id="98" name="Shape 96"/>
          <p:cNvSpPr/>
          <p:nvPr/>
        </p:nvSpPr>
        <p:spPr>
          <a:xfrm>
            <a:off x="9765792" y="3997071"/>
            <a:ext cx="1837944" cy="877824"/>
          </a:xfrm>
          <a:prstGeom prst="roundRect">
            <a:avLst>
              <a:gd name="adj" fmla="val 8333"/>
            </a:avLst>
          </a:prstGeom>
          <a:solidFill>
            <a:srgbClr val="EAF5FC"/>
          </a:solidFill>
          <a:ln w="12700">
            <a:solidFill>
              <a:srgbClr val="EAF5FC">
                <a:alpha val="0"/>
              </a:srgbClr>
            </a:solidFill>
            <a:prstDash val="solid"/>
          </a:ln>
        </p:spPr>
        <p:txBody>
          <a:bodyPr/>
          <a:lstStyle/>
          <a:p>
            <a:endParaRPr lang="en-PK"/>
          </a:p>
        </p:txBody>
      </p:sp>
      <p:sp>
        <p:nvSpPr>
          <p:cNvPr id="99" name="Shape 97"/>
          <p:cNvSpPr/>
          <p:nvPr/>
        </p:nvSpPr>
        <p:spPr>
          <a:xfrm>
            <a:off x="9895637" y="4209212"/>
            <a:ext cx="343814" cy="245059"/>
          </a:xfrm>
          <a:prstGeom prst="roundRect">
            <a:avLst>
              <a:gd name="adj" fmla="val 29851"/>
            </a:avLst>
          </a:prstGeom>
          <a:solidFill>
            <a:srgbClr val="FFFFFF"/>
          </a:solidFill>
          <a:ln w="8255">
            <a:solidFill>
              <a:srgbClr val="364BAD"/>
            </a:solidFill>
            <a:prstDash val="solid"/>
          </a:ln>
        </p:spPr>
        <p:txBody>
          <a:bodyPr/>
          <a:lstStyle/>
          <a:p>
            <a:endParaRPr lang="en-PK"/>
          </a:p>
        </p:txBody>
      </p:sp>
      <p:sp>
        <p:nvSpPr>
          <p:cNvPr id="100" name="Shape 98"/>
          <p:cNvSpPr/>
          <p:nvPr/>
        </p:nvSpPr>
        <p:spPr>
          <a:xfrm>
            <a:off x="10023653" y="4468901"/>
            <a:ext cx="0" cy="40234"/>
          </a:xfrm>
          <a:prstGeom prst="line">
            <a:avLst/>
          </a:prstGeom>
          <a:solidFill>
            <a:srgbClr val="FFFFFF">
              <a:alpha val="0"/>
            </a:srgbClr>
          </a:solidFill>
          <a:ln w="21590">
            <a:solidFill>
              <a:srgbClr val="364BAD"/>
            </a:solidFill>
            <a:prstDash val="solid"/>
          </a:ln>
        </p:spPr>
        <p:txBody>
          <a:bodyPr/>
          <a:lstStyle/>
          <a:p>
            <a:endParaRPr lang="en-PK"/>
          </a:p>
        </p:txBody>
      </p:sp>
      <p:sp>
        <p:nvSpPr>
          <p:cNvPr id="101" name="Shape 99"/>
          <p:cNvSpPr/>
          <p:nvPr/>
        </p:nvSpPr>
        <p:spPr>
          <a:xfrm>
            <a:off x="10111435" y="4468901"/>
            <a:ext cx="0" cy="40234"/>
          </a:xfrm>
          <a:prstGeom prst="line">
            <a:avLst/>
          </a:prstGeom>
          <a:solidFill>
            <a:srgbClr val="FFFFFF">
              <a:alpha val="0"/>
            </a:srgbClr>
          </a:solidFill>
          <a:ln w="21590">
            <a:solidFill>
              <a:srgbClr val="364BAD"/>
            </a:solidFill>
            <a:prstDash val="solid"/>
          </a:ln>
        </p:spPr>
        <p:txBody>
          <a:bodyPr/>
          <a:lstStyle/>
          <a:p>
            <a:endParaRPr lang="en-PK"/>
          </a:p>
        </p:txBody>
      </p:sp>
      <p:sp>
        <p:nvSpPr>
          <p:cNvPr id="102" name="Shape 100"/>
          <p:cNvSpPr/>
          <p:nvPr/>
        </p:nvSpPr>
        <p:spPr>
          <a:xfrm>
            <a:off x="9965131" y="4516450"/>
            <a:ext cx="204826" cy="0"/>
          </a:xfrm>
          <a:prstGeom prst="line">
            <a:avLst/>
          </a:prstGeom>
          <a:solidFill>
            <a:srgbClr val="FFFFFF">
              <a:alpha val="0"/>
            </a:srgbClr>
          </a:solidFill>
          <a:ln w="21590">
            <a:solidFill>
              <a:srgbClr val="364BAD"/>
            </a:solidFill>
            <a:prstDash val="solid"/>
          </a:ln>
        </p:spPr>
        <p:txBody>
          <a:bodyPr/>
          <a:lstStyle/>
          <a:p>
            <a:endParaRPr lang="en-PK"/>
          </a:p>
        </p:txBody>
      </p:sp>
      <p:sp>
        <p:nvSpPr>
          <p:cNvPr id="103" name="Shape 101"/>
          <p:cNvSpPr/>
          <p:nvPr/>
        </p:nvSpPr>
        <p:spPr>
          <a:xfrm>
            <a:off x="9946843" y="4264076"/>
            <a:ext cx="190195" cy="0"/>
          </a:xfrm>
          <a:prstGeom prst="line">
            <a:avLst/>
          </a:prstGeom>
          <a:solidFill>
            <a:srgbClr val="FFFFFF">
              <a:alpha val="0"/>
            </a:srgbClr>
          </a:solidFill>
          <a:ln w="21590">
            <a:solidFill>
              <a:srgbClr val="364BAD"/>
            </a:solidFill>
            <a:prstDash val="solid"/>
          </a:ln>
        </p:spPr>
        <p:txBody>
          <a:bodyPr/>
          <a:lstStyle/>
          <a:p>
            <a:endParaRPr lang="en-PK"/>
          </a:p>
        </p:txBody>
      </p:sp>
      <p:sp>
        <p:nvSpPr>
          <p:cNvPr id="104" name="Shape 102"/>
          <p:cNvSpPr/>
          <p:nvPr/>
        </p:nvSpPr>
        <p:spPr>
          <a:xfrm>
            <a:off x="9946843" y="4326255"/>
            <a:ext cx="245059" cy="0"/>
          </a:xfrm>
          <a:prstGeom prst="line">
            <a:avLst/>
          </a:prstGeom>
          <a:solidFill>
            <a:srgbClr val="FFFFFF">
              <a:alpha val="0"/>
            </a:srgbClr>
          </a:solidFill>
          <a:ln w="21590">
            <a:solidFill>
              <a:srgbClr val="364BAD"/>
            </a:solidFill>
            <a:prstDash val="solid"/>
          </a:ln>
        </p:spPr>
        <p:txBody>
          <a:bodyPr/>
          <a:lstStyle/>
          <a:p>
            <a:endParaRPr lang="en-PK"/>
          </a:p>
        </p:txBody>
      </p:sp>
      <p:sp>
        <p:nvSpPr>
          <p:cNvPr id="105" name="Shape 103"/>
          <p:cNvSpPr/>
          <p:nvPr/>
        </p:nvSpPr>
        <p:spPr>
          <a:xfrm>
            <a:off x="9946843" y="4384777"/>
            <a:ext cx="171907" cy="0"/>
          </a:xfrm>
          <a:prstGeom prst="line">
            <a:avLst/>
          </a:prstGeom>
          <a:solidFill>
            <a:srgbClr val="FFFFFF">
              <a:alpha val="0"/>
            </a:srgbClr>
          </a:solidFill>
          <a:ln w="21590">
            <a:solidFill>
              <a:srgbClr val="364BAD"/>
            </a:solidFill>
            <a:prstDash val="solid"/>
          </a:ln>
        </p:spPr>
        <p:txBody>
          <a:bodyPr/>
          <a:lstStyle/>
          <a:p>
            <a:endParaRPr lang="en-PK"/>
          </a:p>
        </p:txBody>
      </p:sp>
      <p:sp>
        <p:nvSpPr>
          <p:cNvPr id="106" name="Text 104"/>
          <p:cNvSpPr/>
          <p:nvPr/>
        </p:nvSpPr>
        <p:spPr>
          <a:xfrm>
            <a:off x="10369296" y="4253103"/>
            <a:ext cx="1124712" cy="448056"/>
          </a:xfrm>
          <a:prstGeom prst="rect">
            <a:avLst/>
          </a:prstGeom>
          <a:noFill/>
          <a:ln/>
        </p:spPr>
        <p:txBody>
          <a:bodyPr wrap="square" lIns="0" tIns="0" rIns="0" bIns="0" rtlCol="0" anchor="t">
            <a:normAutofit/>
          </a:bodyPr>
          <a:lstStyle/>
          <a:p>
            <a:pPr marL="0" indent="0">
              <a:buNone/>
            </a:pPr>
            <a:r>
              <a:rPr lang="en-US" sz="1130" b="1" dirty="0">
                <a:solidFill>
                  <a:srgbClr val="1C2255"/>
                </a:solidFill>
                <a:latin typeface="Arial" pitchFamily="34" charset="0"/>
                <a:ea typeface="Arial" pitchFamily="34" charset="-122"/>
                <a:cs typeface="Arial" pitchFamily="34" charset="-120"/>
              </a:rPr>
              <a:t>Digital adoption</a:t>
            </a:r>
            <a:endParaRPr lang="en-US" sz="1130" dirty="0"/>
          </a:p>
        </p:txBody>
      </p:sp>
      <p:sp>
        <p:nvSpPr>
          <p:cNvPr id="107" name="Text 105"/>
          <p:cNvSpPr/>
          <p:nvPr/>
        </p:nvSpPr>
        <p:spPr>
          <a:xfrm>
            <a:off x="5797296" y="5413248"/>
            <a:ext cx="4517136" cy="338328"/>
          </a:xfrm>
          <a:prstGeom prst="rect">
            <a:avLst/>
          </a:prstGeom>
          <a:noFill/>
          <a:ln/>
        </p:spPr>
        <p:txBody>
          <a:bodyPr wrap="square" lIns="0" tIns="0" rIns="0" bIns="0" rtlCol="0" anchor="t">
            <a:normAutofit/>
          </a:bodyPr>
          <a:lstStyle/>
          <a:p>
            <a:pPr marL="0" indent="0">
              <a:buNone/>
            </a:pPr>
            <a:r>
              <a:rPr lang="en-US" sz="1150" dirty="0">
                <a:solidFill>
                  <a:srgbClr val="687B96"/>
                </a:solidFill>
                <a:latin typeface="Arial" pitchFamily="34" charset="0"/>
                <a:ea typeface="Arial" pitchFamily="34" charset="-122"/>
                <a:cs typeface="Arial" pitchFamily="34" charset="-120"/>
              </a:rPr>
              <a:t>Measure actual change; numerical targets are agreed with the firm.</a:t>
            </a:r>
            <a:endParaRPr lang="en-US" sz="1150" dirty="0"/>
          </a:p>
        </p:txBody>
      </p:sp>
      <p:sp>
        <p:nvSpPr>
          <p:cNvPr id="108" name="Shape 106"/>
          <p:cNvSpPr/>
          <p:nvPr/>
        </p:nvSpPr>
        <p:spPr>
          <a:xfrm>
            <a:off x="393192" y="5952744"/>
            <a:ext cx="11402568" cy="292608"/>
          </a:xfrm>
          <a:prstGeom prst="rect">
            <a:avLst/>
          </a:prstGeom>
          <a:solidFill>
            <a:srgbClr val="1C2255"/>
          </a:solidFill>
          <a:ln w="12700">
            <a:solidFill>
              <a:srgbClr val="1C2255">
                <a:alpha val="0"/>
              </a:srgbClr>
            </a:solidFill>
            <a:prstDash val="solid"/>
          </a:ln>
        </p:spPr>
        <p:txBody>
          <a:bodyPr/>
          <a:lstStyle/>
          <a:p>
            <a:endParaRPr lang="en-PK"/>
          </a:p>
        </p:txBody>
      </p:sp>
      <p:sp>
        <p:nvSpPr>
          <p:cNvPr id="109" name="Text 107"/>
          <p:cNvSpPr/>
          <p:nvPr/>
        </p:nvSpPr>
        <p:spPr>
          <a:xfrm>
            <a:off x="530352" y="6025896"/>
            <a:ext cx="1133856" cy="164592"/>
          </a:xfrm>
          <a:prstGeom prst="rect">
            <a:avLst/>
          </a:prstGeom>
          <a:noFill/>
          <a:ln/>
        </p:spPr>
        <p:txBody>
          <a:bodyPr wrap="square" lIns="0" tIns="0" rIns="0" bIns="0" rtlCol="0" anchor="t">
            <a:normAutofit/>
          </a:bodyPr>
          <a:lstStyle/>
          <a:p>
            <a:pPr marL="0" indent="0">
              <a:buNone/>
            </a:pPr>
            <a:r>
              <a:rPr lang="en-US" sz="1000" b="1" dirty="0">
                <a:solidFill>
                  <a:srgbClr val="FFFFFF"/>
                </a:solidFill>
                <a:latin typeface="Arial" pitchFamily="34" charset="0"/>
                <a:ea typeface="Arial" pitchFamily="34" charset="-122"/>
                <a:cs typeface="Arial" pitchFamily="34" charset="-120"/>
              </a:rPr>
              <a:t>NEXT </a:t>
            </a:r>
            <a:r>
              <a:rPr lang="en-US" sz="1000" b="1" dirty="0" smtClean="0">
                <a:solidFill>
                  <a:srgbClr val="FFFFFF"/>
                </a:solidFill>
                <a:latin typeface="Arial" pitchFamily="34" charset="0"/>
                <a:ea typeface="Arial" pitchFamily="34" charset="-122"/>
                <a:cs typeface="Arial" pitchFamily="34" charset="-120"/>
              </a:rPr>
              <a:t>STEP</a:t>
            </a:r>
            <a:endParaRPr lang="en-US" sz="1000" dirty="0"/>
          </a:p>
        </p:txBody>
      </p:sp>
      <p:sp>
        <p:nvSpPr>
          <p:cNvPr id="110" name="Text 108"/>
          <p:cNvSpPr/>
          <p:nvPr/>
        </p:nvSpPr>
        <p:spPr>
          <a:xfrm>
            <a:off x="1656207" y="5996559"/>
            <a:ext cx="5102352" cy="173736"/>
          </a:xfrm>
          <a:prstGeom prst="rect">
            <a:avLst/>
          </a:prstGeom>
          <a:noFill/>
          <a:ln/>
        </p:spPr>
        <p:txBody>
          <a:bodyPr wrap="square" lIns="0" tIns="0" rIns="0" bIns="0" rtlCol="0" anchor="t">
            <a:normAutofit/>
          </a:bodyPr>
          <a:lstStyle/>
          <a:p>
            <a:pPr marL="0" indent="0">
              <a:buNone/>
            </a:pPr>
            <a:r>
              <a:rPr lang="en-US" sz="1130" b="1" dirty="0">
                <a:solidFill>
                  <a:srgbClr val="FFFFFF"/>
                </a:solidFill>
                <a:latin typeface="Arial" pitchFamily="34" charset="0"/>
                <a:ea typeface="Arial" pitchFamily="34" charset="-122"/>
                <a:cs typeface="Arial" pitchFamily="34" charset="-120"/>
              </a:rPr>
              <a:t>Confirm </a:t>
            </a:r>
            <a:r>
              <a:rPr lang="en-US" sz="1130" b="1" dirty="0" smtClean="0">
                <a:solidFill>
                  <a:srgbClr val="FFFFFF"/>
                </a:solidFill>
                <a:latin typeface="Arial" pitchFamily="34" charset="0"/>
                <a:ea typeface="Arial" pitchFamily="34" charset="-122"/>
                <a:cs typeface="Arial" pitchFamily="34" charset="-120"/>
              </a:rPr>
              <a:t>scope </a:t>
            </a:r>
            <a:r>
              <a:rPr lang="en-US" sz="1130" b="1" dirty="0">
                <a:solidFill>
                  <a:srgbClr val="FFFFFF"/>
                </a:solidFill>
                <a:latin typeface="Arial" pitchFamily="34" charset="0"/>
                <a:ea typeface="Arial" pitchFamily="34" charset="-122"/>
                <a:cs typeface="Arial" pitchFamily="34" charset="-120"/>
              </a:rPr>
              <a:t>+ commercials + acceptance criteria</a:t>
            </a:r>
            <a:endParaRPr lang="en-US" sz="11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2648" y="219456"/>
            <a:ext cx="7315200" cy="210312"/>
          </a:xfrm>
          <a:prstGeom prst="rect">
            <a:avLst/>
          </a:prstGeom>
          <a:noFill/>
          <a:ln/>
        </p:spPr>
        <p:txBody>
          <a:bodyPr wrap="square" lIns="0" tIns="0" rIns="0" bIns="0" rtlCol="0" anchor="ctr">
            <a:spAutoFit/>
          </a:bodyPr>
          <a:lstStyle/>
          <a:p>
            <a:pPr marL="0" indent="0" algn="l">
              <a:buNone/>
            </a:pPr>
            <a:r>
              <a:rPr lang="en-US" sz="1040" dirty="0">
                <a:solidFill>
                  <a:srgbClr val="8B8FA6"/>
                </a:solidFill>
                <a:latin typeface="Arial" pitchFamily="34" charset="0"/>
                <a:ea typeface="Arial" pitchFamily="34" charset="-122"/>
                <a:cs typeface="Arial" pitchFamily="34" charset="-120"/>
              </a:rPr>
              <a:t>Next step and relevant experience</a:t>
            </a:r>
            <a:endParaRPr lang="en-US" sz="1040" dirty="0"/>
          </a:p>
        </p:txBody>
      </p:sp>
      <p:sp>
        <p:nvSpPr>
          <p:cNvPr id="3" name="Shape 1"/>
          <p:cNvSpPr/>
          <p:nvPr/>
        </p:nvSpPr>
        <p:spPr>
          <a:xfrm>
            <a:off x="5102352" y="77724"/>
            <a:ext cx="2002536" cy="0"/>
          </a:xfrm>
          <a:prstGeom prst="line">
            <a:avLst/>
          </a:prstGeom>
          <a:noFill/>
          <a:ln w="8255">
            <a:solidFill>
              <a:srgbClr val="BF4034"/>
            </a:solidFill>
            <a:prstDash val="solid"/>
          </a:ln>
        </p:spPr>
        <p:txBody>
          <a:bodyPr/>
          <a:lstStyle/>
          <a:p>
            <a:endParaRPr lang="en-PK"/>
          </a:p>
        </p:txBody>
      </p:sp>
      <p:sp>
        <p:nvSpPr>
          <p:cNvPr id="4" name="Shape 2"/>
          <p:cNvSpPr/>
          <p:nvPr/>
        </p:nvSpPr>
        <p:spPr>
          <a:xfrm>
            <a:off x="5102352" y="292608"/>
            <a:ext cx="2002536" cy="0"/>
          </a:xfrm>
          <a:prstGeom prst="line">
            <a:avLst/>
          </a:prstGeom>
          <a:noFill/>
          <a:ln w="8255">
            <a:solidFill>
              <a:srgbClr val="BF4034"/>
            </a:solidFill>
            <a:prstDash val="solid"/>
          </a:ln>
        </p:spPr>
        <p:txBody>
          <a:bodyPr/>
          <a:lstStyle/>
          <a:p>
            <a:endParaRPr lang="en-PK"/>
          </a:p>
        </p:txBody>
      </p:sp>
      <p:sp>
        <p:nvSpPr>
          <p:cNvPr id="5" name="Text 3"/>
          <p:cNvSpPr/>
          <p:nvPr/>
        </p:nvSpPr>
        <p:spPr>
          <a:xfrm>
            <a:off x="5120640" y="97841"/>
            <a:ext cx="1965960" cy="146304"/>
          </a:xfrm>
          <a:prstGeom prst="rect">
            <a:avLst/>
          </a:prstGeom>
          <a:noFill/>
          <a:ln/>
        </p:spPr>
        <p:txBody>
          <a:bodyPr wrap="square" lIns="0" tIns="0" rIns="0" bIns="0" rtlCol="0" anchor="ctr">
            <a:spAutoFit/>
          </a:bodyPr>
          <a:lstStyle/>
          <a:p>
            <a:pPr marL="0" indent="0" algn="ctr">
              <a:buNone/>
            </a:pPr>
            <a:r>
              <a:rPr lang="en-US" sz="790" b="1" dirty="0">
                <a:solidFill>
                  <a:srgbClr val="BF4034"/>
                </a:solidFill>
                <a:latin typeface="Arial" pitchFamily="34" charset="0"/>
                <a:ea typeface="Arial" pitchFamily="34" charset="-122"/>
                <a:cs typeface="Arial" pitchFamily="34" charset="-120"/>
              </a:rPr>
              <a:t>F O R  D I S C U S S I O N</a:t>
            </a:r>
            <a:endParaRPr lang="en-US" sz="790" dirty="0"/>
          </a:p>
        </p:txBody>
      </p:sp>
      <p:sp>
        <p:nvSpPr>
          <p:cNvPr id="6" name="Text 4"/>
          <p:cNvSpPr/>
          <p:nvPr/>
        </p:nvSpPr>
        <p:spPr>
          <a:xfrm>
            <a:off x="612648" y="493776"/>
            <a:ext cx="10936224" cy="722376"/>
          </a:xfrm>
          <a:prstGeom prst="rect">
            <a:avLst/>
          </a:prstGeom>
          <a:noFill/>
          <a:ln/>
        </p:spPr>
        <p:txBody>
          <a:bodyPr wrap="square" lIns="0" tIns="0" rIns="0" bIns="0" rtlCol="0" anchor="t">
            <a:spAutoFit/>
          </a:bodyPr>
          <a:lstStyle/>
          <a:p>
            <a:pPr marL="0" indent="0" algn="l">
              <a:buNone/>
            </a:pPr>
            <a:r>
              <a:rPr lang="en-US" sz="2480" dirty="0">
                <a:solidFill>
                  <a:srgbClr val="181F4D"/>
                </a:solidFill>
                <a:latin typeface="Arial" pitchFamily="34" charset="0"/>
                <a:ea typeface="Arial" pitchFamily="34" charset="-122"/>
                <a:cs typeface="Arial" pitchFamily="34" charset="-120"/>
              </a:rPr>
              <a:t>Start with a 30-minute intake conversation—not a commitment to build</a:t>
            </a:r>
            <a:endParaRPr lang="en-US" sz="2480" dirty="0"/>
          </a:p>
        </p:txBody>
      </p:sp>
      <p:sp>
        <p:nvSpPr>
          <p:cNvPr id="7" name="Text 5"/>
          <p:cNvSpPr/>
          <p:nvPr/>
        </p:nvSpPr>
        <p:spPr>
          <a:xfrm>
            <a:off x="612648" y="1435608"/>
            <a:ext cx="10936224" cy="228600"/>
          </a:xfrm>
          <a:prstGeom prst="rect">
            <a:avLst/>
          </a:prstGeom>
          <a:noFill/>
          <a:ln/>
        </p:spPr>
        <p:txBody>
          <a:bodyPr wrap="square" lIns="0" tIns="0" rIns="0" bIns="0" rtlCol="0" anchor="ctr">
            <a:spAutoFit/>
          </a:bodyPr>
          <a:lstStyle/>
          <a:p>
            <a:pPr marL="0" indent="0" algn="l">
              <a:buNone/>
            </a:pPr>
            <a:r>
              <a:rPr lang="en-US" sz="1340" dirty="0">
                <a:solidFill>
                  <a:srgbClr val="181F4D"/>
                </a:solidFill>
                <a:latin typeface="Arial" pitchFamily="34" charset="0"/>
                <a:ea typeface="Arial" pitchFamily="34" charset="-122"/>
                <a:cs typeface="Arial" pitchFamily="34" charset="-120"/>
              </a:rPr>
              <a:t>Discussion agenda and relevant delivery experience</a:t>
            </a:r>
            <a:endParaRPr lang="en-US" sz="1340" dirty="0"/>
          </a:p>
        </p:txBody>
      </p:sp>
      <p:sp>
        <p:nvSpPr>
          <p:cNvPr id="8" name="Text 6"/>
          <p:cNvSpPr/>
          <p:nvPr/>
        </p:nvSpPr>
        <p:spPr>
          <a:xfrm>
            <a:off x="612648" y="1691640"/>
            <a:ext cx="10936224" cy="155448"/>
          </a:xfrm>
          <a:prstGeom prst="rect">
            <a:avLst/>
          </a:prstGeom>
          <a:noFill/>
          <a:ln/>
        </p:spPr>
        <p:txBody>
          <a:bodyPr wrap="square" lIns="0" tIns="0" rIns="0" bIns="0" rtlCol="0" anchor="ctr">
            <a:spAutoFit/>
          </a:bodyPr>
          <a:lstStyle/>
          <a:p>
            <a:pPr marL="0" indent="0" algn="l">
              <a:buNone/>
            </a:pPr>
            <a:r>
              <a:rPr lang="en-US" sz="960" dirty="0">
                <a:solidFill>
                  <a:srgbClr val="8B8FA6"/>
                </a:solidFill>
                <a:latin typeface="Arial" pitchFamily="34" charset="0"/>
                <a:ea typeface="Arial" pitchFamily="34" charset="-122"/>
                <a:cs typeface="Arial" pitchFamily="34" charset="-120"/>
              </a:rPr>
              <a:t>Prepared by Abdullah Ahmed | AI &amp; Data Engineer</a:t>
            </a:r>
            <a:endParaRPr lang="en-US" sz="960" dirty="0"/>
          </a:p>
        </p:txBody>
      </p:sp>
      <p:sp>
        <p:nvSpPr>
          <p:cNvPr id="9" name="Shape 7"/>
          <p:cNvSpPr/>
          <p:nvPr/>
        </p:nvSpPr>
        <p:spPr>
          <a:xfrm>
            <a:off x="612648" y="1911096"/>
            <a:ext cx="10972800" cy="0"/>
          </a:xfrm>
          <a:prstGeom prst="line">
            <a:avLst/>
          </a:prstGeom>
          <a:noFill/>
          <a:ln w="8890">
            <a:solidFill>
              <a:srgbClr val="CED1DA"/>
            </a:solidFill>
            <a:prstDash val="solid"/>
          </a:ln>
        </p:spPr>
        <p:txBody>
          <a:bodyPr/>
          <a:lstStyle/>
          <a:p>
            <a:endParaRPr lang="en-PK"/>
          </a:p>
        </p:txBody>
      </p:sp>
      <p:sp>
        <p:nvSpPr>
          <p:cNvPr id="11" name="Shape 9"/>
          <p:cNvSpPr/>
          <p:nvPr/>
        </p:nvSpPr>
        <p:spPr>
          <a:xfrm>
            <a:off x="612648" y="6537960"/>
            <a:ext cx="10972800" cy="0"/>
          </a:xfrm>
          <a:prstGeom prst="line">
            <a:avLst/>
          </a:prstGeom>
          <a:noFill/>
          <a:ln w="8890">
            <a:solidFill>
              <a:srgbClr val="CED1DA"/>
            </a:solidFill>
            <a:prstDash val="solid"/>
          </a:ln>
        </p:spPr>
        <p:txBody>
          <a:bodyPr/>
          <a:lstStyle/>
          <a:p>
            <a:endParaRPr lang="en-PK"/>
          </a:p>
        </p:txBody>
      </p:sp>
      <p:sp>
        <p:nvSpPr>
          <p:cNvPr id="12" name="Text 10"/>
          <p:cNvSpPr/>
          <p:nvPr/>
        </p:nvSpPr>
        <p:spPr>
          <a:xfrm>
            <a:off x="612648" y="6611112"/>
            <a:ext cx="2971800" cy="137160"/>
          </a:xfrm>
          <a:prstGeom prst="rect">
            <a:avLst/>
          </a:prstGeom>
          <a:noFill/>
          <a:ln/>
        </p:spPr>
        <p:txBody>
          <a:bodyPr wrap="square" lIns="0" tIns="0" rIns="0" bIns="0" rtlCol="0" anchor="ctr">
            <a:spAutoFit/>
          </a:bodyPr>
          <a:lstStyle/>
          <a:p>
            <a:pPr marL="0" indent="0" algn="l">
              <a:buNone/>
            </a:pPr>
            <a:r>
              <a:rPr lang="en-US" sz="760" dirty="0">
                <a:solidFill>
                  <a:srgbClr val="8B8FA6"/>
                </a:solidFill>
                <a:latin typeface="Arial" pitchFamily="34" charset="0"/>
                <a:ea typeface="Arial" pitchFamily="34" charset="-122"/>
                <a:cs typeface="Arial" pitchFamily="34" charset="-120"/>
              </a:rPr>
              <a:t>Confidential | Exploratory proposal</a:t>
            </a:r>
            <a:endParaRPr lang="en-US" sz="760" dirty="0"/>
          </a:p>
        </p:txBody>
      </p:sp>
      <p:sp>
        <p:nvSpPr>
          <p:cNvPr id="13" name="Text 11"/>
          <p:cNvSpPr/>
          <p:nvPr/>
        </p:nvSpPr>
        <p:spPr>
          <a:xfrm>
            <a:off x="4078224" y="6592824"/>
            <a:ext cx="4206240" cy="182880"/>
          </a:xfrm>
          <a:prstGeom prst="rect">
            <a:avLst/>
          </a:prstGeom>
          <a:noFill/>
          <a:ln/>
        </p:spPr>
        <p:txBody>
          <a:bodyPr wrap="square" lIns="0" tIns="0" rIns="0" bIns="0" rtlCol="0" anchor="ctr">
            <a:spAutoFit/>
          </a:bodyPr>
          <a:lstStyle/>
          <a:p>
            <a:pPr marL="0" indent="0" algn="ctr">
              <a:buNone/>
            </a:pPr>
            <a:r>
              <a:rPr lang="en-US" sz="830" dirty="0">
                <a:solidFill>
                  <a:srgbClr val="181F4D"/>
                </a:solidFill>
                <a:latin typeface="Arial" pitchFamily="34" charset="0"/>
                <a:ea typeface="Arial" pitchFamily="34" charset="-122"/>
                <a:cs typeface="Arial" pitchFamily="34" charset="-120"/>
              </a:rPr>
              <a:t>Neeley Law  |  AI-assisted document intake</a:t>
            </a:r>
            <a:endParaRPr lang="en-US" sz="830" dirty="0"/>
          </a:p>
        </p:txBody>
      </p:sp>
      <p:sp>
        <p:nvSpPr>
          <p:cNvPr id="14" name="Text 12"/>
          <p:cNvSpPr/>
          <p:nvPr/>
        </p:nvSpPr>
        <p:spPr>
          <a:xfrm>
            <a:off x="9729216" y="6611112"/>
            <a:ext cx="1417320" cy="137160"/>
          </a:xfrm>
          <a:prstGeom prst="rect">
            <a:avLst/>
          </a:prstGeom>
          <a:noFill/>
          <a:ln/>
        </p:spPr>
        <p:txBody>
          <a:bodyPr wrap="square" lIns="0" tIns="0" rIns="0" bIns="0" rtlCol="0" anchor="ctr">
            <a:spAutoFit/>
          </a:bodyPr>
          <a:lstStyle/>
          <a:p>
            <a:pPr marL="0" indent="0" algn="r">
              <a:buNone/>
            </a:pPr>
            <a:r>
              <a:rPr lang="en-US" sz="760" dirty="0">
                <a:solidFill>
                  <a:srgbClr val="8B8FA6"/>
                </a:solidFill>
                <a:latin typeface="Arial" pitchFamily="34" charset="0"/>
                <a:ea typeface="Arial" pitchFamily="34" charset="-122"/>
                <a:cs typeface="Arial" pitchFamily="34" charset="-120"/>
              </a:rPr>
              <a:t>September 2026</a:t>
            </a:r>
            <a:endParaRPr lang="en-US" sz="760" dirty="0"/>
          </a:p>
        </p:txBody>
      </p:sp>
      <p:sp>
        <p:nvSpPr>
          <p:cNvPr id="15" name="Shape 13"/>
          <p:cNvSpPr/>
          <p:nvPr/>
        </p:nvSpPr>
        <p:spPr>
          <a:xfrm>
            <a:off x="11247120" y="6592824"/>
            <a:ext cx="0" cy="201168"/>
          </a:xfrm>
          <a:prstGeom prst="line">
            <a:avLst/>
          </a:prstGeom>
          <a:noFill/>
          <a:ln w="8255">
            <a:solidFill>
              <a:srgbClr val="CED1DA"/>
            </a:solidFill>
            <a:prstDash val="solid"/>
          </a:ln>
        </p:spPr>
        <p:txBody>
          <a:bodyPr/>
          <a:lstStyle/>
          <a:p>
            <a:endParaRPr lang="en-PK"/>
          </a:p>
        </p:txBody>
      </p:sp>
      <p:sp>
        <p:nvSpPr>
          <p:cNvPr id="16" name="Text 14"/>
          <p:cNvSpPr/>
          <p:nvPr/>
        </p:nvSpPr>
        <p:spPr>
          <a:xfrm>
            <a:off x="11347704" y="6621214"/>
            <a:ext cx="237744" cy="116955"/>
          </a:xfrm>
          <a:prstGeom prst="rect">
            <a:avLst/>
          </a:prstGeom>
          <a:noFill/>
          <a:ln/>
        </p:spPr>
        <p:txBody>
          <a:bodyPr wrap="square" lIns="0" tIns="0" rIns="0" bIns="0" rtlCol="0" anchor="ctr">
            <a:spAutoFit/>
          </a:bodyPr>
          <a:lstStyle/>
          <a:p>
            <a:pPr marL="0" indent="0" algn="r">
              <a:buNone/>
            </a:pPr>
            <a:r>
              <a:rPr lang="en-US" sz="760" dirty="0">
                <a:solidFill>
                  <a:srgbClr val="8B8FA6"/>
                </a:solidFill>
                <a:latin typeface="Arial" pitchFamily="34" charset="0"/>
                <a:cs typeface="Arial" pitchFamily="34" charset="-120"/>
              </a:rPr>
              <a:t>7</a:t>
            </a:r>
            <a:endParaRPr lang="en-US" sz="760" dirty="0"/>
          </a:p>
        </p:txBody>
      </p:sp>
      <p:sp>
        <p:nvSpPr>
          <p:cNvPr id="17" name="Shape 15"/>
          <p:cNvSpPr/>
          <p:nvPr/>
        </p:nvSpPr>
        <p:spPr>
          <a:xfrm>
            <a:off x="612648" y="2048256"/>
            <a:ext cx="6967728" cy="429768"/>
          </a:xfrm>
          <a:prstGeom prst="rect">
            <a:avLst/>
          </a:prstGeom>
          <a:solidFill>
            <a:srgbClr val="181F4D"/>
          </a:solidFill>
          <a:ln w="12700">
            <a:solidFill>
              <a:srgbClr val="181F4D">
                <a:alpha val="0"/>
              </a:srgbClr>
            </a:solidFill>
            <a:prstDash val="solid"/>
          </a:ln>
        </p:spPr>
        <p:txBody>
          <a:bodyPr/>
          <a:lstStyle/>
          <a:p>
            <a:endParaRPr lang="en-PK"/>
          </a:p>
        </p:txBody>
      </p:sp>
      <p:sp>
        <p:nvSpPr>
          <p:cNvPr id="18" name="Text 16"/>
          <p:cNvSpPr/>
          <p:nvPr/>
        </p:nvSpPr>
        <p:spPr>
          <a:xfrm>
            <a:off x="758952" y="2121408"/>
            <a:ext cx="6675120" cy="274320"/>
          </a:xfrm>
          <a:prstGeom prst="rect">
            <a:avLst/>
          </a:prstGeom>
          <a:noFill/>
          <a:ln/>
        </p:spPr>
        <p:txBody>
          <a:bodyPr wrap="square" lIns="0" tIns="0" rIns="0" bIns="0" rtlCol="0" anchor="ctr">
            <a:spAutoFit/>
          </a:bodyPr>
          <a:lstStyle/>
          <a:p>
            <a:pPr marL="0" indent="0" algn="l">
              <a:buNone/>
            </a:pPr>
            <a:r>
              <a:rPr lang="en-US" sz="1320" b="1" dirty="0">
                <a:solidFill>
                  <a:srgbClr val="FFFFFF"/>
                </a:solidFill>
                <a:latin typeface="Arial" pitchFamily="34" charset="0"/>
                <a:ea typeface="Arial" pitchFamily="34" charset="-122"/>
                <a:cs typeface="Arial" pitchFamily="34" charset="-120"/>
              </a:rPr>
              <a:t>Three questions for the intake owner</a:t>
            </a:r>
            <a:endParaRPr lang="en-US" sz="1320" dirty="0"/>
          </a:p>
        </p:txBody>
      </p:sp>
      <p:sp>
        <p:nvSpPr>
          <p:cNvPr id="19" name="Shape 17"/>
          <p:cNvSpPr/>
          <p:nvPr/>
        </p:nvSpPr>
        <p:spPr>
          <a:xfrm>
            <a:off x="841248" y="2770632"/>
            <a:ext cx="1005840" cy="1005840"/>
          </a:xfrm>
          <a:prstGeom prst="ellipse">
            <a:avLst/>
          </a:prstGeom>
          <a:solidFill>
            <a:srgbClr val="181F4D"/>
          </a:solidFill>
          <a:ln w="12700">
            <a:solidFill>
              <a:srgbClr val="181F4D">
                <a:alpha val="0"/>
              </a:srgbClr>
            </a:solidFill>
            <a:prstDash val="solid"/>
          </a:ln>
        </p:spPr>
        <p:txBody>
          <a:bodyPr/>
          <a:lstStyle/>
          <a:p>
            <a:endParaRPr lang="en-PK"/>
          </a:p>
        </p:txBody>
      </p:sp>
      <p:sp>
        <p:nvSpPr>
          <p:cNvPr id="20" name="Text 18"/>
          <p:cNvSpPr/>
          <p:nvPr/>
        </p:nvSpPr>
        <p:spPr>
          <a:xfrm>
            <a:off x="841248" y="2907792"/>
            <a:ext cx="1005840" cy="384048"/>
          </a:xfrm>
          <a:prstGeom prst="rect">
            <a:avLst/>
          </a:prstGeom>
          <a:noFill/>
          <a:ln/>
        </p:spPr>
        <p:txBody>
          <a:bodyPr wrap="square" lIns="0" tIns="0" rIns="0" bIns="0" rtlCol="0" anchor="ctr">
            <a:spAutoFit/>
          </a:bodyPr>
          <a:lstStyle/>
          <a:p>
            <a:pPr marL="0" indent="0" algn="ctr">
              <a:buNone/>
            </a:pPr>
            <a:r>
              <a:rPr lang="en-US" sz="3100" b="1" dirty="0">
                <a:solidFill>
                  <a:srgbClr val="FFFFFF"/>
                </a:solidFill>
                <a:latin typeface="Arial" pitchFamily="34" charset="0"/>
                <a:ea typeface="Arial" pitchFamily="34" charset="-122"/>
                <a:cs typeface="Arial" pitchFamily="34" charset="-120"/>
              </a:rPr>
              <a:t>30</a:t>
            </a:r>
            <a:endParaRPr lang="en-US" sz="3100" dirty="0"/>
          </a:p>
        </p:txBody>
      </p:sp>
      <p:sp>
        <p:nvSpPr>
          <p:cNvPr id="21" name="Text 19"/>
          <p:cNvSpPr/>
          <p:nvPr/>
        </p:nvSpPr>
        <p:spPr>
          <a:xfrm>
            <a:off x="841248" y="3364992"/>
            <a:ext cx="1005840" cy="182880"/>
          </a:xfrm>
          <a:prstGeom prst="rect">
            <a:avLst/>
          </a:prstGeom>
          <a:noFill/>
          <a:ln/>
        </p:spPr>
        <p:txBody>
          <a:bodyPr wrap="square" lIns="0" tIns="0" rIns="0" bIns="0" rtlCol="0" anchor="ctr">
            <a:spAutoFit/>
          </a:bodyPr>
          <a:lstStyle/>
          <a:p>
            <a:pPr marL="0" indent="0" algn="ctr">
              <a:buNone/>
            </a:pPr>
            <a:r>
              <a:rPr lang="en-US" sz="1020" dirty="0">
                <a:solidFill>
                  <a:srgbClr val="FFFFFF"/>
                </a:solidFill>
                <a:latin typeface="Arial" pitchFamily="34" charset="0"/>
                <a:ea typeface="Arial" pitchFamily="34" charset="-122"/>
                <a:cs typeface="Arial" pitchFamily="34" charset="-120"/>
              </a:rPr>
              <a:t>minutes</a:t>
            </a:r>
            <a:endParaRPr lang="en-US" sz="1020" dirty="0"/>
          </a:p>
        </p:txBody>
      </p:sp>
      <p:sp>
        <p:nvSpPr>
          <p:cNvPr id="22" name="Shape 20"/>
          <p:cNvSpPr/>
          <p:nvPr/>
        </p:nvSpPr>
        <p:spPr>
          <a:xfrm>
            <a:off x="2121408" y="2798064"/>
            <a:ext cx="237744" cy="237744"/>
          </a:xfrm>
          <a:prstGeom prst="ellipse">
            <a:avLst/>
          </a:prstGeom>
          <a:solidFill>
            <a:srgbClr val="303E9B"/>
          </a:solidFill>
          <a:ln w="12700">
            <a:solidFill>
              <a:srgbClr val="303E9B">
                <a:alpha val="0"/>
              </a:srgbClr>
            </a:solidFill>
            <a:prstDash val="solid"/>
          </a:ln>
        </p:spPr>
        <p:txBody>
          <a:bodyPr/>
          <a:lstStyle/>
          <a:p>
            <a:endParaRPr lang="en-PK"/>
          </a:p>
        </p:txBody>
      </p:sp>
      <p:sp>
        <p:nvSpPr>
          <p:cNvPr id="23" name="Text 21"/>
          <p:cNvSpPr/>
          <p:nvPr/>
        </p:nvSpPr>
        <p:spPr>
          <a:xfrm>
            <a:off x="2121408" y="2801722"/>
            <a:ext cx="237744" cy="237744"/>
          </a:xfrm>
          <a:prstGeom prst="rect">
            <a:avLst/>
          </a:prstGeom>
          <a:noFill/>
          <a:ln/>
        </p:spPr>
        <p:txBody>
          <a:bodyPr wrap="square" lIns="0" tIns="0" rIns="0" bIns="0" rtlCol="0" anchor="ctr">
            <a:spAutoFit/>
          </a:bodyP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24" name="Text 22"/>
          <p:cNvSpPr/>
          <p:nvPr/>
        </p:nvSpPr>
        <p:spPr>
          <a:xfrm>
            <a:off x="2487168" y="2706624"/>
            <a:ext cx="4892040" cy="420624"/>
          </a:xfrm>
          <a:prstGeom prst="rect">
            <a:avLst/>
          </a:prstGeom>
          <a:noFill/>
          <a:ln/>
        </p:spPr>
        <p:txBody>
          <a:bodyPr wrap="square" lIns="0" tIns="0" rIns="0" bIns="0" rtlCol="0" anchor="ctr">
            <a:spAutoFit/>
          </a:bodyPr>
          <a:lstStyle/>
          <a:p>
            <a:pPr marL="0" indent="0" algn="l">
              <a:buNone/>
            </a:pPr>
            <a:r>
              <a:rPr lang="en-US" sz="1600" b="1" dirty="0">
                <a:solidFill>
                  <a:srgbClr val="181F4D"/>
                </a:solidFill>
                <a:latin typeface="Arial" pitchFamily="34" charset="0"/>
                <a:ea typeface="Arial" pitchFamily="34" charset="-122"/>
                <a:cs typeface="Arial" pitchFamily="34" charset="-120"/>
              </a:rPr>
              <a:t>How do documents arrive today?</a:t>
            </a:r>
            <a:endParaRPr lang="en-US" sz="1600" dirty="0"/>
          </a:p>
        </p:txBody>
      </p:sp>
      <p:sp>
        <p:nvSpPr>
          <p:cNvPr id="25" name="Shape 23"/>
          <p:cNvSpPr/>
          <p:nvPr/>
        </p:nvSpPr>
        <p:spPr>
          <a:xfrm>
            <a:off x="2487168" y="3209544"/>
            <a:ext cx="4946904" cy="0"/>
          </a:xfrm>
          <a:prstGeom prst="line">
            <a:avLst/>
          </a:prstGeom>
          <a:noFill/>
          <a:ln w="7620">
            <a:solidFill>
              <a:srgbClr val="CED1DA"/>
            </a:solidFill>
            <a:prstDash val="solid"/>
          </a:ln>
        </p:spPr>
        <p:txBody>
          <a:bodyPr/>
          <a:lstStyle/>
          <a:p>
            <a:endParaRPr lang="en-PK"/>
          </a:p>
        </p:txBody>
      </p:sp>
      <p:sp>
        <p:nvSpPr>
          <p:cNvPr id="26" name="Shape 24"/>
          <p:cNvSpPr/>
          <p:nvPr/>
        </p:nvSpPr>
        <p:spPr>
          <a:xfrm>
            <a:off x="2121408" y="3383280"/>
            <a:ext cx="237744" cy="237744"/>
          </a:xfrm>
          <a:prstGeom prst="ellipse">
            <a:avLst/>
          </a:prstGeom>
          <a:solidFill>
            <a:srgbClr val="303E9B"/>
          </a:solidFill>
          <a:ln w="12700">
            <a:solidFill>
              <a:srgbClr val="303E9B">
                <a:alpha val="0"/>
              </a:srgbClr>
            </a:solidFill>
            <a:prstDash val="solid"/>
          </a:ln>
        </p:spPr>
        <p:txBody>
          <a:bodyPr/>
          <a:lstStyle/>
          <a:p>
            <a:endParaRPr lang="en-PK"/>
          </a:p>
        </p:txBody>
      </p:sp>
      <p:sp>
        <p:nvSpPr>
          <p:cNvPr id="27" name="Text 25"/>
          <p:cNvSpPr/>
          <p:nvPr/>
        </p:nvSpPr>
        <p:spPr>
          <a:xfrm>
            <a:off x="2121408" y="3386938"/>
            <a:ext cx="237744" cy="237744"/>
          </a:xfrm>
          <a:prstGeom prst="rect">
            <a:avLst/>
          </a:prstGeom>
          <a:noFill/>
          <a:ln/>
        </p:spPr>
        <p:txBody>
          <a:bodyPr wrap="square" lIns="0" tIns="0" rIns="0" bIns="0" rtlCol="0" anchor="ctr">
            <a:spAutoFit/>
          </a:bodyP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8" name="Text 26"/>
          <p:cNvSpPr/>
          <p:nvPr/>
        </p:nvSpPr>
        <p:spPr>
          <a:xfrm>
            <a:off x="2487168" y="3291840"/>
            <a:ext cx="4892040" cy="420624"/>
          </a:xfrm>
          <a:prstGeom prst="rect">
            <a:avLst/>
          </a:prstGeom>
          <a:noFill/>
          <a:ln/>
        </p:spPr>
        <p:txBody>
          <a:bodyPr wrap="square" lIns="0" tIns="0" rIns="0" bIns="0" rtlCol="0" anchor="ctr">
            <a:spAutoFit/>
          </a:bodyPr>
          <a:lstStyle/>
          <a:p>
            <a:pPr marL="0" indent="0" algn="l">
              <a:buNone/>
            </a:pPr>
            <a:r>
              <a:rPr lang="en-US" sz="1600" dirty="0">
                <a:solidFill>
                  <a:srgbClr val="181F4D"/>
                </a:solidFill>
                <a:latin typeface="Arial" pitchFamily="34" charset="0"/>
                <a:ea typeface="Arial" pitchFamily="34" charset="-122"/>
                <a:cs typeface="Arial" pitchFamily="34" charset="-120"/>
              </a:rPr>
              <a:t>Where does review time actually go?</a:t>
            </a:r>
            <a:endParaRPr lang="en-US" sz="1600" dirty="0"/>
          </a:p>
        </p:txBody>
      </p:sp>
      <p:sp>
        <p:nvSpPr>
          <p:cNvPr id="29" name="Shape 27"/>
          <p:cNvSpPr/>
          <p:nvPr/>
        </p:nvSpPr>
        <p:spPr>
          <a:xfrm>
            <a:off x="2487168" y="3794760"/>
            <a:ext cx="4946904" cy="0"/>
          </a:xfrm>
          <a:prstGeom prst="line">
            <a:avLst/>
          </a:prstGeom>
          <a:noFill/>
          <a:ln w="7620">
            <a:solidFill>
              <a:srgbClr val="CED1DA"/>
            </a:solidFill>
            <a:prstDash val="solid"/>
          </a:ln>
        </p:spPr>
        <p:txBody>
          <a:bodyPr/>
          <a:lstStyle/>
          <a:p>
            <a:endParaRPr lang="en-PK"/>
          </a:p>
        </p:txBody>
      </p:sp>
      <p:sp>
        <p:nvSpPr>
          <p:cNvPr id="30" name="Shape 28"/>
          <p:cNvSpPr/>
          <p:nvPr/>
        </p:nvSpPr>
        <p:spPr>
          <a:xfrm>
            <a:off x="2121408" y="3968496"/>
            <a:ext cx="237744" cy="237744"/>
          </a:xfrm>
          <a:prstGeom prst="ellipse">
            <a:avLst/>
          </a:prstGeom>
          <a:solidFill>
            <a:srgbClr val="303E9B"/>
          </a:solidFill>
          <a:ln w="12700">
            <a:solidFill>
              <a:srgbClr val="303E9B">
                <a:alpha val="0"/>
              </a:srgbClr>
            </a:solidFill>
            <a:prstDash val="solid"/>
          </a:ln>
        </p:spPr>
        <p:txBody>
          <a:bodyPr/>
          <a:lstStyle/>
          <a:p>
            <a:endParaRPr lang="en-PK"/>
          </a:p>
        </p:txBody>
      </p:sp>
      <p:sp>
        <p:nvSpPr>
          <p:cNvPr id="31" name="Text 29"/>
          <p:cNvSpPr/>
          <p:nvPr/>
        </p:nvSpPr>
        <p:spPr>
          <a:xfrm>
            <a:off x="2121408" y="3972154"/>
            <a:ext cx="237744" cy="237744"/>
          </a:xfrm>
          <a:prstGeom prst="rect">
            <a:avLst/>
          </a:prstGeom>
          <a:noFill/>
          <a:ln/>
        </p:spPr>
        <p:txBody>
          <a:bodyPr wrap="square" lIns="0" tIns="0" rIns="0" bIns="0" rtlCol="0" anchor="ctr">
            <a:spAutoFit/>
          </a:bodyP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32" name="Text 30"/>
          <p:cNvSpPr/>
          <p:nvPr/>
        </p:nvSpPr>
        <p:spPr>
          <a:xfrm>
            <a:off x="2487168" y="3877056"/>
            <a:ext cx="4892040" cy="420624"/>
          </a:xfrm>
          <a:prstGeom prst="rect">
            <a:avLst/>
          </a:prstGeom>
          <a:noFill/>
          <a:ln/>
        </p:spPr>
        <p:txBody>
          <a:bodyPr wrap="square" lIns="0" tIns="0" rIns="0" bIns="0" rtlCol="0" anchor="ctr">
            <a:spAutoFit/>
          </a:bodyPr>
          <a:lstStyle/>
          <a:p>
            <a:pPr marL="0" indent="0" algn="l">
              <a:buNone/>
            </a:pPr>
            <a:r>
              <a:rPr lang="en-US" sz="1600" dirty="0">
                <a:solidFill>
                  <a:srgbClr val="181F4D"/>
                </a:solidFill>
                <a:latin typeface="Arial" pitchFamily="34" charset="0"/>
                <a:ea typeface="Arial" pitchFamily="34" charset="-122"/>
                <a:cs typeface="Arial" pitchFamily="34" charset="-120"/>
              </a:rPr>
              <a:t>What does the firm currently measure?</a:t>
            </a:r>
            <a:endParaRPr lang="en-US" sz="1600" dirty="0"/>
          </a:p>
        </p:txBody>
      </p:sp>
      <p:sp>
        <p:nvSpPr>
          <p:cNvPr id="33" name="Shape 31"/>
          <p:cNvSpPr/>
          <p:nvPr/>
        </p:nvSpPr>
        <p:spPr>
          <a:xfrm>
            <a:off x="612648" y="4654296"/>
            <a:ext cx="6967728" cy="649224"/>
          </a:xfrm>
          <a:prstGeom prst="rect">
            <a:avLst/>
          </a:prstGeom>
          <a:solidFill>
            <a:srgbClr val="E0E3F5"/>
          </a:solidFill>
          <a:ln w="12700">
            <a:solidFill>
              <a:srgbClr val="E0E3F5">
                <a:alpha val="0"/>
              </a:srgbClr>
            </a:solidFill>
            <a:prstDash val="solid"/>
          </a:ln>
        </p:spPr>
        <p:txBody>
          <a:bodyPr/>
          <a:lstStyle/>
          <a:p>
            <a:endParaRPr lang="en-PK"/>
          </a:p>
        </p:txBody>
      </p:sp>
      <p:sp>
        <p:nvSpPr>
          <p:cNvPr id="34" name="Text 32"/>
          <p:cNvSpPr/>
          <p:nvPr/>
        </p:nvSpPr>
        <p:spPr>
          <a:xfrm>
            <a:off x="804672" y="4791456"/>
            <a:ext cx="6583680" cy="365760"/>
          </a:xfrm>
          <a:prstGeom prst="rect">
            <a:avLst/>
          </a:prstGeom>
          <a:noFill/>
          <a:ln/>
        </p:spPr>
        <p:txBody>
          <a:bodyPr wrap="square" lIns="0" tIns="0" rIns="0" bIns="0" rtlCol="0" anchor="ctr">
            <a:spAutoFit/>
          </a:bodyPr>
          <a:lstStyle/>
          <a:p>
            <a:pPr marL="0" indent="0" algn="l">
              <a:buNone/>
            </a:pPr>
            <a:r>
              <a:rPr lang="en-US" sz="1620" b="1" dirty="0">
                <a:solidFill>
                  <a:srgbClr val="181F4D"/>
                </a:solidFill>
                <a:latin typeface="Arial" pitchFamily="34" charset="0"/>
                <a:ea typeface="Arial" pitchFamily="34" charset="-122"/>
                <a:cs typeface="Arial" pitchFamily="34" charset="-120"/>
              </a:rPr>
              <a:t>Proceed only if the baseline shows a meaningful opportunity.</a:t>
            </a:r>
            <a:endParaRPr lang="en-US" sz="1620" dirty="0"/>
          </a:p>
        </p:txBody>
      </p:sp>
      <p:sp>
        <p:nvSpPr>
          <p:cNvPr id="35" name="Text 33"/>
          <p:cNvSpPr/>
          <p:nvPr/>
        </p:nvSpPr>
        <p:spPr>
          <a:xfrm>
            <a:off x="722376" y="5477256"/>
            <a:ext cx="6748272" cy="384048"/>
          </a:xfrm>
          <a:prstGeom prst="rect">
            <a:avLst/>
          </a:prstGeom>
          <a:noFill/>
          <a:ln/>
        </p:spPr>
        <p:txBody>
          <a:bodyPr wrap="square" lIns="0" tIns="0" rIns="0" bIns="0" rtlCol="0" anchor="t">
            <a:spAutoFit/>
          </a:bodyPr>
          <a:lstStyle/>
          <a:p>
            <a:pPr marL="0" indent="0" algn="l">
              <a:buNone/>
            </a:pPr>
            <a:r>
              <a:rPr lang="en-US" sz="1230" dirty="0">
                <a:solidFill>
                  <a:srgbClr val="8B8FA6"/>
                </a:solidFill>
                <a:latin typeface="Arial" pitchFamily="34" charset="0"/>
                <a:ea typeface="Arial" pitchFamily="34" charset="-122"/>
                <a:cs typeface="Arial" pitchFamily="34" charset="-120"/>
              </a:rPr>
              <a:t>Commercial terms remain to be agreed; the source proposal contains no pilot or rollout price.</a:t>
            </a:r>
            <a:endParaRPr lang="en-US" sz="1230" dirty="0"/>
          </a:p>
        </p:txBody>
      </p:sp>
      <p:sp>
        <p:nvSpPr>
          <p:cNvPr id="36" name="Shape 34"/>
          <p:cNvSpPr/>
          <p:nvPr/>
        </p:nvSpPr>
        <p:spPr>
          <a:xfrm>
            <a:off x="7827264" y="2048256"/>
            <a:ext cx="3758184" cy="429768"/>
          </a:xfrm>
          <a:prstGeom prst="rect">
            <a:avLst/>
          </a:prstGeom>
          <a:solidFill>
            <a:srgbClr val="303E9B"/>
          </a:solidFill>
          <a:ln w="12700">
            <a:solidFill>
              <a:srgbClr val="303E9B">
                <a:alpha val="0"/>
              </a:srgbClr>
            </a:solidFill>
            <a:prstDash val="solid"/>
          </a:ln>
        </p:spPr>
        <p:txBody>
          <a:bodyPr/>
          <a:lstStyle/>
          <a:p>
            <a:endParaRPr lang="en-PK"/>
          </a:p>
        </p:txBody>
      </p:sp>
      <p:sp>
        <p:nvSpPr>
          <p:cNvPr id="37" name="Text 35"/>
          <p:cNvSpPr/>
          <p:nvPr/>
        </p:nvSpPr>
        <p:spPr>
          <a:xfrm>
            <a:off x="7973568" y="2121408"/>
            <a:ext cx="3465576" cy="274320"/>
          </a:xfrm>
          <a:prstGeom prst="rect">
            <a:avLst/>
          </a:prstGeom>
          <a:noFill/>
          <a:ln/>
        </p:spPr>
        <p:txBody>
          <a:bodyPr wrap="square" lIns="0" tIns="0" rIns="0" bIns="0" rtlCol="0" anchor="ctr">
            <a:spAutoFit/>
          </a:bodyPr>
          <a:lstStyle/>
          <a:p>
            <a:pPr marL="0" indent="0" algn="l">
              <a:buNone/>
            </a:pPr>
            <a:r>
              <a:rPr lang="en-US" sz="1320" b="1" dirty="0">
                <a:solidFill>
                  <a:srgbClr val="FFFFFF"/>
                </a:solidFill>
                <a:latin typeface="Arial" pitchFamily="34" charset="0"/>
                <a:ea typeface="Arial" pitchFamily="34" charset="-122"/>
                <a:cs typeface="Arial" pitchFamily="34" charset="-120"/>
              </a:rPr>
              <a:t>Relevant delivery experience</a:t>
            </a:r>
            <a:endParaRPr lang="en-US" sz="1320" dirty="0"/>
          </a:p>
        </p:txBody>
      </p:sp>
      <p:sp>
        <p:nvSpPr>
          <p:cNvPr id="38" name="Shape 36"/>
          <p:cNvSpPr/>
          <p:nvPr/>
        </p:nvSpPr>
        <p:spPr>
          <a:xfrm>
            <a:off x="7827264" y="2615184"/>
            <a:ext cx="3758184" cy="694944"/>
          </a:xfrm>
          <a:prstGeom prst="rect">
            <a:avLst/>
          </a:prstGeom>
          <a:solidFill>
            <a:srgbClr val="E0E3F5"/>
          </a:solidFill>
          <a:ln w="12700">
            <a:solidFill>
              <a:srgbClr val="E0E3F5">
                <a:alpha val="0"/>
              </a:srgbClr>
            </a:solidFill>
            <a:prstDash val="solid"/>
          </a:ln>
        </p:spPr>
        <p:txBody>
          <a:bodyPr/>
          <a:lstStyle/>
          <a:p>
            <a:endParaRPr lang="en-PK"/>
          </a:p>
        </p:txBody>
      </p:sp>
      <p:sp>
        <p:nvSpPr>
          <p:cNvPr id="39" name="Text 37"/>
          <p:cNvSpPr/>
          <p:nvPr/>
        </p:nvSpPr>
        <p:spPr>
          <a:xfrm>
            <a:off x="7991856" y="2679192"/>
            <a:ext cx="3429000" cy="301752"/>
          </a:xfrm>
          <a:prstGeom prst="rect">
            <a:avLst/>
          </a:prstGeom>
          <a:noFill/>
          <a:ln/>
        </p:spPr>
        <p:txBody>
          <a:bodyPr wrap="square" lIns="0" tIns="0" rIns="0" bIns="0" rtlCol="0" anchor="ctr">
            <a:spAutoFit/>
          </a:bodyPr>
          <a:lstStyle/>
          <a:p>
            <a:pPr marL="0" indent="0" algn="l">
              <a:buNone/>
            </a:pPr>
            <a:r>
              <a:rPr lang="en-US" sz="2520" b="1" dirty="0">
                <a:solidFill>
                  <a:srgbClr val="181F4D"/>
                </a:solidFill>
                <a:latin typeface="Arial" pitchFamily="34" charset="0"/>
                <a:ea typeface="Arial" pitchFamily="34" charset="-122"/>
                <a:cs typeface="Arial" pitchFamily="34" charset="-120"/>
              </a:rPr>
              <a:t>2 years</a:t>
            </a:r>
            <a:endParaRPr lang="en-US" sz="2520" dirty="0"/>
          </a:p>
        </p:txBody>
      </p:sp>
      <p:sp>
        <p:nvSpPr>
          <p:cNvPr id="40" name="Text 38"/>
          <p:cNvSpPr/>
          <p:nvPr/>
        </p:nvSpPr>
        <p:spPr>
          <a:xfrm>
            <a:off x="7991856" y="3063240"/>
            <a:ext cx="3429000" cy="173736"/>
          </a:xfrm>
          <a:prstGeom prst="rect">
            <a:avLst/>
          </a:prstGeom>
          <a:noFill/>
          <a:ln/>
        </p:spPr>
        <p:txBody>
          <a:bodyPr wrap="square" lIns="0" tIns="0" rIns="0" bIns="0" rtlCol="0" anchor="ctr">
            <a:spAutoFit/>
          </a:bodyPr>
          <a:lstStyle/>
          <a:p>
            <a:pPr marL="0" indent="0" algn="l">
              <a:buNone/>
            </a:pPr>
            <a:r>
              <a:rPr lang="en-US" sz="1070" dirty="0">
                <a:solidFill>
                  <a:srgbClr val="8B8FA6"/>
                </a:solidFill>
                <a:latin typeface="Arial" pitchFamily="34" charset="0"/>
                <a:ea typeface="Arial" pitchFamily="34" charset="-122"/>
                <a:cs typeface="Arial" pitchFamily="34" charset="-120"/>
              </a:rPr>
              <a:t>Data &amp; AI engineering in legal technology</a:t>
            </a:r>
            <a:endParaRPr lang="en-US" sz="1070" dirty="0"/>
          </a:p>
        </p:txBody>
      </p:sp>
      <p:sp>
        <p:nvSpPr>
          <p:cNvPr id="41" name="Shape 39"/>
          <p:cNvSpPr/>
          <p:nvPr/>
        </p:nvSpPr>
        <p:spPr>
          <a:xfrm>
            <a:off x="7827264" y="3374136"/>
            <a:ext cx="3758184" cy="694944"/>
          </a:xfrm>
          <a:prstGeom prst="rect">
            <a:avLst/>
          </a:prstGeom>
          <a:solidFill>
            <a:srgbClr val="F3F4F6"/>
          </a:solidFill>
          <a:ln w="12700">
            <a:solidFill>
              <a:srgbClr val="F3F4F6">
                <a:alpha val="0"/>
              </a:srgbClr>
            </a:solidFill>
            <a:prstDash val="solid"/>
          </a:ln>
        </p:spPr>
        <p:txBody>
          <a:bodyPr/>
          <a:lstStyle/>
          <a:p>
            <a:endParaRPr lang="en-PK"/>
          </a:p>
        </p:txBody>
      </p:sp>
      <p:sp>
        <p:nvSpPr>
          <p:cNvPr id="42" name="Text 40"/>
          <p:cNvSpPr/>
          <p:nvPr/>
        </p:nvSpPr>
        <p:spPr>
          <a:xfrm>
            <a:off x="7991856" y="3438144"/>
            <a:ext cx="3429000" cy="301752"/>
          </a:xfrm>
          <a:prstGeom prst="rect">
            <a:avLst/>
          </a:prstGeom>
          <a:noFill/>
          <a:ln/>
        </p:spPr>
        <p:txBody>
          <a:bodyPr wrap="square" lIns="0" tIns="0" rIns="0" bIns="0" rtlCol="0" anchor="ctr">
            <a:spAutoFit/>
          </a:bodyPr>
          <a:lstStyle/>
          <a:p>
            <a:pPr marL="0" indent="0" algn="l">
              <a:buNone/>
            </a:pPr>
            <a:r>
              <a:rPr lang="en-US" sz="2520" b="1" dirty="0">
                <a:solidFill>
                  <a:srgbClr val="181F4D"/>
                </a:solidFill>
                <a:latin typeface="Arial" pitchFamily="34" charset="0"/>
                <a:ea typeface="Arial" pitchFamily="34" charset="-122"/>
                <a:cs typeface="Arial" pitchFamily="34" charset="-120"/>
              </a:rPr>
              <a:t>450,000+</a:t>
            </a:r>
            <a:endParaRPr lang="en-US" sz="2520" dirty="0"/>
          </a:p>
        </p:txBody>
      </p:sp>
      <p:sp>
        <p:nvSpPr>
          <p:cNvPr id="43" name="Text 41"/>
          <p:cNvSpPr/>
          <p:nvPr/>
        </p:nvSpPr>
        <p:spPr>
          <a:xfrm>
            <a:off x="7991856" y="3822192"/>
            <a:ext cx="3429000" cy="173736"/>
          </a:xfrm>
          <a:prstGeom prst="rect">
            <a:avLst/>
          </a:prstGeom>
          <a:noFill/>
          <a:ln/>
        </p:spPr>
        <p:txBody>
          <a:bodyPr wrap="square" lIns="0" tIns="0" rIns="0" bIns="0" rtlCol="0" anchor="ctr">
            <a:spAutoFit/>
          </a:bodyPr>
          <a:lstStyle/>
          <a:p>
            <a:pPr marL="0" indent="0" algn="l">
              <a:buNone/>
            </a:pPr>
            <a:r>
              <a:rPr lang="en-US" sz="1070" dirty="0">
                <a:solidFill>
                  <a:srgbClr val="8B8FA6"/>
                </a:solidFill>
                <a:latin typeface="Arial" pitchFamily="34" charset="0"/>
                <a:ea typeface="Arial" pitchFamily="34" charset="-122"/>
                <a:cs typeface="Arial" pitchFamily="34" charset="-120"/>
              </a:rPr>
              <a:t>Court judgments processed in production</a:t>
            </a:r>
            <a:endParaRPr lang="en-US" sz="1070" dirty="0"/>
          </a:p>
        </p:txBody>
      </p:sp>
      <p:sp>
        <p:nvSpPr>
          <p:cNvPr id="44" name="Shape 42"/>
          <p:cNvSpPr/>
          <p:nvPr/>
        </p:nvSpPr>
        <p:spPr>
          <a:xfrm>
            <a:off x="7827264" y="4133088"/>
            <a:ext cx="3758184" cy="694944"/>
          </a:xfrm>
          <a:prstGeom prst="rect">
            <a:avLst/>
          </a:prstGeom>
          <a:solidFill>
            <a:srgbClr val="E0E3F5"/>
          </a:solidFill>
          <a:ln w="12700">
            <a:solidFill>
              <a:srgbClr val="E0E3F5">
                <a:alpha val="0"/>
              </a:srgbClr>
            </a:solidFill>
            <a:prstDash val="solid"/>
          </a:ln>
        </p:spPr>
        <p:txBody>
          <a:bodyPr/>
          <a:lstStyle/>
          <a:p>
            <a:endParaRPr lang="en-PK"/>
          </a:p>
        </p:txBody>
      </p:sp>
      <p:sp>
        <p:nvSpPr>
          <p:cNvPr id="45" name="Text 43"/>
          <p:cNvSpPr/>
          <p:nvPr/>
        </p:nvSpPr>
        <p:spPr>
          <a:xfrm>
            <a:off x="7991856" y="4197096"/>
            <a:ext cx="3429000" cy="301752"/>
          </a:xfrm>
          <a:prstGeom prst="rect">
            <a:avLst/>
          </a:prstGeom>
          <a:noFill/>
          <a:ln/>
        </p:spPr>
        <p:txBody>
          <a:bodyPr wrap="square" lIns="0" tIns="0" rIns="0" bIns="0" rtlCol="0" anchor="ctr">
            <a:spAutoFit/>
          </a:bodyPr>
          <a:lstStyle/>
          <a:p>
            <a:pPr marL="0" indent="0" algn="l">
              <a:buNone/>
            </a:pPr>
            <a:r>
              <a:rPr lang="en-US" sz="2520" b="1" dirty="0">
                <a:solidFill>
                  <a:srgbClr val="181F4D"/>
                </a:solidFill>
                <a:latin typeface="Arial" pitchFamily="34" charset="0"/>
                <a:ea typeface="Arial" pitchFamily="34" charset="-122"/>
                <a:cs typeface="Arial" pitchFamily="34" charset="-120"/>
              </a:rPr>
              <a:t>40,000+</a:t>
            </a:r>
            <a:endParaRPr lang="en-US" sz="2520" dirty="0"/>
          </a:p>
        </p:txBody>
      </p:sp>
      <p:sp>
        <p:nvSpPr>
          <p:cNvPr id="46" name="Text 44"/>
          <p:cNvSpPr/>
          <p:nvPr/>
        </p:nvSpPr>
        <p:spPr>
          <a:xfrm>
            <a:off x="7991856" y="4581144"/>
            <a:ext cx="3429000" cy="173736"/>
          </a:xfrm>
          <a:prstGeom prst="rect">
            <a:avLst/>
          </a:prstGeom>
          <a:noFill/>
          <a:ln/>
        </p:spPr>
        <p:txBody>
          <a:bodyPr wrap="square" lIns="0" tIns="0" rIns="0" bIns="0" rtlCol="0" anchor="ctr">
            <a:spAutoFit/>
          </a:bodyPr>
          <a:lstStyle/>
          <a:p>
            <a:pPr marL="0" indent="0" algn="l">
              <a:buNone/>
            </a:pPr>
            <a:r>
              <a:rPr lang="en-US" sz="1070" dirty="0">
                <a:solidFill>
                  <a:srgbClr val="8B8FA6"/>
                </a:solidFill>
                <a:latin typeface="Arial" pitchFamily="34" charset="0"/>
                <a:ea typeface="Arial" pitchFamily="34" charset="-122"/>
                <a:cs typeface="Arial" pitchFamily="34" charset="-120"/>
              </a:rPr>
              <a:t>Legal provisions processed in production</a:t>
            </a:r>
            <a:endParaRPr lang="en-US" sz="1070" dirty="0"/>
          </a:p>
        </p:txBody>
      </p:sp>
      <p:sp>
        <p:nvSpPr>
          <p:cNvPr id="48" name="Text 46"/>
          <p:cNvSpPr/>
          <p:nvPr/>
        </p:nvSpPr>
        <p:spPr>
          <a:xfrm>
            <a:off x="612648" y="6007608"/>
            <a:ext cx="1499616" cy="164592"/>
          </a:xfrm>
          <a:prstGeom prst="rect">
            <a:avLst/>
          </a:prstGeom>
          <a:noFill/>
          <a:ln/>
        </p:spPr>
        <p:txBody>
          <a:bodyPr wrap="square" lIns="0" tIns="0" rIns="0" bIns="0" rtlCol="0" anchor="ctr">
            <a:spAutoFit/>
          </a:bodyPr>
          <a:lstStyle/>
          <a:p>
            <a:pPr marL="0" indent="0" algn="l">
              <a:buNone/>
            </a:pPr>
            <a:r>
              <a:rPr lang="en-US" sz="1050" b="1" dirty="0">
                <a:solidFill>
                  <a:srgbClr val="181F4D"/>
                </a:solidFill>
                <a:latin typeface="Arial" pitchFamily="34" charset="0"/>
                <a:ea typeface="Arial" pitchFamily="34" charset="-122"/>
                <a:cs typeface="Arial" pitchFamily="34" charset="-120"/>
              </a:rPr>
              <a:t>Abdullah Ahmed</a:t>
            </a:r>
            <a:endParaRPr lang="en-US" sz="1050" dirty="0"/>
          </a:p>
        </p:txBody>
      </p:sp>
      <p:sp>
        <p:nvSpPr>
          <p:cNvPr id="49" name="Text 47">
            <a:hlinkClick r:id="rId3" tooltip="Abdullah Ahmed on GitHub"/>
          </p:cNvPr>
          <p:cNvSpPr/>
          <p:nvPr/>
        </p:nvSpPr>
        <p:spPr>
          <a:xfrm>
            <a:off x="2258568" y="6007608"/>
            <a:ext cx="2240280" cy="164592"/>
          </a:xfrm>
          <a:prstGeom prst="rect">
            <a:avLst/>
          </a:prstGeom>
          <a:noFill/>
          <a:ln/>
        </p:spPr>
        <p:txBody>
          <a:bodyPr wrap="square" lIns="0" tIns="0" rIns="0" bIns="0" rtlCol="0" anchor="ctr">
            <a:spAutoFit/>
          </a:bodyPr>
          <a:lstStyle/>
          <a:p>
            <a:pPr marL="0" indent="0" algn="l">
              <a:buNone/>
            </a:pPr>
            <a:r>
              <a:rPr lang="en-US" sz="960" u="sng" dirty="0">
                <a:solidFill>
                  <a:srgbClr val="8B8FA6"/>
                </a:solidFill>
                <a:latin typeface="Arial" pitchFamily="34" charset="0"/>
                <a:ea typeface="Arial" pitchFamily="34" charset="-122"/>
                <a:cs typeface="Arial" pitchFamily="34" charset="-120"/>
                <a:hlinkClick r:id="rId3" tooltip="Abdullah Ahmed on GitHub">
                  <a:extLst>
                    <a:ext uri="{A12FA001-AC4F-418D-AE19-62706E023703}">
                      <ahyp:hlinkClr xmlns="" xmlns:ahyp="http://schemas.microsoft.com/office/drawing/2018/hyperlinkcolor" val="tx"/>
                    </a:ext>
                  </a:extLst>
                </a:hlinkClick>
              </a:rPr>
              <a:t>github.com/Abdullah17442</a:t>
            </a:r>
            <a:endParaRPr lang="en-US" sz="960" dirty="0"/>
          </a:p>
        </p:txBody>
      </p:sp>
      <p:sp>
        <p:nvSpPr>
          <p:cNvPr id="50" name="Text 48">
            <a:hlinkClick r:id="rId4" tooltip="Abdullah Ahmed on LinkedIn"/>
          </p:cNvPr>
          <p:cNvSpPr/>
          <p:nvPr/>
        </p:nvSpPr>
        <p:spPr>
          <a:xfrm>
            <a:off x="4709160" y="6007608"/>
            <a:ext cx="3986784" cy="164592"/>
          </a:xfrm>
          <a:prstGeom prst="rect">
            <a:avLst/>
          </a:prstGeom>
          <a:noFill/>
          <a:ln/>
        </p:spPr>
        <p:txBody>
          <a:bodyPr wrap="square" lIns="0" tIns="0" rIns="0" bIns="0" rtlCol="0" anchor="ctr">
            <a:spAutoFit/>
          </a:bodyPr>
          <a:lstStyle/>
          <a:p>
            <a:pPr marL="0" indent="0" algn="l">
              <a:buNone/>
            </a:pPr>
            <a:r>
              <a:rPr lang="en-US" sz="960" u="sng" dirty="0">
                <a:solidFill>
                  <a:srgbClr val="8B8FA6"/>
                </a:solidFill>
                <a:latin typeface="Arial" pitchFamily="34" charset="0"/>
                <a:ea typeface="Arial" pitchFamily="34" charset="-122"/>
                <a:cs typeface="Arial" pitchFamily="34" charset="-120"/>
                <a:hlinkClick r:id="rId4" tooltip="Abdullah Ahmed on LinkedIn">
                  <a:extLst>
                    <a:ext uri="{A12FA001-AC4F-418D-AE19-62706E023703}">
                      <ahyp:hlinkClr xmlns="" xmlns:ahyp="http://schemas.microsoft.com/office/drawing/2018/hyperlinkcolor" val="tx"/>
                    </a:ext>
                  </a:extLst>
                </a:hlinkClick>
              </a:rPr>
              <a:t>linkedin.com/in/abdullahahmed17442/</a:t>
            </a:r>
            <a:endParaRPr lang="en-US" sz="9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line"/>
          <p:cNvSpPr txBox="1"/>
          <p:nvPr/>
        </p:nvSpPr>
        <p:spPr>
          <a:xfrm>
            <a:off x="365760" y="548640"/>
            <a:ext cx="9966960" cy="429768"/>
          </a:xfrm>
          <a:prstGeom prst="rect">
            <a:avLst/>
          </a:prstGeom>
          <a:noFill/>
          <a:effectLst/>
        </p:spPr>
        <p:txBody>
          <a:bodyPr wrap="square" lIns="0" tIns="0" rIns="0" bIns="0" anchor="t">
            <a:spAutoFit/>
          </a:bodyPr>
          <a:lstStyle/>
          <a:p>
            <a:pPr algn="l">
              <a:lnSpc>
                <a:spcPct val="110000"/>
              </a:lnSpc>
              <a:spcBef>
                <a:spcPts val="0"/>
              </a:spcBef>
              <a:spcAft>
                <a:spcPts val="0"/>
              </a:spcAft>
            </a:pPr>
            <a:r>
              <a:rPr sz="2550" b="0" i="0">
                <a:solidFill>
                  <a:srgbClr val="20244E"/>
                </a:solidFill>
                <a:latin typeface="Arial"/>
              </a:rPr>
              <a:t>Data expertise. Practical automation.</a:t>
            </a:r>
          </a:p>
        </p:txBody>
      </p:sp>
      <p:sp>
        <p:nvSpPr>
          <p:cNvPr id="3" name="Header accent — Orange"/>
          <p:cNvSpPr/>
          <p:nvPr/>
        </p:nvSpPr>
        <p:spPr>
          <a:xfrm>
            <a:off x="365760" y="1243584"/>
            <a:ext cx="256032" cy="50292"/>
          </a:xfrm>
          <a:prstGeom prst="rect">
            <a:avLst/>
          </a:prstGeom>
          <a:solidFill>
            <a:srgbClr val="EA76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 name="Header accent — Gold"/>
          <p:cNvSpPr/>
          <p:nvPr/>
        </p:nvSpPr>
        <p:spPr>
          <a:xfrm>
            <a:off x="621792" y="1243584"/>
            <a:ext cx="256032" cy="50292"/>
          </a:xfrm>
          <a:prstGeom prst="rect">
            <a:avLst/>
          </a:prstGeom>
          <a:solidFill>
            <a:srgbClr val="F2C4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Header accent — Blue"/>
          <p:cNvSpPr/>
          <p:nvPr/>
        </p:nvSpPr>
        <p:spPr>
          <a:xfrm>
            <a:off x="877824" y="1243584"/>
            <a:ext cx="265176" cy="50292"/>
          </a:xfrm>
          <a:prstGeom prst="rect">
            <a:avLst/>
          </a:prstGeom>
          <a:solidFill>
            <a:srgbClr val="8FB8D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 name="Experience heading"/>
          <p:cNvSpPr txBox="1"/>
          <p:nvPr/>
        </p:nvSpPr>
        <p:spPr>
          <a:xfrm>
            <a:off x="365760" y="1810512"/>
            <a:ext cx="3291840" cy="320040"/>
          </a:xfrm>
          <a:prstGeom prst="rect">
            <a:avLst/>
          </a:prstGeom>
          <a:noFill/>
          <a:effectLst/>
        </p:spPr>
        <p:txBody>
          <a:bodyPr wrap="square" lIns="0" tIns="0" rIns="0" bIns="0" anchor="t">
            <a:spAutoFit/>
          </a:bodyPr>
          <a:lstStyle/>
          <a:p>
            <a:pPr algn="l">
              <a:lnSpc>
                <a:spcPct val="110000"/>
              </a:lnSpc>
              <a:spcBef>
                <a:spcPts val="0"/>
              </a:spcBef>
              <a:spcAft>
                <a:spcPts val="0"/>
              </a:spcAft>
            </a:pPr>
            <a:r>
              <a:rPr sz="1750" b="1" i="0">
                <a:solidFill>
                  <a:srgbClr val="20244E"/>
                </a:solidFill>
                <a:latin typeface="Arial"/>
              </a:rPr>
              <a:t>Our Experience</a:t>
            </a:r>
          </a:p>
        </p:txBody>
      </p:sp>
      <p:grpSp>
        <p:nvGrpSpPr>
          <p:cNvPr id="7" name="Experience visual — Data, AI and Workflow"/>
          <p:cNvGrpSpPr/>
          <p:nvPr/>
        </p:nvGrpSpPr>
        <p:grpSpPr>
          <a:xfrm>
            <a:off x="420624" y="2286000"/>
            <a:ext cx="3127248" cy="1124712"/>
            <a:chOff x="420624" y="2286000"/>
            <a:chExt cx="3127248" cy="1124712"/>
          </a:xfrm>
        </p:grpSpPr>
        <p:sp>
          <p:nvSpPr>
            <p:cNvPr id="8" name="DATA background"/>
            <p:cNvSpPr/>
            <p:nvPr/>
          </p:nvSpPr>
          <p:spPr>
            <a:xfrm>
              <a:off x="457200" y="2286000"/>
              <a:ext cx="822960" cy="822960"/>
            </a:xfrm>
            <a:prstGeom prst="ellipse">
              <a:avLst/>
            </a:prstGeom>
            <a:solidFill>
              <a:srgbClr val="EDF4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DATA caption"/>
            <p:cNvSpPr txBox="1"/>
            <p:nvPr/>
          </p:nvSpPr>
          <p:spPr>
            <a:xfrm>
              <a:off x="420624" y="3218688"/>
              <a:ext cx="896112" cy="192024"/>
            </a:xfrm>
            <a:prstGeom prst="rect">
              <a:avLst/>
            </a:prstGeom>
            <a:noFill/>
            <a:effectLst/>
          </p:spPr>
          <p:txBody>
            <a:bodyPr wrap="square" lIns="0" tIns="0" rIns="0" bIns="0" anchor="t">
              <a:spAutoFit/>
            </a:bodyPr>
            <a:lstStyle/>
            <a:p>
              <a:pPr algn="ctr">
                <a:lnSpc>
                  <a:spcPct val="110000"/>
                </a:lnSpc>
                <a:spcBef>
                  <a:spcPts val="0"/>
                </a:spcBef>
                <a:spcAft>
                  <a:spcPts val="0"/>
                </a:spcAft>
              </a:pPr>
              <a:r>
                <a:rPr sz="919" b="1" i="0">
                  <a:solidFill>
                    <a:srgbClr val="64809B"/>
                  </a:solidFill>
                  <a:latin typeface="Arial"/>
                </a:rPr>
                <a:t>DATA</a:t>
              </a:r>
            </a:p>
          </p:txBody>
        </p:sp>
        <p:sp>
          <p:nvSpPr>
            <p:cNvPr id="10" name="AI background"/>
            <p:cNvSpPr/>
            <p:nvPr/>
          </p:nvSpPr>
          <p:spPr>
            <a:xfrm>
              <a:off x="1572768" y="2286000"/>
              <a:ext cx="822960" cy="822960"/>
            </a:xfrm>
            <a:prstGeom prst="ellipse">
              <a:avLst/>
            </a:prstGeom>
            <a:solidFill>
              <a:srgbClr val="EDF4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AI caption"/>
            <p:cNvSpPr txBox="1"/>
            <p:nvPr/>
          </p:nvSpPr>
          <p:spPr>
            <a:xfrm>
              <a:off x="1536192" y="3218688"/>
              <a:ext cx="896112" cy="192024"/>
            </a:xfrm>
            <a:prstGeom prst="rect">
              <a:avLst/>
            </a:prstGeom>
            <a:noFill/>
            <a:effectLst/>
          </p:spPr>
          <p:txBody>
            <a:bodyPr wrap="square" lIns="0" tIns="0" rIns="0" bIns="0" anchor="t">
              <a:spAutoFit/>
            </a:bodyPr>
            <a:lstStyle/>
            <a:p>
              <a:pPr algn="ctr">
                <a:lnSpc>
                  <a:spcPct val="110000"/>
                </a:lnSpc>
                <a:spcBef>
                  <a:spcPts val="0"/>
                </a:spcBef>
                <a:spcAft>
                  <a:spcPts val="0"/>
                </a:spcAft>
              </a:pPr>
              <a:r>
                <a:rPr sz="919" b="1" i="0">
                  <a:solidFill>
                    <a:srgbClr val="64809B"/>
                  </a:solidFill>
                  <a:latin typeface="Arial"/>
                </a:rPr>
                <a:t>AI</a:t>
              </a:r>
            </a:p>
          </p:txBody>
        </p:sp>
        <p:sp>
          <p:nvSpPr>
            <p:cNvPr id="12" name="WORKFLOW background"/>
            <p:cNvSpPr/>
            <p:nvPr/>
          </p:nvSpPr>
          <p:spPr>
            <a:xfrm>
              <a:off x="2688336" y="2286000"/>
              <a:ext cx="822960" cy="822960"/>
            </a:xfrm>
            <a:prstGeom prst="ellipse">
              <a:avLst/>
            </a:prstGeom>
            <a:solidFill>
              <a:srgbClr val="EDF4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WORKFLOW caption"/>
            <p:cNvSpPr txBox="1"/>
            <p:nvPr/>
          </p:nvSpPr>
          <p:spPr>
            <a:xfrm>
              <a:off x="2651760" y="3218688"/>
              <a:ext cx="896112" cy="192024"/>
            </a:xfrm>
            <a:prstGeom prst="rect">
              <a:avLst/>
            </a:prstGeom>
            <a:noFill/>
            <a:effectLst/>
          </p:spPr>
          <p:txBody>
            <a:bodyPr wrap="square" lIns="0" tIns="0" rIns="0" bIns="0" anchor="t">
              <a:spAutoFit/>
            </a:bodyPr>
            <a:lstStyle/>
            <a:p>
              <a:pPr algn="ctr">
                <a:lnSpc>
                  <a:spcPct val="110000"/>
                </a:lnSpc>
                <a:spcBef>
                  <a:spcPts val="0"/>
                </a:spcBef>
                <a:spcAft>
                  <a:spcPts val="0"/>
                </a:spcAft>
              </a:pPr>
              <a:r>
                <a:rPr sz="919" b="1" i="0">
                  <a:solidFill>
                    <a:srgbClr val="64809B"/>
                  </a:solidFill>
                  <a:latin typeface="Arial"/>
                </a:rPr>
                <a:t>WORKFLOW</a:t>
              </a:r>
            </a:p>
          </p:txBody>
        </p:sp>
        <p:sp>
          <p:nvSpPr>
            <p:cNvPr id="14" name="Process chevron"/>
            <p:cNvSpPr/>
            <p:nvPr/>
          </p:nvSpPr>
          <p:spPr>
            <a:xfrm>
              <a:off x="1353312" y="2569464"/>
              <a:ext cx="155448" cy="228600"/>
            </a:xfrm>
            <a:prstGeom prst="chevron">
              <a:avLst/>
            </a:prstGeom>
            <a:solidFill>
              <a:srgbClr val="8FB8D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Process chevron"/>
            <p:cNvSpPr/>
            <p:nvPr/>
          </p:nvSpPr>
          <p:spPr>
            <a:xfrm>
              <a:off x="2468880" y="2569464"/>
              <a:ext cx="155448" cy="228600"/>
            </a:xfrm>
            <a:prstGeom prst="chevron">
              <a:avLst/>
            </a:prstGeom>
            <a:solidFill>
              <a:srgbClr val="8FB8D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Database cylinder"/>
            <p:cNvSpPr/>
            <p:nvPr/>
          </p:nvSpPr>
          <p:spPr>
            <a:xfrm>
              <a:off x="672084" y="2468880"/>
              <a:ext cx="393192" cy="466344"/>
            </a:xfrm>
            <a:prstGeom prst="can">
              <a:avLst/>
            </a:prstGeom>
            <a:noFill/>
            <a:ln w="20320">
              <a:solidFill>
                <a:srgbClr val="6480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7" name="Database row 1"/>
            <p:cNvCxnSpPr/>
            <p:nvPr/>
          </p:nvCxnSpPr>
          <p:spPr>
            <a:xfrm>
              <a:off x="683971" y="2660904"/>
              <a:ext cx="367589" cy="0"/>
            </a:xfrm>
            <a:prstGeom prst="line">
              <a:avLst/>
            </a:prstGeom>
            <a:ln w="14604" cap="rnd">
              <a:solidFill>
                <a:srgbClr val="64809B"/>
              </a:solidFill>
            </a:ln>
            <a:effectLst/>
          </p:spPr>
          <p:style>
            <a:lnRef idx="2">
              <a:schemeClr val="accent1"/>
            </a:lnRef>
            <a:fillRef idx="0">
              <a:schemeClr val="accent1"/>
            </a:fillRef>
            <a:effectRef idx="0">
              <a:schemeClr val="accent1"/>
            </a:effectRef>
            <a:fontRef idx="minor">
              <a:schemeClr val="tx1"/>
            </a:fontRef>
          </p:style>
        </p:cxnSp>
        <p:cxnSp>
          <p:nvCxnSpPr>
            <p:cNvPr id="18" name="Database row 2"/>
            <p:cNvCxnSpPr/>
            <p:nvPr/>
          </p:nvCxnSpPr>
          <p:spPr>
            <a:xfrm>
              <a:off x="683971" y="2775204"/>
              <a:ext cx="367589" cy="0"/>
            </a:xfrm>
            <a:prstGeom prst="line">
              <a:avLst/>
            </a:prstGeom>
            <a:ln w="14604" cap="rnd">
              <a:solidFill>
                <a:srgbClr val="64809B"/>
              </a:solidFill>
            </a:ln>
            <a:effectLst/>
          </p:spPr>
          <p:style>
            <a:lnRef idx="2">
              <a:schemeClr val="accent1"/>
            </a:lnRef>
            <a:fillRef idx="0">
              <a:schemeClr val="accent1"/>
            </a:fillRef>
            <a:effectRef idx="0">
              <a:schemeClr val="accent1"/>
            </a:effectRef>
            <a:fontRef idx="minor">
              <a:schemeClr val="tx1"/>
            </a:fontRef>
          </p:style>
        </p:cxnSp>
        <p:sp>
          <p:nvSpPr>
            <p:cNvPr id="19" name="AI chip frame"/>
            <p:cNvSpPr/>
            <p:nvPr/>
          </p:nvSpPr>
          <p:spPr>
            <a:xfrm>
              <a:off x="1760220" y="2473452"/>
              <a:ext cx="448056" cy="448056"/>
            </a:xfrm>
            <a:prstGeom prst="roundRect">
              <a:avLst/>
            </a:prstGeom>
            <a:noFill/>
            <a:ln w="19685">
              <a:solidFill>
                <a:srgbClr val="6480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20" name="AI chip top pin"/>
            <p:cNvCxnSpPr/>
            <p:nvPr/>
          </p:nvCxnSpPr>
          <p:spPr>
            <a:xfrm>
              <a:off x="1851660" y="2391156"/>
              <a:ext cx="0" cy="82296"/>
            </a:xfrm>
            <a:prstGeom prst="line">
              <a:avLst/>
            </a:prstGeom>
            <a:ln w="17780" cap="rnd">
              <a:solidFill>
                <a:srgbClr val="64809B"/>
              </a:solidFill>
            </a:ln>
            <a:effectLst/>
          </p:spPr>
          <p:style>
            <a:lnRef idx="2">
              <a:schemeClr val="accent1"/>
            </a:lnRef>
            <a:fillRef idx="0">
              <a:schemeClr val="accent1"/>
            </a:fillRef>
            <a:effectRef idx="0">
              <a:schemeClr val="accent1"/>
            </a:effectRef>
            <a:fontRef idx="minor">
              <a:schemeClr val="tx1"/>
            </a:fontRef>
          </p:style>
        </p:cxnSp>
        <p:cxnSp>
          <p:nvCxnSpPr>
            <p:cNvPr id="21" name="AI chip bottom pin"/>
            <p:cNvCxnSpPr/>
            <p:nvPr/>
          </p:nvCxnSpPr>
          <p:spPr>
            <a:xfrm>
              <a:off x="1851660" y="2921508"/>
              <a:ext cx="0" cy="82296"/>
            </a:xfrm>
            <a:prstGeom prst="line">
              <a:avLst/>
            </a:prstGeom>
            <a:ln w="17780" cap="rnd">
              <a:solidFill>
                <a:srgbClr val="64809B"/>
              </a:solidFill>
            </a:ln>
            <a:effectLst/>
          </p:spPr>
          <p:style>
            <a:lnRef idx="2">
              <a:schemeClr val="accent1"/>
            </a:lnRef>
            <a:fillRef idx="0">
              <a:schemeClr val="accent1"/>
            </a:fillRef>
            <a:effectRef idx="0">
              <a:schemeClr val="accent1"/>
            </a:effectRef>
            <a:fontRef idx="minor">
              <a:schemeClr val="tx1"/>
            </a:fontRef>
          </p:style>
        </p:cxnSp>
        <p:cxnSp>
          <p:nvCxnSpPr>
            <p:cNvPr id="22" name="AI chip top pin"/>
            <p:cNvCxnSpPr/>
            <p:nvPr/>
          </p:nvCxnSpPr>
          <p:spPr>
            <a:xfrm>
              <a:off x="1984248" y="2391156"/>
              <a:ext cx="0" cy="82296"/>
            </a:xfrm>
            <a:prstGeom prst="line">
              <a:avLst/>
            </a:prstGeom>
            <a:ln w="17780" cap="rnd">
              <a:solidFill>
                <a:srgbClr val="64809B"/>
              </a:solidFill>
            </a:ln>
            <a:effectLst/>
          </p:spPr>
          <p:style>
            <a:lnRef idx="2">
              <a:schemeClr val="accent1"/>
            </a:lnRef>
            <a:fillRef idx="0">
              <a:schemeClr val="accent1"/>
            </a:fillRef>
            <a:effectRef idx="0">
              <a:schemeClr val="accent1"/>
            </a:effectRef>
            <a:fontRef idx="minor">
              <a:schemeClr val="tx1"/>
            </a:fontRef>
          </p:style>
        </p:cxnSp>
        <p:cxnSp>
          <p:nvCxnSpPr>
            <p:cNvPr id="23" name="AI chip bottom pin"/>
            <p:cNvCxnSpPr/>
            <p:nvPr/>
          </p:nvCxnSpPr>
          <p:spPr>
            <a:xfrm>
              <a:off x="1984248" y="2921508"/>
              <a:ext cx="0" cy="82296"/>
            </a:xfrm>
            <a:prstGeom prst="line">
              <a:avLst/>
            </a:prstGeom>
            <a:ln w="17780" cap="rnd">
              <a:solidFill>
                <a:srgbClr val="64809B"/>
              </a:solidFill>
            </a:ln>
            <a:effectLst/>
          </p:spPr>
          <p:style>
            <a:lnRef idx="2">
              <a:schemeClr val="accent1"/>
            </a:lnRef>
            <a:fillRef idx="0">
              <a:schemeClr val="accent1"/>
            </a:fillRef>
            <a:effectRef idx="0">
              <a:schemeClr val="accent1"/>
            </a:effectRef>
            <a:fontRef idx="minor">
              <a:schemeClr val="tx1"/>
            </a:fontRef>
          </p:style>
        </p:cxnSp>
        <p:cxnSp>
          <p:nvCxnSpPr>
            <p:cNvPr id="24" name="AI chip top pin"/>
            <p:cNvCxnSpPr/>
            <p:nvPr/>
          </p:nvCxnSpPr>
          <p:spPr>
            <a:xfrm>
              <a:off x="2116836" y="2391156"/>
              <a:ext cx="0" cy="82296"/>
            </a:xfrm>
            <a:prstGeom prst="line">
              <a:avLst/>
            </a:prstGeom>
            <a:ln w="17780" cap="rnd">
              <a:solidFill>
                <a:srgbClr val="64809B"/>
              </a:solidFill>
            </a:ln>
            <a:effectLst/>
          </p:spPr>
          <p:style>
            <a:lnRef idx="2">
              <a:schemeClr val="accent1"/>
            </a:lnRef>
            <a:fillRef idx="0">
              <a:schemeClr val="accent1"/>
            </a:fillRef>
            <a:effectRef idx="0">
              <a:schemeClr val="accent1"/>
            </a:effectRef>
            <a:fontRef idx="minor">
              <a:schemeClr val="tx1"/>
            </a:fontRef>
          </p:style>
        </p:cxnSp>
        <p:cxnSp>
          <p:nvCxnSpPr>
            <p:cNvPr id="25" name="AI chip bottom pin"/>
            <p:cNvCxnSpPr/>
            <p:nvPr/>
          </p:nvCxnSpPr>
          <p:spPr>
            <a:xfrm>
              <a:off x="2116836" y="2921508"/>
              <a:ext cx="0" cy="82296"/>
            </a:xfrm>
            <a:prstGeom prst="line">
              <a:avLst/>
            </a:prstGeom>
            <a:ln w="17780" cap="rnd">
              <a:solidFill>
                <a:srgbClr val="64809B"/>
              </a:solidFill>
            </a:ln>
            <a:effectLst/>
          </p:spPr>
          <p:style>
            <a:lnRef idx="2">
              <a:schemeClr val="accent1"/>
            </a:lnRef>
            <a:fillRef idx="0">
              <a:schemeClr val="accent1"/>
            </a:fillRef>
            <a:effectRef idx="0">
              <a:schemeClr val="accent1"/>
            </a:effectRef>
            <a:fontRef idx="minor">
              <a:schemeClr val="tx1"/>
            </a:fontRef>
          </p:style>
        </p:cxnSp>
        <p:cxnSp>
          <p:nvCxnSpPr>
            <p:cNvPr id="26" name="AI chip left pin"/>
            <p:cNvCxnSpPr/>
            <p:nvPr/>
          </p:nvCxnSpPr>
          <p:spPr>
            <a:xfrm>
              <a:off x="1677924" y="2564892"/>
              <a:ext cx="82296" cy="0"/>
            </a:xfrm>
            <a:prstGeom prst="line">
              <a:avLst/>
            </a:prstGeom>
            <a:ln w="17780" cap="rnd">
              <a:solidFill>
                <a:srgbClr val="64809B"/>
              </a:solidFill>
            </a:ln>
            <a:effectLst/>
          </p:spPr>
          <p:style>
            <a:lnRef idx="2">
              <a:schemeClr val="accent1"/>
            </a:lnRef>
            <a:fillRef idx="0">
              <a:schemeClr val="accent1"/>
            </a:fillRef>
            <a:effectRef idx="0">
              <a:schemeClr val="accent1"/>
            </a:effectRef>
            <a:fontRef idx="minor">
              <a:schemeClr val="tx1"/>
            </a:fontRef>
          </p:style>
        </p:cxnSp>
        <p:cxnSp>
          <p:nvCxnSpPr>
            <p:cNvPr id="27" name="AI chip right pin"/>
            <p:cNvCxnSpPr/>
            <p:nvPr/>
          </p:nvCxnSpPr>
          <p:spPr>
            <a:xfrm>
              <a:off x="2208276" y="2564892"/>
              <a:ext cx="82296" cy="0"/>
            </a:xfrm>
            <a:prstGeom prst="line">
              <a:avLst/>
            </a:prstGeom>
            <a:ln w="17780" cap="rnd">
              <a:solidFill>
                <a:srgbClr val="64809B"/>
              </a:solidFill>
            </a:ln>
            <a:effectLst/>
          </p:spPr>
          <p:style>
            <a:lnRef idx="2">
              <a:schemeClr val="accent1"/>
            </a:lnRef>
            <a:fillRef idx="0">
              <a:schemeClr val="accent1"/>
            </a:fillRef>
            <a:effectRef idx="0">
              <a:schemeClr val="accent1"/>
            </a:effectRef>
            <a:fontRef idx="minor">
              <a:schemeClr val="tx1"/>
            </a:fontRef>
          </p:style>
        </p:cxnSp>
        <p:cxnSp>
          <p:nvCxnSpPr>
            <p:cNvPr id="28" name="AI chip left pin"/>
            <p:cNvCxnSpPr/>
            <p:nvPr/>
          </p:nvCxnSpPr>
          <p:spPr>
            <a:xfrm>
              <a:off x="1677924" y="2697480"/>
              <a:ext cx="82296" cy="0"/>
            </a:xfrm>
            <a:prstGeom prst="line">
              <a:avLst/>
            </a:prstGeom>
            <a:ln w="17780" cap="rnd">
              <a:solidFill>
                <a:srgbClr val="64809B"/>
              </a:solidFill>
            </a:ln>
            <a:effectLst/>
          </p:spPr>
          <p:style>
            <a:lnRef idx="2">
              <a:schemeClr val="accent1"/>
            </a:lnRef>
            <a:fillRef idx="0">
              <a:schemeClr val="accent1"/>
            </a:fillRef>
            <a:effectRef idx="0">
              <a:schemeClr val="accent1"/>
            </a:effectRef>
            <a:fontRef idx="minor">
              <a:schemeClr val="tx1"/>
            </a:fontRef>
          </p:style>
        </p:cxnSp>
        <p:cxnSp>
          <p:nvCxnSpPr>
            <p:cNvPr id="29" name="AI chip right pin"/>
            <p:cNvCxnSpPr/>
            <p:nvPr/>
          </p:nvCxnSpPr>
          <p:spPr>
            <a:xfrm>
              <a:off x="2208276" y="2697480"/>
              <a:ext cx="82296" cy="0"/>
            </a:xfrm>
            <a:prstGeom prst="line">
              <a:avLst/>
            </a:prstGeom>
            <a:ln w="17780" cap="rnd">
              <a:solidFill>
                <a:srgbClr val="64809B"/>
              </a:solidFill>
            </a:ln>
            <a:effectLst/>
          </p:spPr>
          <p:style>
            <a:lnRef idx="2">
              <a:schemeClr val="accent1"/>
            </a:lnRef>
            <a:fillRef idx="0">
              <a:schemeClr val="accent1"/>
            </a:fillRef>
            <a:effectRef idx="0">
              <a:schemeClr val="accent1"/>
            </a:effectRef>
            <a:fontRef idx="minor">
              <a:schemeClr val="tx1"/>
            </a:fontRef>
          </p:style>
        </p:cxnSp>
        <p:cxnSp>
          <p:nvCxnSpPr>
            <p:cNvPr id="30" name="AI chip left pin"/>
            <p:cNvCxnSpPr/>
            <p:nvPr/>
          </p:nvCxnSpPr>
          <p:spPr>
            <a:xfrm>
              <a:off x="1677924" y="2830068"/>
              <a:ext cx="82296" cy="0"/>
            </a:xfrm>
            <a:prstGeom prst="line">
              <a:avLst/>
            </a:prstGeom>
            <a:ln w="17780" cap="rnd">
              <a:solidFill>
                <a:srgbClr val="64809B"/>
              </a:solidFill>
            </a:ln>
            <a:effectLst/>
          </p:spPr>
          <p:style>
            <a:lnRef idx="2">
              <a:schemeClr val="accent1"/>
            </a:lnRef>
            <a:fillRef idx="0">
              <a:schemeClr val="accent1"/>
            </a:fillRef>
            <a:effectRef idx="0">
              <a:schemeClr val="accent1"/>
            </a:effectRef>
            <a:fontRef idx="minor">
              <a:schemeClr val="tx1"/>
            </a:fontRef>
          </p:style>
        </p:cxnSp>
        <p:cxnSp>
          <p:nvCxnSpPr>
            <p:cNvPr id="31" name="AI chip right pin"/>
            <p:cNvCxnSpPr/>
            <p:nvPr/>
          </p:nvCxnSpPr>
          <p:spPr>
            <a:xfrm>
              <a:off x="2208276" y="2830068"/>
              <a:ext cx="82296" cy="0"/>
            </a:xfrm>
            <a:prstGeom prst="line">
              <a:avLst/>
            </a:prstGeom>
            <a:ln w="17780" cap="rnd">
              <a:solidFill>
                <a:srgbClr val="64809B"/>
              </a:solidFill>
            </a:ln>
            <a:effectLst/>
          </p:spPr>
          <p:style>
            <a:lnRef idx="2">
              <a:schemeClr val="accent1"/>
            </a:lnRef>
            <a:fillRef idx="0">
              <a:schemeClr val="accent1"/>
            </a:fillRef>
            <a:effectRef idx="0">
              <a:schemeClr val="accent1"/>
            </a:effectRef>
            <a:fontRef idx="minor">
              <a:schemeClr val="tx1"/>
            </a:fontRef>
          </p:style>
        </p:cxnSp>
        <p:sp>
          <p:nvSpPr>
            <p:cNvPr id="32" name="AI chip label"/>
            <p:cNvSpPr txBox="1"/>
            <p:nvPr/>
          </p:nvSpPr>
          <p:spPr>
            <a:xfrm>
              <a:off x="1760220" y="2576779"/>
              <a:ext cx="448056" cy="201168"/>
            </a:xfrm>
            <a:prstGeom prst="rect">
              <a:avLst/>
            </a:prstGeom>
            <a:noFill/>
            <a:effectLst/>
          </p:spPr>
          <p:txBody>
            <a:bodyPr wrap="square" lIns="0" tIns="0" rIns="0" bIns="0" anchor="t">
              <a:spAutoFit/>
            </a:bodyPr>
            <a:lstStyle/>
            <a:p>
              <a:pPr algn="ctr">
                <a:lnSpc>
                  <a:spcPct val="110000"/>
                </a:lnSpc>
                <a:spcBef>
                  <a:spcPts val="0"/>
                </a:spcBef>
                <a:spcAft>
                  <a:spcPts val="0"/>
                </a:spcAft>
              </a:pPr>
              <a:r>
                <a:rPr sz="1450" b="1" i="0">
                  <a:solidFill>
                    <a:srgbClr val="64809B"/>
                  </a:solidFill>
                  <a:latin typeface="Arial"/>
                </a:rPr>
                <a:t>AI</a:t>
              </a:r>
            </a:p>
          </p:txBody>
        </p:sp>
        <p:sp>
          <p:nvSpPr>
            <p:cNvPr id="33" name="Document outline"/>
            <p:cNvSpPr/>
            <p:nvPr/>
          </p:nvSpPr>
          <p:spPr>
            <a:xfrm>
              <a:off x="2898648" y="2432304"/>
              <a:ext cx="393192" cy="530352"/>
            </a:xfrm>
            <a:custGeom>
              <a:avLst/>
              <a:gdLst/>
              <a:ahLst/>
              <a:cxnLst/>
              <a:rect l="l" t="t" r="r" b="b"/>
              <a:pathLst>
                <a:path w="393192" h="530352">
                  <a:moveTo>
                    <a:pt x="0" y="0"/>
                  </a:moveTo>
                  <a:lnTo>
                    <a:pt x="265176" y="0"/>
                  </a:lnTo>
                  <a:lnTo>
                    <a:pt x="393192" y="128016"/>
                  </a:lnTo>
                  <a:lnTo>
                    <a:pt x="393192" y="530352"/>
                  </a:lnTo>
                  <a:lnTo>
                    <a:pt x="0" y="530352"/>
                  </a:lnTo>
                  <a:close/>
                </a:path>
              </a:pathLst>
            </a:custGeom>
            <a:noFill/>
            <a:ln w="19685">
              <a:solidFill>
                <a:srgbClr val="6480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Document fold"/>
            <p:cNvSpPr/>
            <p:nvPr/>
          </p:nvSpPr>
          <p:spPr>
            <a:xfrm>
              <a:off x="3163824" y="2432304"/>
              <a:ext cx="128016" cy="128016"/>
            </a:xfrm>
            <a:custGeom>
              <a:avLst/>
              <a:gdLst/>
              <a:ahLst/>
              <a:cxnLst/>
              <a:rect l="l" t="t" r="r" b="b"/>
              <a:pathLst>
                <a:path w="128016" h="128016">
                  <a:moveTo>
                    <a:pt x="0" y="0"/>
                  </a:moveTo>
                  <a:lnTo>
                    <a:pt x="0" y="128016"/>
                  </a:lnTo>
                  <a:lnTo>
                    <a:pt x="128016" y="128016"/>
                  </a:lnTo>
                </a:path>
              </a:pathLst>
            </a:custGeom>
            <a:noFill/>
            <a:ln w="18415">
              <a:solidFill>
                <a:srgbClr val="6480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5" name="Document content"/>
            <p:cNvCxnSpPr/>
            <p:nvPr/>
          </p:nvCxnSpPr>
          <p:spPr>
            <a:xfrm>
              <a:off x="2971800" y="2633472"/>
              <a:ext cx="219456" cy="0"/>
            </a:xfrm>
            <a:prstGeom prst="line">
              <a:avLst/>
            </a:prstGeom>
            <a:ln w="15240" cap="rnd">
              <a:solidFill>
                <a:srgbClr val="64809B"/>
              </a:solidFill>
            </a:ln>
            <a:effectLst/>
          </p:spPr>
          <p:style>
            <a:lnRef idx="2">
              <a:schemeClr val="accent1"/>
            </a:lnRef>
            <a:fillRef idx="0">
              <a:schemeClr val="accent1"/>
            </a:fillRef>
            <a:effectRef idx="0">
              <a:schemeClr val="accent1"/>
            </a:effectRef>
            <a:fontRef idx="minor">
              <a:schemeClr val="tx1"/>
            </a:fontRef>
          </p:style>
        </p:cxnSp>
        <p:cxnSp>
          <p:nvCxnSpPr>
            <p:cNvPr id="36" name="Document content"/>
            <p:cNvCxnSpPr/>
            <p:nvPr/>
          </p:nvCxnSpPr>
          <p:spPr>
            <a:xfrm>
              <a:off x="2971800" y="2724912"/>
              <a:ext cx="219456" cy="0"/>
            </a:xfrm>
            <a:prstGeom prst="line">
              <a:avLst/>
            </a:prstGeom>
            <a:ln w="15240" cap="rnd">
              <a:solidFill>
                <a:srgbClr val="64809B"/>
              </a:solidFill>
            </a:ln>
            <a:effectLst/>
          </p:spPr>
          <p:style>
            <a:lnRef idx="2">
              <a:schemeClr val="accent1"/>
            </a:lnRef>
            <a:fillRef idx="0">
              <a:schemeClr val="accent1"/>
            </a:fillRef>
            <a:effectRef idx="0">
              <a:schemeClr val="accent1"/>
            </a:effectRef>
            <a:fontRef idx="minor">
              <a:schemeClr val="tx1"/>
            </a:fontRef>
          </p:style>
        </p:cxnSp>
        <p:cxnSp>
          <p:nvCxnSpPr>
            <p:cNvPr id="37" name="Document content"/>
            <p:cNvCxnSpPr/>
            <p:nvPr/>
          </p:nvCxnSpPr>
          <p:spPr>
            <a:xfrm>
              <a:off x="2971800" y="2816352"/>
              <a:ext cx="91440" cy="0"/>
            </a:xfrm>
            <a:prstGeom prst="line">
              <a:avLst/>
            </a:prstGeom>
            <a:ln w="15240" cap="rnd">
              <a:solidFill>
                <a:srgbClr val="64809B"/>
              </a:solidFill>
            </a:ln>
            <a:effectLst/>
          </p:spPr>
          <p:style>
            <a:lnRef idx="2">
              <a:schemeClr val="accent1"/>
            </a:lnRef>
            <a:fillRef idx="0">
              <a:schemeClr val="accent1"/>
            </a:fillRef>
            <a:effectRef idx="0">
              <a:schemeClr val="accent1"/>
            </a:effectRef>
            <a:fontRef idx="minor">
              <a:schemeClr val="tx1"/>
            </a:fontRef>
          </p:style>
        </p:cxnSp>
        <p:sp>
          <p:nvSpPr>
            <p:cNvPr id="38" name="Document approval badge"/>
            <p:cNvSpPr/>
            <p:nvPr/>
          </p:nvSpPr>
          <p:spPr>
            <a:xfrm>
              <a:off x="3136392" y="2793492"/>
              <a:ext cx="265176" cy="265176"/>
            </a:xfrm>
            <a:prstGeom prst="ellipse">
              <a:avLst/>
            </a:prstGeom>
            <a:solidFill>
              <a:srgbClr val="8FB8D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9" name="Document approval check"/>
            <p:cNvSpPr/>
            <p:nvPr/>
          </p:nvSpPr>
          <p:spPr>
            <a:xfrm>
              <a:off x="3187598" y="2858414"/>
              <a:ext cx="159106" cy="111557"/>
            </a:xfrm>
            <a:custGeom>
              <a:avLst/>
              <a:gdLst/>
              <a:ahLst/>
              <a:cxnLst/>
              <a:rect l="l" t="t" r="r" b="b"/>
              <a:pathLst>
                <a:path w="159106" h="111557">
                  <a:moveTo>
                    <a:pt x="0" y="60350"/>
                  </a:moveTo>
                  <a:lnTo>
                    <a:pt x="53950" y="111557"/>
                  </a:lnTo>
                  <a:lnTo>
                    <a:pt x="159106" y="0"/>
                  </a:lnTo>
                </a:path>
              </a:pathLst>
            </a:custGeom>
            <a:noFill/>
            <a:ln w="2095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sp>
        <p:nvSpPr>
          <p:cNvPr id="40" name="Capabilities heading"/>
          <p:cNvSpPr txBox="1"/>
          <p:nvPr/>
        </p:nvSpPr>
        <p:spPr>
          <a:xfrm>
            <a:off x="365760" y="3685032"/>
            <a:ext cx="3429000" cy="301752"/>
          </a:xfrm>
          <a:prstGeom prst="rect">
            <a:avLst/>
          </a:prstGeom>
          <a:noFill/>
          <a:effectLst/>
        </p:spPr>
        <p:txBody>
          <a:bodyPr wrap="square" lIns="0" tIns="0" rIns="0" bIns="0" anchor="t">
            <a:spAutoFit/>
          </a:bodyPr>
          <a:lstStyle/>
          <a:p>
            <a:pPr algn="l">
              <a:lnSpc>
                <a:spcPct val="110000"/>
              </a:lnSpc>
              <a:spcBef>
                <a:spcPts val="0"/>
              </a:spcBef>
              <a:spcAft>
                <a:spcPts val="0"/>
              </a:spcAft>
            </a:pPr>
            <a:r>
              <a:rPr sz="1700" b="1" i="0">
                <a:solidFill>
                  <a:srgbClr val="20244E"/>
                </a:solidFill>
                <a:latin typeface="Arial"/>
              </a:rPr>
              <a:t>Core Capabilities</a:t>
            </a:r>
          </a:p>
        </p:txBody>
      </p:sp>
      <p:sp>
        <p:nvSpPr>
          <p:cNvPr id="41" name="Capability — Data engineering"/>
          <p:cNvSpPr txBox="1"/>
          <p:nvPr/>
        </p:nvSpPr>
        <p:spPr>
          <a:xfrm>
            <a:off x="365760" y="4087368"/>
            <a:ext cx="1773936" cy="237744"/>
          </a:xfrm>
          <a:prstGeom prst="rect">
            <a:avLst/>
          </a:prstGeom>
          <a:noFill/>
          <a:effectLst/>
        </p:spPr>
        <p:txBody>
          <a:bodyPr wrap="square" lIns="0" tIns="0" rIns="0" bIns="0" anchor="t">
            <a:spAutoFit/>
          </a:bodyPr>
          <a:lstStyle/>
          <a:p>
            <a:pPr algn="l">
              <a:lnSpc>
                <a:spcPct val="110000"/>
              </a:lnSpc>
              <a:spcBef>
                <a:spcPts val="0"/>
              </a:spcBef>
              <a:spcAft>
                <a:spcPts val="0"/>
              </a:spcAft>
            </a:pPr>
            <a:r>
              <a:rPr sz="1200" b="0" i="0">
                <a:solidFill>
                  <a:srgbClr val="20244E"/>
                </a:solidFill>
                <a:latin typeface="Arial"/>
              </a:rPr>
              <a:t>Data engineering</a:t>
            </a:r>
          </a:p>
        </p:txBody>
      </p:sp>
      <p:sp>
        <p:nvSpPr>
          <p:cNvPr id="42" name="Capability — Client &amp; admin portals"/>
          <p:cNvSpPr txBox="1"/>
          <p:nvPr/>
        </p:nvSpPr>
        <p:spPr>
          <a:xfrm>
            <a:off x="2167128" y="4087368"/>
            <a:ext cx="1728216" cy="237744"/>
          </a:xfrm>
          <a:prstGeom prst="rect">
            <a:avLst/>
          </a:prstGeom>
          <a:noFill/>
          <a:effectLst/>
        </p:spPr>
        <p:txBody>
          <a:bodyPr wrap="square" lIns="0" tIns="0" rIns="0" bIns="0" anchor="t">
            <a:spAutoFit/>
          </a:bodyPr>
          <a:lstStyle/>
          <a:p>
            <a:pPr algn="l">
              <a:lnSpc>
                <a:spcPct val="110000"/>
              </a:lnSpc>
              <a:spcBef>
                <a:spcPts val="0"/>
              </a:spcBef>
              <a:spcAft>
                <a:spcPts val="0"/>
              </a:spcAft>
            </a:pPr>
            <a:r>
              <a:rPr sz="1200" b="0" i="0">
                <a:solidFill>
                  <a:srgbClr val="20244E"/>
                </a:solidFill>
                <a:latin typeface="Arial"/>
              </a:rPr>
              <a:t>Client &amp; admin portals</a:t>
            </a:r>
          </a:p>
        </p:txBody>
      </p:sp>
      <p:sp>
        <p:nvSpPr>
          <p:cNvPr id="43" name="Capability — Document processing"/>
          <p:cNvSpPr txBox="1"/>
          <p:nvPr/>
        </p:nvSpPr>
        <p:spPr>
          <a:xfrm>
            <a:off x="365760" y="4368088"/>
            <a:ext cx="1773936" cy="237744"/>
          </a:xfrm>
          <a:prstGeom prst="rect">
            <a:avLst/>
          </a:prstGeom>
          <a:noFill/>
          <a:effectLst/>
        </p:spPr>
        <p:txBody>
          <a:bodyPr wrap="square" lIns="0" tIns="0" rIns="0" bIns="0" anchor="t">
            <a:spAutoFit/>
          </a:bodyPr>
          <a:lstStyle/>
          <a:p>
            <a:pPr algn="l">
              <a:lnSpc>
                <a:spcPct val="110000"/>
              </a:lnSpc>
              <a:spcBef>
                <a:spcPts val="0"/>
              </a:spcBef>
              <a:spcAft>
                <a:spcPts val="0"/>
              </a:spcAft>
            </a:pPr>
            <a:r>
              <a:rPr sz="1200" b="0" i="0">
                <a:solidFill>
                  <a:srgbClr val="20244E"/>
                </a:solidFill>
                <a:latin typeface="Arial"/>
              </a:rPr>
              <a:t>Document processing</a:t>
            </a:r>
          </a:p>
        </p:txBody>
      </p:sp>
      <p:sp>
        <p:nvSpPr>
          <p:cNvPr id="44" name="Capability — Backend &amp; APIs"/>
          <p:cNvSpPr txBox="1"/>
          <p:nvPr/>
        </p:nvSpPr>
        <p:spPr>
          <a:xfrm>
            <a:off x="2167128" y="4368088"/>
            <a:ext cx="1728216" cy="237744"/>
          </a:xfrm>
          <a:prstGeom prst="rect">
            <a:avLst/>
          </a:prstGeom>
          <a:noFill/>
          <a:effectLst/>
        </p:spPr>
        <p:txBody>
          <a:bodyPr wrap="square" lIns="0" tIns="0" rIns="0" bIns="0" anchor="t">
            <a:spAutoFit/>
          </a:bodyPr>
          <a:lstStyle/>
          <a:p>
            <a:pPr algn="l">
              <a:lnSpc>
                <a:spcPct val="110000"/>
              </a:lnSpc>
              <a:spcBef>
                <a:spcPts val="0"/>
              </a:spcBef>
              <a:spcAft>
                <a:spcPts val="0"/>
              </a:spcAft>
            </a:pPr>
            <a:r>
              <a:rPr sz="1200" b="0" i="0">
                <a:solidFill>
                  <a:srgbClr val="20244E"/>
                </a:solidFill>
                <a:latin typeface="Arial"/>
              </a:rPr>
              <a:t>Backend &amp; APIs</a:t>
            </a:r>
          </a:p>
        </p:txBody>
      </p:sp>
      <p:sp>
        <p:nvSpPr>
          <p:cNvPr id="45" name="Capability — AI &amp; LLM integration"/>
          <p:cNvSpPr txBox="1"/>
          <p:nvPr/>
        </p:nvSpPr>
        <p:spPr>
          <a:xfrm>
            <a:off x="365760" y="4648809"/>
            <a:ext cx="1773936" cy="237744"/>
          </a:xfrm>
          <a:prstGeom prst="rect">
            <a:avLst/>
          </a:prstGeom>
          <a:noFill/>
          <a:effectLst/>
        </p:spPr>
        <p:txBody>
          <a:bodyPr wrap="square" lIns="0" tIns="0" rIns="0" bIns="0" anchor="t">
            <a:spAutoFit/>
          </a:bodyPr>
          <a:lstStyle/>
          <a:p>
            <a:pPr algn="l">
              <a:lnSpc>
                <a:spcPct val="110000"/>
              </a:lnSpc>
              <a:spcBef>
                <a:spcPts val="0"/>
              </a:spcBef>
              <a:spcAft>
                <a:spcPts val="0"/>
              </a:spcAft>
            </a:pPr>
            <a:r>
              <a:rPr sz="1200" b="0" i="0">
                <a:solidFill>
                  <a:srgbClr val="20244E"/>
                </a:solidFill>
                <a:latin typeface="Arial"/>
              </a:rPr>
              <a:t>AI &amp; LLM integration</a:t>
            </a:r>
          </a:p>
        </p:txBody>
      </p:sp>
      <p:sp>
        <p:nvSpPr>
          <p:cNvPr id="46" name="Capability — Workflow automation"/>
          <p:cNvSpPr txBox="1"/>
          <p:nvPr/>
        </p:nvSpPr>
        <p:spPr>
          <a:xfrm>
            <a:off x="2167128" y="4648809"/>
            <a:ext cx="1728216" cy="237744"/>
          </a:xfrm>
          <a:prstGeom prst="rect">
            <a:avLst/>
          </a:prstGeom>
          <a:noFill/>
          <a:effectLst/>
        </p:spPr>
        <p:txBody>
          <a:bodyPr wrap="square" lIns="0" tIns="0" rIns="0" bIns="0" anchor="t">
            <a:spAutoFit/>
          </a:bodyPr>
          <a:lstStyle/>
          <a:p>
            <a:pPr algn="l">
              <a:lnSpc>
                <a:spcPct val="110000"/>
              </a:lnSpc>
              <a:spcBef>
                <a:spcPts val="0"/>
              </a:spcBef>
              <a:spcAft>
                <a:spcPts val="0"/>
              </a:spcAft>
            </a:pPr>
            <a:r>
              <a:rPr sz="1200" b="0" i="0">
                <a:solidFill>
                  <a:srgbClr val="20244E"/>
                </a:solidFill>
                <a:latin typeface="Arial"/>
              </a:rPr>
              <a:t>Workflow automation</a:t>
            </a:r>
          </a:p>
        </p:txBody>
      </p:sp>
      <p:sp>
        <p:nvSpPr>
          <p:cNvPr id="47" name="Capability — OCR &amp; extraction"/>
          <p:cNvSpPr txBox="1"/>
          <p:nvPr/>
        </p:nvSpPr>
        <p:spPr>
          <a:xfrm>
            <a:off x="365760" y="4929530"/>
            <a:ext cx="1773936" cy="237744"/>
          </a:xfrm>
          <a:prstGeom prst="rect">
            <a:avLst/>
          </a:prstGeom>
          <a:noFill/>
          <a:effectLst/>
        </p:spPr>
        <p:txBody>
          <a:bodyPr wrap="square" lIns="0" tIns="0" rIns="0" bIns="0" anchor="t">
            <a:spAutoFit/>
          </a:bodyPr>
          <a:lstStyle/>
          <a:p>
            <a:pPr algn="l">
              <a:lnSpc>
                <a:spcPct val="110000"/>
              </a:lnSpc>
              <a:spcBef>
                <a:spcPts val="0"/>
              </a:spcBef>
              <a:spcAft>
                <a:spcPts val="0"/>
              </a:spcAft>
            </a:pPr>
            <a:r>
              <a:rPr sz="1200" b="0" i="0">
                <a:solidFill>
                  <a:srgbClr val="20244E"/>
                </a:solidFill>
                <a:latin typeface="Arial"/>
              </a:rPr>
              <a:t>OCR &amp; extraction</a:t>
            </a:r>
          </a:p>
        </p:txBody>
      </p:sp>
      <p:sp>
        <p:nvSpPr>
          <p:cNvPr id="48" name="Capability — Databases &amp; storage"/>
          <p:cNvSpPr txBox="1"/>
          <p:nvPr/>
        </p:nvSpPr>
        <p:spPr>
          <a:xfrm>
            <a:off x="2167128" y="4929530"/>
            <a:ext cx="1728216" cy="237744"/>
          </a:xfrm>
          <a:prstGeom prst="rect">
            <a:avLst/>
          </a:prstGeom>
          <a:noFill/>
          <a:effectLst/>
        </p:spPr>
        <p:txBody>
          <a:bodyPr wrap="square" lIns="0" tIns="0" rIns="0" bIns="0" anchor="t">
            <a:spAutoFit/>
          </a:bodyPr>
          <a:lstStyle/>
          <a:p>
            <a:pPr algn="l">
              <a:lnSpc>
                <a:spcPct val="110000"/>
              </a:lnSpc>
              <a:spcBef>
                <a:spcPts val="0"/>
              </a:spcBef>
              <a:spcAft>
                <a:spcPts val="0"/>
              </a:spcAft>
            </a:pPr>
            <a:r>
              <a:rPr sz="1200" b="0" i="0">
                <a:solidFill>
                  <a:srgbClr val="20244E"/>
                </a:solidFill>
                <a:latin typeface="Arial"/>
              </a:rPr>
              <a:t>Databases &amp; storage</a:t>
            </a:r>
          </a:p>
        </p:txBody>
      </p:sp>
      <p:sp>
        <p:nvSpPr>
          <p:cNvPr id="49" name="Capability — Search &amp; retrieval"/>
          <p:cNvSpPr txBox="1"/>
          <p:nvPr/>
        </p:nvSpPr>
        <p:spPr>
          <a:xfrm>
            <a:off x="365760" y="5210251"/>
            <a:ext cx="1773936" cy="237744"/>
          </a:xfrm>
          <a:prstGeom prst="rect">
            <a:avLst/>
          </a:prstGeom>
          <a:noFill/>
          <a:effectLst/>
        </p:spPr>
        <p:txBody>
          <a:bodyPr wrap="square" lIns="0" tIns="0" rIns="0" bIns="0" anchor="t">
            <a:spAutoFit/>
          </a:bodyPr>
          <a:lstStyle/>
          <a:p>
            <a:pPr algn="l">
              <a:lnSpc>
                <a:spcPct val="110000"/>
              </a:lnSpc>
              <a:spcBef>
                <a:spcPts val="0"/>
              </a:spcBef>
              <a:spcAft>
                <a:spcPts val="0"/>
              </a:spcAft>
            </a:pPr>
            <a:r>
              <a:rPr sz="1200" b="0" i="0">
                <a:solidFill>
                  <a:srgbClr val="20244E"/>
                </a:solidFill>
                <a:latin typeface="Arial"/>
              </a:rPr>
              <a:t>Search &amp; retrieval</a:t>
            </a:r>
          </a:p>
        </p:txBody>
      </p:sp>
      <p:sp>
        <p:nvSpPr>
          <p:cNvPr id="50" name="Capability — Dashboards &amp; analytics"/>
          <p:cNvSpPr txBox="1"/>
          <p:nvPr/>
        </p:nvSpPr>
        <p:spPr>
          <a:xfrm>
            <a:off x="2167128" y="5210251"/>
            <a:ext cx="1728216" cy="237744"/>
          </a:xfrm>
          <a:prstGeom prst="rect">
            <a:avLst/>
          </a:prstGeom>
          <a:noFill/>
          <a:effectLst/>
        </p:spPr>
        <p:txBody>
          <a:bodyPr wrap="square" lIns="0" tIns="0" rIns="0" bIns="0" anchor="t">
            <a:spAutoFit/>
          </a:bodyPr>
          <a:lstStyle/>
          <a:p>
            <a:pPr algn="l">
              <a:lnSpc>
                <a:spcPct val="110000"/>
              </a:lnSpc>
              <a:spcBef>
                <a:spcPts val="0"/>
              </a:spcBef>
              <a:spcAft>
                <a:spcPts val="0"/>
              </a:spcAft>
            </a:pPr>
            <a:r>
              <a:rPr sz="1200" b="0" i="0">
                <a:solidFill>
                  <a:srgbClr val="20244E"/>
                </a:solidFill>
                <a:latin typeface="Arial"/>
              </a:rPr>
              <a:t>Dashboards &amp; analytics</a:t>
            </a:r>
          </a:p>
        </p:txBody>
      </p:sp>
      <p:sp>
        <p:nvSpPr>
          <p:cNvPr id="51" name="Capability — Data quality checks"/>
          <p:cNvSpPr txBox="1"/>
          <p:nvPr/>
        </p:nvSpPr>
        <p:spPr>
          <a:xfrm>
            <a:off x="365760" y="5490972"/>
            <a:ext cx="1773936" cy="237744"/>
          </a:xfrm>
          <a:prstGeom prst="rect">
            <a:avLst/>
          </a:prstGeom>
          <a:noFill/>
          <a:effectLst/>
        </p:spPr>
        <p:txBody>
          <a:bodyPr wrap="square" lIns="0" tIns="0" rIns="0" bIns="0" anchor="t">
            <a:spAutoFit/>
          </a:bodyPr>
          <a:lstStyle/>
          <a:p>
            <a:pPr algn="l">
              <a:lnSpc>
                <a:spcPct val="110000"/>
              </a:lnSpc>
              <a:spcBef>
                <a:spcPts val="0"/>
              </a:spcBef>
              <a:spcAft>
                <a:spcPts val="0"/>
              </a:spcAft>
            </a:pPr>
            <a:r>
              <a:rPr sz="1200" b="0" i="0">
                <a:solidFill>
                  <a:srgbClr val="20244E"/>
                </a:solidFill>
                <a:latin typeface="Arial"/>
              </a:rPr>
              <a:t>Data quality checks</a:t>
            </a:r>
          </a:p>
        </p:txBody>
      </p:sp>
      <p:sp>
        <p:nvSpPr>
          <p:cNvPr id="52" name="Capability — Testing &amp; deployment"/>
          <p:cNvSpPr txBox="1"/>
          <p:nvPr/>
        </p:nvSpPr>
        <p:spPr>
          <a:xfrm>
            <a:off x="2167128" y="5490972"/>
            <a:ext cx="1728216" cy="237744"/>
          </a:xfrm>
          <a:prstGeom prst="rect">
            <a:avLst/>
          </a:prstGeom>
          <a:noFill/>
          <a:effectLst/>
        </p:spPr>
        <p:txBody>
          <a:bodyPr wrap="square" lIns="0" tIns="0" rIns="0" bIns="0" anchor="t">
            <a:spAutoFit/>
          </a:bodyPr>
          <a:lstStyle/>
          <a:p>
            <a:pPr algn="l">
              <a:lnSpc>
                <a:spcPct val="110000"/>
              </a:lnSpc>
              <a:spcBef>
                <a:spcPts val="0"/>
              </a:spcBef>
              <a:spcAft>
                <a:spcPts val="0"/>
              </a:spcAft>
            </a:pPr>
            <a:r>
              <a:rPr sz="1200" b="0" i="0">
                <a:solidFill>
                  <a:srgbClr val="20244E"/>
                </a:solidFill>
                <a:latin typeface="Arial"/>
              </a:rPr>
              <a:t>Testing &amp; deployment</a:t>
            </a:r>
          </a:p>
        </p:txBody>
      </p:sp>
      <p:grpSp>
        <p:nvGrpSpPr>
          <p:cNvPr id="53" name="Contact — Abdullah Ahmed"/>
          <p:cNvGrpSpPr/>
          <p:nvPr/>
        </p:nvGrpSpPr>
        <p:grpSpPr>
          <a:xfrm>
            <a:off x="4023360" y="1837943"/>
            <a:ext cx="3959352" cy="1289305"/>
            <a:chOff x="4023360" y="1837943"/>
            <a:chExt cx="3959352" cy="1289305"/>
          </a:xfrm>
        </p:grpSpPr>
        <p:cxnSp>
          <p:nvCxnSpPr>
            <p:cNvPr id="54" name="Abdullah Ahmed divider"/>
            <p:cNvCxnSpPr/>
            <p:nvPr/>
          </p:nvCxnSpPr>
          <p:spPr>
            <a:xfrm>
              <a:off x="4023360" y="1837943"/>
              <a:ext cx="0" cy="1289305"/>
            </a:xfrm>
            <a:prstGeom prst="line">
              <a:avLst/>
            </a:prstGeom>
            <a:ln w="13970" cap="rnd">
              <a:solidFill>
                <a:srgbClr val="C8CBD0"/>
              </a:solidFill>
            </a:ln>
            <a:effectLst/>
          </p:spPr>
          <p:style>
            <a:lnRef idx="2">
              <a:schemeClr val="accent1"/>
            </a:lnRef>
            <a:fillRef idx="0">
              <a:schemeClr val="accent1"/>
            </a:fillRef>
            <a:effectRef idx="0">
              <a:schemeClr val="accent1"/>
            </a:effectRef>
            <a:fontRef idx="minor">
              <a:schemeClr val="tx1"/>
            </a:fontRef>
          </p:style>
        </p:cxnSp>
        <p:sp>
          <p:nvSpPr>
            <p:cNvPr id="55" name="Abdullah Ahmed name"/>
            <p:cNvSpPr txBox="1"/>
            <p:nvPr/>
          </p:nvSpPr>
          <p:spPr>
            <a:xfrm>
              <a:off x="4187952" y="1847088"/>
              <a:ext cx="3776472" cy="292608"/>
            </a:xfrm>
            <a:prstGeom prst="rect">
              <a:avLst/>
            </a:prstGeom>
            <a:noFill/>
            <a:effectLst/>
          </p:spPr>
          <p:txBody>
            <a:bodyPr wrap="square" lIns="0" tIns="0" rIns="0" bIns="0" anchor="t">
              <a:spAutoFit/>
            </a:bodyPr>
            <a:lstStyle/>
            <a:p>
              <a:pPr algn="l">
                <a:lnSpc>
                  <a:spcPct val="110000"/>
                </a:lnSpc>
                <a:spcBef>
                  <a:spcPts val="0"/>
                </a:spcBef>
                <a:spcAft>
                  <a:spcPts val="0"/>
                </a:spcAft>
              </a:pPr>
              <a:r>
                <a:rPr sz="1900" b="1" i="0">
                  <a:solidFill>
                    <a:srgbClr val="20244E"/>
                  </a:solidFill>
                  <a:latin typeface="Arial"/>
                </a:rPr>
                <a:t>Abdullah Ahmed</a:t>
              </a:r>
            </a:p>
          </p:txBody>
        </p:sp>
        <p:sp>
          <p:nvSpPr>
            <p:cNvPr id="56" name="Abdullah Ahmed illustrative role"/>
            <p:cNvSpPr txBox="1"/>
            <p:nvPr/>
          </p:nvSpPr>
          <p:spPr>
            <a:xfrm>
              <a:off x="4187952" y="2221992"/>
              <a:ext cx="3794760" cy="265176"/>
            </a:xfrm>
            <a:prstGeom prst="rect">
              <a:avLst/>
            </a:prstGeom>
            <a:noFill/>
            <a:effectLst/>
          </p:spPr>
          <p:txBody>
            <a:bodyPr wrap="square" lIns="0" tIns="0" rIns="0" bIns="0" anchor="t">
              <a:spAutoFit/>
            </a:bodyPr>
            <a:lstStyle/>
            <a:p>
              <a:pPr algn="l">
                <a:lnSpc>
                  <a:spcPct val="110000"/>
                </a:lnSpc>
                <a:spcBef>
                  <a:spcPts val="0"/>
                </a:spcBef>
                <a:spcAft>
                  <a:spcPts val="0"/>
                </a:spcAft>
              </a:pPr>
              <a:r>
                <a:rPr sz="1350" b="0" i="0">
                  <a:solidFill>
                    <a:srgbClr val="20244E"/>
                  </a:solidFill>
                  <a:latin typeface="Arial"/>
                </a:rPr>
                <a:t>AI &amp; Data Engineer</a:t>
              </a:r>
            </a:p>
          </p:txBody>
        </p:sp>
        <p:sp>
          <p:nvSpPr>
            <p:cNvPr id="57" name="Abdullah Ahmed placeholder email"/>
            <p:cNvSpPr txBox="1"/>
            <p:nvPr/>
          </p:nvSpPr>
          <p:spPr>
            <a:xfrm>
              <a:off x="4187952" y="2560320"/>
              <a:ext cx="3776472" cy="256032"/>
            </a:xfrm>
            <a:prstGeom prst="rect">
              <a:avLst/>
            </a:prstGeom>
            <a:noFill/>
            <a:effectLst/>
          </p:spPr>
          <p:txBody>
            <a:bodyPr wrap="square" lIns="0" tIns="0" rIns="0" bIns="0" anchor="t">
              <a:spAutoFit/>
            </a:bodyPr>
            <a:lstStyle/>
            <a:p>
              <a:pPr algn="l">
                <a:lnSpc>
                  <a:spcPct val="110000"/>
                </a:lnSpc>
                <a:spcBef>
                  <a:spcPts val="0"/>
                </a:spcBef>
                <a:spcAft>
                  <a:spcPts val="0"/>
                </a:spcAft>
              </a:pPr>
              <a:r>
                <a:rPr sz="1320" b="0" i="0">
                  <a:solidFill>
                    <a:srgbClr val="8FB8DE"/>
                  </a:solidFill>
                  <a:latin typeface="Arial"/>
                </a:rPr>
                <a:t>abdullah.ahmed@example.com</a:t>
              </a:r>
            </a:p>
          </p:txBody>
        </p:sp>
        <p:sp>
          <p:nvSpPr>
            <p:cNvPr id="58" name="Abdullah Ahmed placeholder mobile"/>
            <p:cNvSpPr txBox="1"/>
            <p:nvPr/>
          </p:nvSpPr>
          <p:spPr>
            <a:xfrm>
              <a:off x="4187952" y="2871216"/>
              <a:ext cx="3776472" cy="246888"/>
            </a:xfrm>
            <a:prstGeom prst="rect">
              <a:avLst/>
            </a:prstGeom>
            <a:noFill/>
            <a:effectLst/>
          </p:spPr>
          <p:txBody>
            <a:bodyPr wrap="square" lIns="0" tIns="0" rIns="0" bIns="0" anchor="t">
              <a:spAutoFit/>
            </a:bodyPr>
            <a:lstStyle/>
            <a:p>
              <a:pPr algn="l">
                <a:lnSpc>
                  <a:spcPct val="110000"/>
                </a:lnSpc>
                <a:spcBef>
                  <a:spcPts val="0"/>
                </a:spcBef>
                <a:spcAft>
                  <a:spcPts val="0"/>
                </a:spcAft>
              </a:pPr>
              <a:r>
                <a:rPr sz="1300" b="0" i="0">
                  <a:solidFill>
                    <a:srgbClr val="20244E"/>
                  </a:solidFill>
                  <a:latin typeface="Arial"/>
                </a:rPr>
                <a:t>m: +92 3XX XXXXXXX</a:t>
              </a:r>
            </a:p>
          </p:txBody>
        </p:sp>
      </p:grpSp>
      <p:grpSp>
        <p:nvGrpSpPr>
          <p:cNvPr id="59" name="Contact — Bilal Ahmed"/>
          <p:cNvGrpSpPr/>
          <p:nvPr/>
        </p:nvGrpSpPr>
        <p:grpSpPr>
          <a:xfrm>
            <a:off x="7589520" y="1837943"/>
            <a:ext cx="3959352" cy="1289305"/>
            <a:chOff x="7589520" y="1837943"/>
            <a:chExt cx="3959352" cy="1289305"/>
          </a:xfrm>
        </p:grpSpPr>
        <p:cxnSp>
          <p:nvCxnSpPr>
            <p:cNvPr id="60" name="Bilal Ahmed divider"/>
            <p:cNvCxnSpPr/>
            <p:nvPr/>
          </p:nvCxnSpPr>
          <p:spPr>
            <a:xfrm>
              <a:off x="7589520" y="1837943"/>
              <a:ext cx="0" cy="1289305"/>
            </a:xfrm>
            <a:prstGeom prst="line">
              <a:avLst/>
            </a:prstGeom>
            <a:ln w="13970" cap="rnd">
              <a:solidFill>
                <a:srgbClr val="C8CBD0"/>
              </a:solidFill>
            </a:ln>
            <a:effectLst/>
          </p:spPr>
          <p:style>
            <a:lnRef idx="2">
              <a:schemeClr val="accent1"/>
            </a:lnRef>
            <a:fillRef idx="0">
              <a:schemeClr val="accent1"/>
            </a:fillRef>
            <a:effectRef idx="0">
              <a:schemeClr val="accent1"/>
            </a:effectRef>
            <a:fontRef idx="minor">
              <a:schemeClr val="tx1"/>
            </a:fontRef>
          </p:style>
        </p:cxnSp>
        <p:sp>
          <p:nvSpPr>
            <p:cNvPr id="61" name="Bilal Ahmed name"/>
            <p:cNvSpPr txBox="1"/>
            <p:nvPr/>
          </p:nvSpPr>
          <p:spPr>
            <a:xfrm>
              <a:off x="7754112" y="1847088"/>
              <a:ext cx="3776472" cy="292608"/>
            </a:xfrm>
            <a:prstGeom prst="rect">
              <a:avLst/>
            </a:prstGeom>
            <a:noFill/>
            <a:effectLst/>
          </p:spPr>
          <p:txBody>
            <a:bodyPr wrap="square" lIns="0" tIns="0" rIns="0" bIns="0" anchor="t">
              <a:spAutoFit/>
            </a:bodyPr>
            <a:lstStyle/>
            <a:p>
              <a:pPr algn="l">
                <a:lnSpc>
                  <a:spcPct val="110000"/>
                </a:lnSpc>
                <a:spcBef>
                  <a:spcPts val="0"/>
                </a:spcBef>
                <a:spcAft>
                  <a:spcPts val="0"/>
                </a:spcAft>
              </a:pPr>
              <a:r>
                <a:rPr sz="1900" b="1" i="0">
                  <a:solidFill>
                    <a:srgbClr val="20244E"/>
                  </a:solidFill>
                  <a:latin typeface="Arial"/>
                </a:rPr>
                <a:t>Bilal Ahmed</a:t>
              </a:r>
            </a:p>
          </p:txBody>
        </p:sp>
        <p:sp>
          <p:nvSpPr>
            <p:cNvPr id="62" name="Bilal Ahmed illustrative role"/>
            <p:cNvSpPr txBox="1"/>
            <p:nvPr/>
          </p:nvSpPr>
          <p:spPr>
            <a:xfrm>
              <a:off x="7754112" y="2221992"/>
              <a:ext cx="3794760" cy="265176"/>
            </a:xfrm>
            <a:prstGeom prst="rect">
              <a:avLst/>
            </a:prstGeom>
            <a:noFill/>
            <a:effectLst/>
          </p:spPr>
          <p:txBody>
            <a:bodyPr wrap="square" lIns="0" tIns="0" rIns="0" bIns="0" anchor="t">
              <a:spAutoFit/>
            </a:bodyPr>
            <a:lstStyle/>
            <a:p>
              <a:pPr algn="l">
                <a:lnSpc>
                  <a:spcPct val="110000"/>
                </a:lnSpc>
                <a:spcBef>
                  <a:spcPts val="0"/>
                </a:spcBef>
                <a:spcAft>
                  <a:spcPts val="0"/>
                </a:spcAft>
              </a:pPr>
              <a:r>
                <a:rPr sz="1350" b="0" i="0">
                  <a:solidFill>
                    <a:srgbClr val="20244E"/>
                  </a:solidFill>
                  <a:latin typeface="Arial"/>
                </a:rPr>
                <a:t>Software &amp; Automation Engineer</a:t>
              </a:r>
            </a:p>
          </p:txBody>
        </p:sp>
        <p:sp>
          <p:nvSpPr>
            <p:cNvPr id="63" name="Bilal Ahmed placeholder email"/>
            <p:cNvSpPr txBox="1"/>
            <p:nvPr/>
          </p:nvSpPr>
          <p:spPr>
            <a:xfrm>
              <a:off x="7754112" y="2560320"/>
              <a:ext cx="3776472" cy="256032"/>
            </a:xfrm>
            <a:prstGeom prst="rect">
              <a:avLst/>
            </a:prstGeom>
            <a:noFill/>
            <a:effectLst/>
          </p:spPr>
          <p:txBody>
            <a:bodyPr wrap="square" lIns="0" tIns="0" rIns="0" bIns="0" anchor="t">
              <a:spAutoFit/>
            </a:bodyPr>
            <a:lstStyle/>
            <a:p>
              <a:pPr algn="l">
                <a:lnSpc>
                  <a:spcPct val="110000"/>
                </a:lnSpc>
                <a:spcBef>
                  <a:spcPts val="0"/>
                </a:spcBef>
                <a:spcAft>
                  <a:spcPts val="0"/>
                </a:spcAft>
              </a:pPr>
              <a:r>
                <a:rPr sz="1320" b="0" i="0">
                  <a:solidFill>
                    <a:srgbClr val="8FB8DE"/>
                  </a:solidFill>
                  <a:latin typeface="Arial"/>
                </a:rPr>
                <a:t>bilal.ahmed@example.com</a:t>
              </a:r>
            </a:p>
          </p:txBody>
        </p:sp>
        <p:sp>
          <p:nvSpPr>
            <p:cNvPr id="64" name="Bilal Ahmed placeholder mobile"/>
            <p:cNvSpPr txBox="1"/>
            <p:nvPr/>
          </p:nvSpPr>
          <p:spPr>
            <a:xfrm>
              <a:off x="7754112" y="2871216"/>
              <a:ext cx="3776472" cy="246888"/>
            </a:xfrm>
            <a:prstGeom prst="rect">
              <a:avLst/>
            </a:prstGeom>
            <a:noFill/>
            <a:effectLst/>
          </p:spPr>
          <p:txBody>
            <a:bodyPr wrap="square" lIns="0" tIns="0" rIns="0" bIns="0" anchor="t">
              <a:spAutoFit/>
            </a:bodyPr>
            <a:lstStyle/>
            <a:p>
              <a:pPr algn="l">
                <a:lnSpc>
                  <a:spcPct val="110000"/>
                </a:lnSpc>
                <a:spcBef>
                  <a:spcPts val="0"/>
                </a:spcBef>
                <a:spcAft>
                  <a:spcPts val="0"/>
                </a:spcAft>
              </a:pPr>
              <a:r>
                <a:rPr sz="1300" b="0" i="0">
                  <a:solidFill>
                    <a:srgbClr val="20244E"/>
                  </a:solidFill>
                  <a:latin typeface="Arial"/>
                </a:rPr>
                <a:t>m: +92 3XX XXXXXXX</a:t>
              </a:r>
            </a:p>
          </p:txBody>
        </p:sp>
      </p:grpSp>
      <p:grpSp>
        <p:nvGrpSpPr>
          <p:cNvPr id="65" name="Project focus — Neeley Law"/>
          <p:cNvGrpSpPr/>
          <p:nvPr/>
        </p:nvGrpSpPr>
        <p:grpSpPr>
          <a:xfrm>
            <a:off x="4023360" y="3675887"/>
            <a:ext cx="7598664" cy="1243585"/>
            <a:chOff x="4023360" y="3675887"/>
            <a:chExt cx="7598664" cy="1243585"/>
          </a:xfrm>
        </p:grpSpPr>
        <p:cxnSp>
          <p:nvCxnSpPr>
            <p:cNvPr id="66" name="Project focus divider"/>
            <p:cNvCxnSpPr/>
            <p:nvPr/>
          </p:nvCxnSpPr>
          <p:spPr>
            <a:xfrm>
              <a:off x="4023360" y="3675887"/>
              <a:ext cx="0" cy="1243585"/>
            </a:xfrm>
            <a:prstGeom prst="line">
              <a:avLst/>
            </a:prstGeom>
            <a:ln w="13970" cap="rnd">
              <a:solidFill>
                <a:srgbClr val="C8CBD0"/>
              </a:solidFill>
            </a:ln>
            <a:effectLst/>
          </p:spPr>
          <p:style>
            <a:lnRef idx="2">
              <a:schemeClr val="accent1"/>
            </a:lnRef>
            <a:fillRef idx="0">
              <a:schemeClr val="accent1"/>
            </a:fillRef>
            <a:effectRef idx="0">
              <a:schemeClr val="accent1"/>
            </a:effectRef>
            <a:fontRef idx="minor">
              <a:schemeClr val="tx1"/>
            </a:fontRef>
          </p:style>
        </p:cxnSp>
        <p:sp>
          <p:nvSpPr>
            <p:cNvPr id="67" name="Project focus heading"/>
            <p:cNvSpPr txBox="1"/>
            <p:nvPr/>
          </p:nvSpPr>
          <p:spPr>
            <a:xfrm>
              <a:off x="4187952" y="3685032"/>
              <a:ext cx="7223760" cy="301752"/>
            </a:xfrm>
            <a:prstGeom prst="rect">
              <a:avLst/>
            </a:prstGeom>
            <a:noFill/>
            <a:effectLst/>
          </p:spPr>
          <p:txBody>
            <a:bodyPr wrap="square" lIns="0" tIns="0" rIns="0" bIns="0" anchor="t">
              <a:spAutoFit/>
            </a:bodyPr>
            <a:lstStyle/>
            <a:p>
              <a:pPr algn="l">
                <a:lnSpc>
                  <a:spcPct val="110000"/>
                </a:lnSpc>
                <a:spcBef>
                  <a:spcPts val="0"/>
                </a:spcBef>
                <a:spcAft>
                  <a:spcPts val="0"/>
                </a:spcAft>
              </a:pPr>
              <a:r>
                <a:rPr sz="1800" b="1" i="0">
                  <a:solidFill>
                    <a:srgbClr val="20244E"/>
                  </a:solidFill>
                  <a:latin typeface="Arial"/>
                </a:rPr>
                <a:t>For Neeley Law</a:t>
              </a:r>
            </a:p>
          </p:txBody>
        </p:sp>
        <p:sp>
          <p:nvSpPr>
            <p:cNvPr id="68" name="Project title"/>
            <p:cNvSpPr txBox="1"/>
            <p:nvPr/>
          </p:nvSpPr>
          <p:spPr>
            <a:xfrm>
              <a:off x="4187952" y="4078224"/>
              <a:ext cx="7434072" cy="329184"/>
            </a:xfrm>
            <a:prstGeom prst="rect">
              <a:avLst/>
            </a:prstGeom>
            <a:noFill/>
            <a:effectLst/>
          </p:spPr>
          <p:txBody>
            <a:bodyPr wrap="square" lIns="0" tIns="0" rIns="0" bIns="0" anchor="t">
              <a:spAutoFit/>
            </a:bodyPr>
            <a:lstStyle/>
            <a:p>
              <a:pPr algn="l">
                <a:lnSpc>
                  <a:spcPct val="110000"/>
                </a:lnSpc>
                <a:spcBef>
                  <a:spcPts val="0"/>
                </a:spcBef>
                <a:spcAft>
                  <a:spcPts val="0"/>
                </a:spcAft>
              </a:pPr>
              <a:r>
                <a:rPr sz="1700" b="0" i="0">
                  <a:solidFill>
                    <a:srgbClr val="20244E"/>
                  </a:solidFill>
                  <a:latin typeface="Arial"/>
                </a:rPr>
                <a:t>Document Submission &amp; Verification Platform</a:t>
              </a:r>
            </a:p>
          </p:txBody>
        </p:sp>
        <p:sp>
          <p:nvSpPr>
            <p:cNvPr id="69" name="Project scope summary"/>
            <p:cNvSpPr txBox="1"/>
            <p:nvPr/>
          </p:nvSpPr>
          <p:spPr>
            <a:xfrm>
              <a:off x="4187952" y="4544568"/>
              <a:ext cx="7406640" cy="283464"/>
            </a:xfrm>
            <a:prstGeom prst="rect">
              <a:avLst/>
            </a:prstGeom>
            <a:noFill/>
            <a:effectLst/>
          </p:spPr>
          <p:txBody>
            <a:bodyPr wrap="square" lIns="0" tIns="0" rIns="0" bIns="0" anchor="t">
              <a:spAutoFit/>
            </a:bodyPr>
            <a:lstStyle/>
            <a:p>
              <a:pPr algn="l">
                <a:lnSpc>
                  <a:spcPct val="110000"/>
                </a:lnSpc>
                <a:spcBef>
                  <a:spcPts val="0"/>
                </a:spcBef>
                <a:spcAft>
                  <a:spcPts val="0"/>
                </a:spcAft>
              </a:pPr>
              <a:r>
                <a:rPr sz="1400" b="0" i="0">
                  <a:solidFill>
                    <a:srgbClr val="64809B"/>
                  </a:solidFill>
                  <a:latin typeface="Arial"/>
                </a:rPr>
                <a:t>Secure uploads. Preliminary checks. Staff approval.</a:t>
              </a:r>
            </a:p>
          </p:txBody>
        </p:sp>
      </p:grpSp>
      <p:sp>
        <p:nvSpPr>
          <p:cNvPr id="70" name="Draft profile label"/>
          <p:cNvSpPr txBox="1"/>
          <p:nvPr/>
        </p:nvSpPr>
        <p:spPr>
          <a:xfrm>
            <a:off x="4023360" y="5358384"/>
            <a:ext cx="7406640" cy="182880"/>
          </a:xfrm>
          <a:prstGeom prst="rect">
            <a:avLst/>
          </a:prstGeom>
          <a:noFill/>
          <a:effectLst/>
        </p:spPr>
        <p:txBody>
          <a:bodyPr wrap="square" lIns="0" tIns="0" rIns="0" bIns="0" anchor="t">
            <a:spAutoFit/>
          </a:bodyPr>
          <a:lstStyle/>
          <a:p>
            <a:pPr algn="l">
              <a:lnSpc>
                <a:spcPct val="110000"/>
              </a:lnSpc>
              <a:spcBef>
                <a:spcPts val="0"/>
              </a:spcBef>
              <a:spcAft>
                <a:spcPts val="0"/>
              </a:spcAft>
            </a:pPr>
            <a:r>
              <a:rPr sz="930" b="1" i="1">
                <a:solidFill>
                  <a:srgbClr val="8492A2"/>
                </a:solidFill>
                <a:latin typeface="Arial"/>
              </a:rPr>
              <a:t>Draft profile</a:t>
            </a:r>
          </a:p>
        </p:txBody>
      </p:sp>
      <p:sp>
        <p:nvSpPr>
          <p:cNvPr id="71" name="Placeholder notice"/>
          <p:cNvSpPr txBox="1"/>
          <p:nvPr/>
        </p:nvSpPr>
        <p:spPr>
          <a:xfrm>
            <a:off x="4023360" y="5577840"/>
            <a:ext cx="7626096" cy="356616"/>
          </a:xfrm>
          <a:prstGeom prst="rect">
            <a:avLst/>
          </a:prstGeom>
          <a:noFill/>
          <a:effectLst/>
        </p:spPr>
        <p:txBody>
          <a:bodyPr wrap="square" lIns="0" tIns="0" rIns="0" bIns="0" anchor="t">
            <a:spAutoFit/>
          </a:bodyPr>
          <a:lstStyle/>
          <a:p>
            <a:pPr algn="l">
              <a:lnSpc>
                <a:spcPct val="110000"/>
              </a:lnSpc>
              <a:spcBef>
                <a:spcPts val="0"/>
              </a:spcBef>
              <a:spcAft>
                <a:spcPts val="0"/>
              </a:spcAft>
            </a:pPr>
            <a:r>
              <a:rPr sz="950" b="0" i="0">
                <a:solidFill>
                  <a:srgbClr val="8492A2"/>
                </a:solidFill>
                <a:latin typeface="Arial"/>
              </a:rPr>
              <a:t>Capability areas, roles, contact details and company branding are illustrative.</a:t>
            </a:r>
          </a:p>
          <a:p>
            <a:pPr algn="l">
              <a:lnSpc>
                <a:spcPct val="110000"/>
              </a:lnSpc>
              <a:spcBef>
                <a:spcPts val="0"/>
              </a:spcBef>
              <a:spcAft>
                <a:spcPts val="0"/>
              </a:spcAft>
            </a:pPr>
            <a:r>
              <a:rPr sz="950" b="0" i="0">
                <a:solidFill>
                  <a:srgbClr val="8492A2"/>
                </a:solidFill>
                <a:latin typeface="Arial"/>
              </a:rPr>
              <a:t>Replace with confirmed information before external circulation.</a:t>
            </a:r>
          </a:p>
        </p:txBody>
      </p:sp>
      <p:sp>
        <p:nvSpPr>
          <p:cNvPr id="72" name="Navy footer band"/>
          <p:cNvSpPr/>
          <p:nvPr/>
        </p:nvSpPr>
        <p:spPr>
          <a:xfrm>
            <a:off x="0" y="6117336"/>
            <a:ext cx="12191999" cy="740664"/>
          </a:xfrm>
          <a:prstGeom prst="rect">
            <a:avLst/>
          </a:prstGeom>
          <a:solidFill>
            <a:srgbClr val="1E214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nvGrpSpPr>
          <p:cNvPr id="73" name="Editable brand symbol placeholder"/>
          <p:cNvGrpSpPr/>
          <p:nvPr/>
        </p:nvGrpSpPr>
        <p:grpSpPr>
          <a:xfrm>
            <a:off x="3282696" y="6359652"/>
            <a:ext cx="310896" cy="263346"/>
            <a:chOff x="3282696" y="6359652"/>
            <a:chExt cx="310896" cy="263346"/>
          </a:xfrm>
        </p:grpSpPr>
        <p:sp>
          <p:nvSpPr>
            <p:cNvPr id="74" name="Brand stack"/>
            <p:cNvSpPr/>
            <p:nvPr/>
          </p:nvSpPr>
          <p:spPr>
            <a:xfrm>
              <a:off x="3282696" y="6359652"/>
              <a:ext cx="310896" cy="58521"/>
            </a:xfrm>
            <a:prstGeom prst="rect">
              <a:avLst/>
            </a:prstGeom>
            <a:solidFill>
              <a:srgbClr val="8FB8D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5" name="Brand stack"/>
            <p:cNvSpPr/>
            <p:nvPr/>
          </p:nvSpPr>
          <p:spPr>
            <a:xfrm>
              <a:off x="3282696" y="6462064"/>
              <a:ext cx="237744" cy="58521"/>
            </a:xfrm>
            <a:prstGeom prst="rect">
              <a:avLst/>
            </a:prstGeom>
            <a:solidFill>
              <a:srgbClr val="F2C4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6" name="Brand stack"/>
            <p:cNvSpPr/>
            <p:nvPr/>
          </p:nvSpPr>
          <p:spPr>
            <a:xfrm>
              <a:off x="3282696" y="6564477"/>
              <a:ext cx="164592" cy="58521"/>
            </a:xfrm>
            <a:prstGeom prst="rect">
              <a:avLst/>
            </a:prstGeom>
            <a:solidFill>
              <a:srgbClr val="EA76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sp>
        <p:nvSpPr>
          <p:cNvPr id="77" name="Company name placeholder"/>
          <p:cNvSpPr txBox="1"/>
          <p:nvPr/>
        </p:nvSpPr>
        <p:spPr>
          <a:xfrm>
            <a:off x="3730752" y="6360566"/>
            <a:ext cx="3977639" cy="365760"/>
          </a:xfrm>
          <a:prstGeom prst="rect">
            <a:avLst/>
          </a:prstGeom>
          <a:noFill/>
          <a:effectLst/>
        </p:spPr>
        <p:txBody>
          <a:bodyPr wrap="square" lIns="0" tIns="0" rIns="0" bIns="0" anchor="t">
            <a:spAutoFit/>
          </a:bodyPr>
          <a:lstStyle/>
          <a:p>
            <a:pPr algn="l">
              <a:lnSpc>
                <a:spcPct val="110000"/>
              </a:lnSpc>
              <a:spcBef>
                <a:spcPts val="0"/>
              </a:spcBef>
              <a:spcAft>
                <a:spcPts val="0"/>
              </a:spcAft>
            </a:pPr>
            <a:r>
              <a:rPr sz="2300" b="0" i="0">
                <a:solidFill>
                  <a:srgbClr val="FFFFFF"/>
                </a:solidFill>
                <a:latin typeface="Arial"/>
              </a:rPr>
              <a:t>[Your Company Name]</a:t>
            </a:r>
          </a:p>
        </p:txBody>
      </p:sp>
      <p:cxnSp>
        <p:nvCxnSpPr>
          <p:cNvPr id="78" name="Footer separator"/>
          <p:cNvCxnSpPr/>
          <p:nvPr/>
        </p:nvCxnSpPr>
        <p:spPr>
          <a:xfrm>
            <a:off x="7891272" y="6355080"/>
            <a:ext cx="0" cy="356616"/>
          </a:xfrm>
          <a:prstGeom prst="line">
            <a:avLst/>
          </a:prstGeom>
          <a:ln w="10160" cap="rnd">
            <a:solidFill>
              <a:srgbClr val="A4B8D0"/>
            </a:solidFill>
          </a:ln>
          <a:effectLst/>
        </p:spPr>
        <p:style>
          <a:lnRef idx="2">
            <a:schemeClr val="accent1"/>
          </a:lnRef>
          <a:fillRef idx="0">
            <a:schemeClr val="accent1"/>
          </a:fillRef>
          <a:effectRef idx="0">
            <a:schemeClr val="accent1"/>
          </a:effectRef>
          <a:fontRef idx="minor">
            <a:schemeClr val="tx1"/>
          </a:fontRef>
        </p:style>
      </p:cxnSp>
      <p:sp>
        <p:nvSpPr>
          <p:cNvPr id="79" name="Footer capabilities"/>
          <p:cNvSpPr txBox="1"/>
          <p:nvPr/>
        </p:nvSpPr>
        <p:spPr>
          <a:xfrm>
            <a:off x="8156448" y="6455664"/>
            <a:ext cx="3227832" cy="219456"/>
          </a:xfrm>
          <a:prstGeom prst="rect">
            <a:avLst/>
          </a:prstGeom>
          <a:noFill/>
          <a:effectLst/>
        </p:spPr>
        <p:txBody>
          <a:bodyPr wrap="square" lIns="0" tIns="0" rIns="0" bIns="0" anchor="t">
            <a:spAutoFit/>
          </a:bodyPr>
          <a:lstStyle/>
          <a:p>
            <a:pPr algn="l">
              <a:lnSpc>
                <a:spcPct val="110000"/>
              </a:lnSpc>
              <a:spcBef>
                <a:spcPts val="0"/>
              </a:spcBef>
              <a:spcAft>
                <a:spcPts val="0"/>
              </a:spcAft>
            </a:pPr>
            <a:r>
              <a:rPr sz="1220" b="0" i="0">
                <a:solidFill>
                  <a:srgbClr val="D9E6F3"/>
                </a:solidFill>
                <a:latin typeface="Arial"/>
              </a:rPr>
              <a:t>Data  ·  AI  ·  Automation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243</TotalTime>
  <Words>4402</Words>
  <Application>Microsoft Office PowerPoint</Application>
  <PresentationFormat>Widescreen</PresentationFormat>
  <Paragraphs>366</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[Delivery Partner]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Neeley Law | Document Submission &amp; Verification Platform</dc:title>
  <dc:subject>Document Submission &amp; Verification Platform — Initial Proposal</dc:subject>
  <dc:creator>Project Team — placeholder</dc:creator>
  <cp:lastModifiedBy>Say My Name</cp:lastModifiedBy>
  <cp:revision>8</cp:revision>
  <dcterms:created xsi:type="dcterms:W3CDTF">2026-09-20T12:43:03Z</dcterms:created>
  <dcterms:modified xsi:type="dcterms:W3CDTF">2026-09-21T16:44:44Z</dcterms:modified>
</cp:coreProperties>
</file>